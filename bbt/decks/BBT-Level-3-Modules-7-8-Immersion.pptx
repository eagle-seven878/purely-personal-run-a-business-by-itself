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to face only, and not for commercial reasons. You cannot get this over a screen-share with eight other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in the room throughout. The challenge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10 min. This sets the whole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10 min. Faculty will hold every line to this all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B1–B4. The lock question in block 2 catches most people — reserve in a seven-day unbonding product is not reserve. If block 4’s answer is “I would deal with it later”, the plan has a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20 min. Faculty: “say the number out loud.” People who will not say it have not chosen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and Part 3, 60 min. The read-back is the gate, not a nice-to-have.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its full 90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12 min. The third word is not morbid — it is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the core insight. If your family cannot reach that account, the strategy does not complete — it just ends. Ten years of discipline becomes a number nobody can get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13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D1–D4, 45 min. Item three surprises everybody. Give it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20 min. SILENCE. Do not fill it — let it sit for a full thirty seconds. Nobody leaves having ticked all four boxes, and that is honest; they take weeks. But they leave knowing the boxes exist, which puts them ahead of almost everyone holding this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into Level 4 — beats 1 and 2 from ascension.md.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beats 3–5. The disqualifier is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3 · IMMERSION ONLY · DAY 4 · 270 MINUTES</a:t>
            </a:r>
            <a:endParaRPr lang="en-US" sz="1000" dirty="0"/>
          </a:p>
        </p:txBody>
      </p:sp>
      <p:sp>
        <p:nvSpPr>
          <p:cNvPr id="3" name="Text 1"/>
          <p:cNvSpPr txBox="1"/>
          <p:nvPr/>
        </p:nvSpPr>
        <p:spPr>
          <a:xfrm>
            <a:off x="685800" y="1783080"/>
            <a:ext cx="9692640" cy="1837944"/>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The playbook,</a:t>
            </a:r>
            <a:endParaRPr lang="en-US" sz="5400" dirty="0"/>
          </a:p>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and the transfer.</a:t>
            </a:r>
            <a:endParaRPr lang="en-US" sz="5400" dirty="0"/>
          </a:p>
        </p:txBody>
      </p:sp>
      <p:sp>
        <p:nvSpPr>
          <p:cNvPr id="4" name="Text 2"/>
          <p:cNvSpPr txBox="1"/>
          <p:nvPr/>
        </p:nvSpPr>
        <p:spPr>
          <a:xfrm>
            <a:off x="685800" y="3822192"/>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What the ₱75,000 buys over the ₱15,000 — and why it can only be done in a room.</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A playbook built alone at a laptop is a form. A playbook built with someone asking “why that number?” is a decision.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7</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SEVEN · 180 MIN</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Your Personal Playbook</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Everything so far has been our rules. Today you write yours.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WHO THIS DOCUMENT IS FOR</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You, at 3am, eighteen months from now.</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A8B0C8"/>
                </a:solidFill>
                <a:latin typeface="Calibri" pitchFamily="34" charset="0"/>
                <a:ea typeface="Calibri" pitchFamily="34" charset="-122"/>
                <a:cs typeface="Calibri" pitchFamily="34" charset="-120"/>
              </a:rPr>
              <a:t>Tired, frightened, holding a phone. That person is not as clever as you are right now — bad sleep, two months of red candles, someone in a group chat saying it is going to zero. They will not re-derive anything. They will do what the paper says if the paper is clear, and something stupid if it is not. Write for that person. Short sentences. Numbers, not principles.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TEST FOR EVERY LINE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Could a tired person follow this at 3am without deciding anything?</a:t>
            </a:r>
            <a:endParaRPr lang="en-US" sz="27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A82F26"/>
                </a:solidFill>
                <a:latin typeface="Cambria" pitchFamily="34" charset="0"/>
                <a:ea typeface="Cambria" pitchFamily="34" charset="-122"/>
                <a:cs typeface="Cambria" pitchFamily="34" charset="-120"/>
              </a:rPr>
              <a:t>Fails</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“Manage risk appropriately”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“Keep LTV low”</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“Review regularly”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Nothing to do. No number. No trigger.</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Passes</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“If LTV reaches 60%, transfer ₱______ from reserve, or repay the loan in full”</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There is an action and there is a number.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SIX BLOCKS · 20 MINUTES EACH</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Building it — and what faculty will ask you</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position</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Entry, deployed, borrowed, LTV, liquidation price, reserve.  →  “Say your liquidation price without looking.”</a:t>
            </a:r>
            <a:endParaRPr lang="en-US" sz="1350" dirty="0"/>
          </a:p>
        </p:txBody>
      </p:sp>
      <p:sp>
        <p:nvSpPr>
          <p:cNvPr id="8" name="Shape 6"/>
          <p:cNvSpPr/>
          <p:nvPr/>
        </p:nvSpPr>
        <p:spPr>
          <a:xfrm>
            <a:off x="685800" y="3038094"/>
            <a:ext cx="420624" cy="420624"/>
          </a:xfrm>
          <a:prstGeom prst="ellipse">
            <a:avLst/>
          </a:prstGeom>
          <a:solidFill>
            <a:srgbClr val="B4720F"/>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three buckets</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Amounts, and where each physically sits.  →  “Which account? How long to reach it? Is it locked?”</a:t>
            </a:r>
            <a:endParaRPr lang="en-US" sz="1350" dirty="0"/>
          </a:p>
        </p:txBody>
      </p:sp>
      <p:sp>
        <p:nvSpPr>
          <p:cNvPr id="12" name="Shape 10"/>
          <p:cNvSpPr/>
          <p:nvPr/>
        </p:nvSpPr>
        <p:spPr>
          <a:xfrm>
            <a:off x="685800" y="4146804"/>
            <a:ext cx="420624" cy="420624"/>
          </a:xfrm>
          <a:prstGeom prst="ellipse">
            <a:avLst/>
          </a:prstGeom>
          <a:solidFill>
            <a:srgbClr val="C08829"/>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ladder</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Three levels, three amounts, weighted deepest.  →  “Price hits 0.618 tomorrow. How much, exactly?”</a:t>
            </a:r>
            <a:endParaRPr lang="en-US" sz="1350" dirty="0"/>
          </a:p>
        </p:txBody>
      </p:sp>
      <p:sp>
        <p:nvSpPr>
          <p:cNvPr id="16" name="Shape 14"/>
          <p:cNvSpPr/>
          <p:nvPr/>
        </p:nvSpPr>
        <p:spPr>
          <a:xfrm>
            <a:off x="685800" y="5255514"/>
            <a:ext cx="420624" cy="420624"/>
          </a:xfrm>
          <a:prstGeom prst="ellipse">
            <a:avLst/>
          </a:prstGeom>
          <a:solidFill>
            <a:srgbClr val="B4720F"/>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alarms</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Four prices, set on the phone in this room.  →  “Alarm 3 fires during a client meeting. What happens?”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BLOCK 5 · THE ONE NOBODY HAS CONSIDERED</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Your growth ceiling.</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A number at which you stop adding. Not a target — a ceiling. Find it by asking: at what size would this position becoming worthless change my life? Not annoy me — change it. School fees, the business, the house. Your ceiling sits below that. Write it down today, while you are calm, because you will not be able to set it honestly during a bull run. That is the entire point of setting it now.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BLOCK 6, THEN THE GATE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never-list, then read it out loud</a:t>
            </a:r>
            <a:endParaRPr lang="en-US" sz="3400" dirty="0"/>
          </a:p>
        </p:txBody>
      </p:sp>
      <p:sp>
        <p:nvSpPr>
          <p:cNvPr id="4" name="Shape 2"/>
          <p:cNvSpPr/>
          <p:nvPr/>
        </p:nvSpPr>
        <p:spPr>
          <a:xfrm>
            <a:off x="685800" y="1929384"/>
            <a:ext cx="420624" cy="420624"/>
          </a:xfrm>
          <a:prstGeom prst="ellipse">
            <a:avLst/>
          </a:prstGeom>
          <a:solidFill>
            <a:srgbClr val="A82F26"/>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Three things you will never do</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In your own handwriting.  →  Faculty: “which of these have you already been tempted by this week?”</a:t>
            </a:r>
            <a:endParaRPr lang="en-US" sz="1350" dirty="0"/>
          </a:p>
        </p:txBody>
      </p:sp>
      <p:sp>
        <p:nvSpPr>
          <p:cNvPr id="8" name="Shape 6"/>
          <p:cNvSpPr/>
          <p:nvPr/>
        </p:nvSpPr>
        <p:spPr>
          <a:xfrm>
            <a:off x="685800" y="3407664"/>
            <a:ext cx="420624" cy="420624"/>
          </a:xfrm>
          <a:prstGeom prst="ellipse">
            <a:avLst/>
          </a:prstGeom>
          <a:solidFill>
            <a:srgbClr val="25774F"/>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Read the whole playbook aloud</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To one faculty member and one peer. The peer asks “what would you actually do?” at any line that does not say.</a:t>
            </a:r>
            <a:endParaRPr lang="en-US" sz="1350" dirty="0"/>
          </a:p>
        </p:txBody>
      </p:sp>
      <p:sp>
        <p:nvSpPr>
          <p:cNvPr id="12" name="Shape 10"/>
          <p:cNvSpPr/>
          <p:nvPr/>
        </p:nvSpPr>
        <p:spPr>
          <a:xfrm>
            <a:off x="685800" y="4885944"/>
            <a:ext cx="420624" cy="420624"/>
          </a:xfrm>
          <a:prstGeom prst="ellipse">
            <a:avLst/>
          </a:prstGeom>
          <a:solidFill>
            <a:srgbClr val="25774F"/>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 cannot hear a vague sentence until you say it</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Every one of you will find a line that sounded fine written and sounds like nothing spoken. Fix it while faculty is in the room.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8</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EIGHT · 90 MIN</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The Transfer Question</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The third word of the programme, and the part almost nobody does.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ORIGINAL PRINCIPLE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Buy · Borrow · Die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Buy an asset, borrow against it instead of selling, and when you die it passes to your heirs. You never sold, so the sale never happened. The strategy only COMPLETES if the asset transfers.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HERE IS THE PROBLEM</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Land transfers. Bitcoin does not.</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A hectare in BGC</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There is a title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There is a registry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There are lawyers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The state knows the asset exists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It transfers whether you planned for it or not</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A82F26"/>
                </a:solidFill>
                <a:latin typeface="Cambria" pitchFamily="34" charset="0"/>
                <a:ea typeface="Cambria" pitchFamily="34" charset="-122"/>
                <a:cs typeface="Cambria" pitchFamily="34" charset="-120"/>
              </a:rPr>
              <a:t>Bitcoin on an exchange</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Secured by credentials only you hold</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 registry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 process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Nobody knows it exists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It transfers to NOBODY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WHY WE SAY THRIVE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There is a version that does not require you to die first.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The asset stays. Borrowing capacity grows as it appreciates. At some point the position can fund things — a business, a house, an education — without being sold. That is thriving on an asset instead of consuming it. Same mechanic, better ending. But it still depends on the transfer question, because a strategy measured in decades has to survive you.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FOUR THINGS — THIS QUARTER, NOT EVENTUALLY</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Written in the room today</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An access document</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What exists and how it is reached. NOT passwords in a file — a written record of the accounts, the platforms, and the recovery process.</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One person who knows it exists</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strategy nobody knows about is a strategy that dies with you. Write the name down today.</a:t>
            </a:r>
            <a:endParaRPr lang="en-US" sz="1350" dirty="0"/>
          </a:p>
        </p:txBody>
      </p:sp>
      <p:sp>
        <p:nvSpPr>
          <p:cNvPr id="12" name="Shape 10"/>
          <p:cNvSpPr/>
          <p:nvPr/>
        </p:nvSpPr>
        <p:spPr>
          <a:xfrm>
            <a:off x="685800" y="4146804"/>
            <a:ext cx="420624" cy="420624"/>
          </a:xfrm>
          <a:prstGeom prst="ellipse">
            <a:avLst/>
          </a:prstGeom>
          <a:solidFill>
            <a:srgbClr val="A82F26"/>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loan is a liability your heirs inherit</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Die with a borrow open and the platform still holds its claim. Your family inherits collateral AND a loan — unserviced, it liquidates, on the people you were doing this for. Write: “repay from reserve first, then hold.”</a:t>
            </a:r>
            <a:endParaRPr lang="en-US" sz="1350" dirty="0"/>
          </a:p>
        </p:txBody>
      </p:sp>
      <p:sp>
        <p:nvSpPr>
          <p:cNvPr id="16" name="Shape 14"/>
          <p:cNvSpPr/>
          <p:nvPr/>
        </p:nvSpPr>
        <p:spPr>
          <a:xfrm>
            <a:off x="685800" y="5255514"/>
            <a:ext cx="420624" cy="420624"/>
          </a:xfrm>
          <a:prstGeom prst="ellipse">
            <a:avLst/>
          </a:prstGeom>
          <a:solidFill>
            <a:srgbClr val="B4720F"/>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Get proper advice</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PH treatment of digital assets is genuinely unsettled. I am faculty, not your lawyer. Doing nothing is also a decision — and it is the one that loses everything.</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ONE QUESTION, THEN YOU ARE DONE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If you died tonight, could your family reach this?</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If the answer is no, you do not have a strategy. You have a hobby with money in it.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WHERE YOU GO FROM HERE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Nobody has watched you run it.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You have a written playbook you built yourself — buckets, ladder, alarms, growth ceiling, transfer. It is yours, not ours. A playbook survives a calm week easily. What you cannot know yet is what you do when it is your own money, your own drawdown, and nobody in the room. Alarm 3 fires about once a year. Yours has not fired yet with faculty beside you.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LEVEL 4 · DONE-WITH-YOU · USD 3,000</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And who should not take it</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Twelve months, faculty beside you, one full cycle</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Includes a year of the Thrive Circle. The same-day call when Alarm 3 fires is the product.</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Do not take it to have someone else make the call</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We will not, and you would be paying us to disappoint you.</a:t>
            </a:r>
            <a:endParaRPr lang="en-US" sz="1350" dirty="0"/>
          </a:p>
        </p:txBody>
      </p:sp>
      <p:sp>
        <p:nvSpPr>
          <p:cNvPr id="12" name="Shape 10"/>
          <p:cNvSpPr/>
          <p:nvPr/>
        </p:nvSpPr>
        <p:spPr>
          <a:xfrm>
            <a:off x="685800" y="4885944"/>
            <a:ext cx="420624" cy="420624"/>
          </a:xfrm>
          <a:prstGeom prst="ellipse">
            <a:avLst/>
          </a:prstGeom>
          <a:solidFill>
            <a:srgbClr val="A82F26"/>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Do not take it if mentorship costs more than your position</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Put the money in the position instead. Come back when the numbers make sense — we would rather tell you that now than take it.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3 — Modules 7–8 (Immersion only)</dc:title>
  <dc:subject>Personal Playbook and The Transfer Question</dc:subject>
  <dc:creator>Thrive Blueprint Education Corp.</dc:creator>
  <cp:lastModifiedBy>Thrive Blueprint Education Corp.</cp:lastModifiedBy>
  <cp:revision>1</cp:revision>
  <dcterms:created xsi:type="dcterms:W3CDTF">2026-09-03T07:50:58Z</dcterms:created>
  <dcterms:modified xsi:type="dcterms:W3CDTF">2026-09-03T07:50:58Z</dcterms:modified>
</cp:coreProperties>
</file>