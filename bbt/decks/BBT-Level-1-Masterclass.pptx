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3 min. Welcome. Level 1 must stand on its own — someone who takes this and buys nothing else leaves with something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4 min. Type “ready” in the chat. Wait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5 min. Read risk-disclosure.md §1 VERBATIM. If the room goes quiet afterwards, the disclosure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 5 min. Frame all four, then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65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B1–B2. Type Yes. Let them celebrate. Take answers, filter to “borrow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12 min. Walk one letter at a time. Ask why banks cap at 80% — because they make sure they always come out ahead. Type “hassle”.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4 min. Take answers on what happens. The MONTHS is the setup for the digital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5 min. Corrections C1–C3. Less money exposed does NOT mean less risk. You are choosing not to sell TODAY — the loan is still owed. Read the live borrow rate off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4 min. Verify the live max LTV. Round abstract numbers on the slide; live price spoken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5 min. Teach both methods and LABEL which is which. A participant who sees a mismatch on their own screen stops trusting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6 min. Run BOTH drills. Do not skip the losing one — most programmes in this category never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continued. The survival case makes the correction slide land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4 min. THE most important beat in Module 1. Say plainly that earlier cohorts were taught 50% and we corrected it. Note the 30% row still fails 2022 — that honesty is what makes the reserve rule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Bound the Q&amp;A before opening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40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C2–C3, 10 min. Work the arithmetic with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6 min. Correction C5 — this beat did not exist in the old deck and it is the POINT of the module. Then ask the room: when you borrow a stablecoin against your Bitcoin, what is your version of “the yen surges”? Wait for someone to say it: Bitcoin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landing. Let the room supply the answer before you show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4 min. The arcade-token analogy is the best thing in the original deck. Use your own local analogy if you have a better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C6, 3 min. Correction C4. Read all four live rates off the platform. State today’s real blended spread — not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C7, 2 min. Bridges into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40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D1–D2, 7 min. Take two or three bounded questions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4 min. Wait for the room to type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4 min. Price goes up → what do you do? Borrow. Not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D6, 4 min. Correction C7 — this was a speaker note in the old deck. It is now a slide, and it is the most protective rule in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D7, 2 min. Must read as a warning, never as a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40 min. Read _shared/capital-preservation.md before teaching this and verify every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4 min. Have them say it back and type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10 min. Have them derive each row: 30 ÷ 0.75 = 40, so a 25% fall. Calculators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8 min. VERIFY these figures and add the current cycle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12 min. THE most important beat in Level 1. Do not compress. Let the room compute $22,747 and compare it to $15,500 themselves, and sit with it. Then say plainly: anyone telling you “just keep LTV at 30” is telling you the same half-truth as “just keep it at 50”, one rung up. What saved you was the instruction to act at −50%, written down while nothing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6 min. NEVER SKIP. If you came hoping we would show you how to avoid red on a screen — we cannot, nobody can, and anyone who says otherwise is selling you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3 min. Correction C8. You cannot do both with the same money. Until Level 2/3: RUN THE CARRY ONLY. You are learning the mechanism, not chasing a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1. A capability, flatly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2 — the gap. Pause after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3. State it once. Same principle either way — the room buys you the playbook and the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4 — MANDATORY, delivered slowly. “If you are in that list I would genuinely rather have your respect than your ₱15,000.”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5. Then stop. Final line: “take this home — a drop is not a loss until you are forced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1 · MASTERCLASS · 4 HOURS · ₱1,999</a:t>
            </a:r>
            <a:endParaRPr lang="en-US" sz="1000" dirty="0"/>
          </a:p>
        </p:txBody>
      </p:sp>
      <p:sp>
        <p:nvSpPr>
          <p:cNvPr id="3" name="Text 1"/>
          <p:cNvSpPr txBox="1"/>
          <p:nvPr/>
        </p:nvSpPr>
        <p:spPr>
          <a:xfrm>
            <a:off x="685800" y="1783080"/>
            <a:ext cx="9692640" cy="1837944"/>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The complete</a:t>
            </a:r>
            <a:endParaRPr lang="en-US" sz="5400" dirty="0"/>
          </a:p>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framework.</a:t>
            </a:r>
            <a:endParaRPr lang="en-US" sz="5400" dirty="0"/>
          </a:p>
        </p:txBody>
      </p:sp>
      <p:sp>
        <p:nvSpPr>
          <p:cNvPr id="4" name="Text 2"/>
          <p:cNvSpPr txBox="1"/>
          <p:nvPr/>
        </p:nvSpPr>
        <p:spPr>
          <a:xfrm>
            <a:off x="685800" y="3822192"/>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Asset selection, buying zones, prudent borrowing mechanics, and the risk rules that protect you.</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Buy Borrow Thrive · The Confident Investor’s Blueprint   ·   Education only · No fund management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HOUSE RULES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Five things before we start</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Questions at the end of each module</a:t>
            </a:r>
            <a:endParaRPr lang="en-US" sz="1700" dirty="0"/>
          </a:p>
        </p:txBody>
      </p:sp>
      <p:sp>
        <p:nvSpPr>
          <p:cNvPr id="7" name="Shape 5"/>
          <p:cNvSpPr/>
          <p:nvPr/>
        </p:nvSpPr>
        <p:spPr>
          <a:xfrm>
            <a:off x="685800" y="2816352"/>
            <a:ext cx="420624" cy="420624"/>
          </a:xfrm>
          <a:prstGeom prst="ellipse">
            <a:avLst/>
          </a:prstGeom>
          <a:solidFill>
            <a:srgbClr val="C08829"/>
          </a:solidFill>
          <a:ln/>
        </p:spPr>
      </p:sp>
      <p:sp>
        <p:nvSpPr>
          <p:cNvPr id="8" name="Text 6"/>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Mic off, camera on</a:t>
            </a:r>
            <a:endParaRPr lang="en-US" sz="1700" dirty="0"/>
          </a:p>
        </p:txBody>
      </p:sp>
      <p:sp>
        <p:nvSpPr>
          <p:cNvPr id="10" name="Shape 8"/>
          <p:cNvSpPr/>
          <p:nvPr/>
        </p:nvSpPr>
        <p:spPr>
          <a:xfrm>
            <a:off x="685800" y="3703320"/>
            <a:ext cx="420624" cy="420624"/>
          </a:xfrm>
          <a:prstGeom prst="ellipse">
            <a:avLst/>
          </a:prstGeom>
          <a:solidFill>
            <a:srgbClr val="C08829"/>
          </a:solidFill>
          <a:ln/>
        </p:spPr>
      </p:sp>
      <p:sp>
        <p:nvSpPr>
          <p:cNvPr id="11" name="Text 9"/>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Pressing question — chatbox</a:t>
            </a:r>
            <a:endParaRPr lang="en-US" sz="1700" dirty="0"/>
          </a:p>
        </p:txBody>
      </p:sp>
      <p:sp>
        <p:nvSpPr>
          <p:cNvPr id="13" name="Shape 11"/>
          <p:cNvSpPr/>
          <p:nvPr/>
        </p:nvSpPr>
        <p:spPr>
          <a:xfrm>
            <a:off x="685800" y="4590288"/>
            <a:ext cx="420624" cy="420624"/>
          </a:xfrm>
          <a:prstGeom prst="ellipse">
            <a:avLst/>
          </a:prstGeom>
          <a:solidFill>
            <a:srgbClr val="C08829"/>
          </a:solidFill>
          <a:ln/>
        </p:spPr>
      </p:sp>
      <p:sp>
        <p:nvSpPr>
          <p:cNvPr id="14" name="Text 12"/>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100% participation. Learning needs positive energy.</a:t>
            </a:r>
            <a:endParaRPr lang="en-US" sz="1700" dirty="0"/>
          </a:p>
        </p:txBody>
      </p:sp>
      <p:sp>
        <p:nvSpPr>
          <p:cNvPr id="16" name="Shape 14"/>
          <p:cNvSpPr/>
          <p:nvPr/>
        </p:nvSpPr>
        <p:spPr>
          <a:xfrm>
            <a:off x="685800" y="5477256"/>
            <a:ext cx="420624" cy="420624"/>
          </a:xfrm>
          <a:prstGeom prst="ellipse">
            <a:avLst/>
          </a:prstGeom>
          <a:solidFill>
            <a:srgbClr val="C08829"/>
          </a:solidFill>
          <a:ln/>
        </p:spPr>
      </p:sp>
      <p:sp>
        <p:nvSpPr>
          <p:cNvPr id="17" name="Text 15"/>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Calculators ready — we love Math because we make Money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BEFORE WE BEGIN</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Three things are true and we will not soften them.</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The platform can sell your Bitcoin without asking. Both rates float and can invert. Your money sits somewhere we do not control.</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TONIGHT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Four modules</a:t>
            </a:r>
            <a:endParaRPr lang="en-US" sz="3400" dirty="0"/>
          </a:p>
        </p:txBody>
      </p:sp>
      <p:sp>
        <p:nvSpPr>
          <p:cNvPr id="4" name="Shape 2"/>
          <p:cNvSpPr/>
          <p:nvPr/>
        </p:nvSpPr>
        <p:spPr>
          <a:xfrm>
            <a:off x="685800" y="2057400"/>
            <a:ext cx="2464308" cy="2331720"/>
          </a:xfrm>
          <a:prstGeom prst="roundRect">
            <a:avLst>
              <a:gd name="adj" fmla="val 3137"/>
            </a:avLst>
          </a:prstGeom>
          <a:solidFill>
            <a:srgbClr val="EEF1F8"/>
          </a:solidFill>
          <a:ln w="9525">
            <a:solidFill>
              <a:srgbClr val="D8DDEA"/>
            </a:solidFill>
            <a:prstDash val="solid"/>
          </a:ln>
        </p:spPr>
      </p:sp>
      <p:sp>
        <p:nvSpPr>
          <p:cNvPr id="5" name="Shape 3"/>
          <p:cNvSpPr/>
          <p:nvPr/>
        </p:nvSpPr>
        <p:spPr>
          <a:xfrm>
            <a:off x="941832" y="2331720"/>
            <a:ext cx="384048" cy="384048"/>
          </a:xfrm>
          <a:prstGeom prst="ellipse">
            <a:avLst/>
          </a:prstGeom>
          <a:solidFill>
            <a:srgbClr val="C08829"/>
          </a:solidFill>
          <a:ln/>
        </p:spPr>
      </p:sp>
      <p:sp>
        <p:nvSpPr>
          <p:cNvPr id="6" name="Text 4"/>
          <p:cNvSpPr txBox="1"/>
          <p:nvPr/>
        </p:nvSpPr>
        <p:spPr>
          <a:xfrm>
            <a:off x="94183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41832"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Buy Borrow Die</a:t>
            </a:r>
            <a:endParaRPr lang="en-US" sz="1500" dirty="0"/>
          </a:p>
        </p:txBody>
      </p:sp>
      <p:sp>
        <p:nvSpPr>
          <p:cNvPr id="8" name="Text 6"/>
          <p:cNvSpPr txBox="1"/>
          <p:nvPr/>
        </p:nvSpPr>
        <p:spPr>
          <a:xfrm>
            <a:off x="941832"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The principle, and the price that ends you.</a:t>
            </a:r>
            <a:endParaRPr lang="en-US" sz="1200" dirty="0"/>
          </a:p>
        </p:txBody>
      </p:sp>
      <p:sp>
        <p:nvSpPr>
          <p:cNvPr id="9" name="Shape 7"/>
          <p:cNvSpPr/>
          <p:nvPr/>
        </p:nvSpPr>
        <p:spPr>
          <a:xfrm>
            <a:off x="3461004" y="2057400"/>
            <a:ext cx="2464308" cy="2331720"/>
          </a:xfrm>
          <a:prstGeom prst="roundRect">
            <a:avLst>
              <a:gd name="adj" fmla="val 3137"/>
            </a:avLst>
          </a:prstGeom>
          <a:solidFill>
            <a:srgbClr val="EEF1F8"/>
          </a:solidFill>
          <a:ln w="9525">
            <a:solidFill>
              <a:srgbClr val="D8DDEA"/>
            </a:solidFill>
            <a:prstDash val="solid"/>
          </a:ln>
        </p:spPr>
      </p:sp>
      <p:sp>
        <p:nvSpPr>
          <p:cNvPr id="10" name="Shape 8"/>
          <p:cNvSpPr/>
          <p:nvPr/>
        </p:nvSpPr>
        <p:spPr>
          <a:xfrm>
            <a:off x="3717036" y="2331720"/>
            <a:ext cx="384048" cy="384048"/>
          </a:xfrm>
          <a:prstGeom prst="ellipse">
            <a:avLst/>
          </a:prstGeom>
          <a:solidFill>
            <a:srgbClr val="C08829"/>
          </a:solidFill>
          <a:ln/>
        </p:spPr>
      </p:sp>
      <p:sp>
        <p:nvSpPr>
          <p:cNvPr id="11" name="Text 9"/>
          <p:cNvSpPr txBox="1"/>
          <p:nvPr/>
        </p:nvSpPr>
        <p:spPr>
          <a:xfrm>
            <a:off x="3717036"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717036"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Yen Carry Trade</a:t>
            </a:r>
            <a:endParaRPr lang="en-US" sz="1500" dirty="0"/>
          </a:p>
        </p:txBody>
      </p:sp>
      <p:sp>
        <p:nvSpPr>
          <p:cNvPr id="13" name="Text 11"/>
          <p:cNvSpPr txBox="1"/>
          <p:nvPr/>
        </p:nvSpPr>
        <p:spPr>
          <a:xfrm>
            <a:off x="3717036"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Borrow cheap, deploy dearer — and how it unwound.</a:t>
            </a:r>
            <a:endParaRPr lang="en-US" sz="1200" dirty="0"/>
          </a:p>
        </p:txBody>
      </p:sp>
      <p:sp>
        <p:nvSpPr>
          <p:cNvPr id="14" name="Shape 12"/>
          <p:cNvSpPr/>
          <p:nvPr/>
        </p:nvSpPr>
        <p:spPr>
          <a:xfrm>
            <a:off x="6236208" y="2057400"/>
            <a:ext cx="2464308" cy="2331720"/>
          </a:xfrm>
          <a:prstGeom prst="roundRect">
            <a:avLst>
              <a:gd name="adj" fmla="val 3137"/>
            </a:avLst>
          </a:prstGeom>
          <a:solidFill>
            <a:srgbClr val="EEF1F8"/>
          </a:solidFill>
          <a:ln w="9525">
            <a:solidFill>
              <a:srgbClr val="D8DDEA"/>
            </a:solidFill>
            <a:prstDash val="solid"/>
          </a:ln>
        </p:spPr>
      </p:sp>
      <p:sp>
        <p:nvSpPr>
          <p:cNvPr id="15" name="Shape 13"/>
          <p:cNvSpPr/>
          <p:nvPr/>
        </p:nvSpPr>
        <p:spPr>
          <a:xfrm>
            <a:off x="6492240" y="2331720"/>
            <a:ext cx="384048" cy="384048"/>
          </a:xfrm>
          <a:prstGeom prst="ellipse">
            <a:avLst/>
          </a:prstGeom>
          <a:solidFill>
            <a:srgbClr val="C08829"/>
          </a:solidFill>
          <a:ln/>
        </p:spPr>
      </p:sp>
      <p:sp>
        <p:nvSpPr>
          <p:cNvPr id="16" name="Text 14"/>
          <p:cNvSpPr txBox="1"/>
          <p:nvPr/>
        </p:nvSpPr>
        <p:spPr>
          <a:xfrm>
            <a:off x="6492240"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92240"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Entry Levels</a:t>
            </a:r>
            <a:endParaRPr lang="en-US" sz="1500" dirty="0"/>
          </a:p>
        </p:txBody>
      </p:sp>
      <p:sp>
        <p:nvSpPr>
          <p:cNvPr id="18" name="Text 16"/>
          <p:cNvSpPr txBox="1"/>
          <p:nvPr/>
        </p:nvSpPr>
        <p:spPr>
          <a:xfrm>
            <a:off x="6492240"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Where you buy, and how you accumulate.</a:t>
            </a:r>
            <a:endParaRPr lang="en-US" sz="1200" dirty="0"/>
          </a:p>
        </p:txBody>
      </p:sp>
      <p:sp>
        <p:nvSpPr>
          <p:cNvPr id="19" name="Shape 17"/>
          <p:cNvSpPr/>
          <p:nvPr/>
        </p:nvSpPr>
        <p:spPr>
          <a:xfrm>
            <a:off x="9011412" y="2057400"/>
            <a:ext cx="2464308" cy="2331720"/>
          </a:xfrm>
          <a:prstGeom prst="roundRect">
            <a:avLst>
              <a:gd name="adj" fmla="val 3137"/>
            </a:avLst>
          </a:prstGeom>
          <a:solidFill>
            <a:srgbClr val="EEF1F8"/>
          </a:solidFill>
          <a:ln w="9525">
            <a:solidFill>
              <a:srgbClr val="D8DDEA"/>
            </a:solidFill>
            <a:prstDash val="solid"/>
          </a:ln>
        </p:spPr>
      </p:sp>
      <p:sp>
        <p:nvSpPr>
          <p:cNvPr id="20" name="Shape 18"/>
          <p:cNvSpPr/>
          <p:nvPr/>
        </p:nvSpPr>
        <p:spPr>
          <a:xfrm>
            <a:off x="9267444" y="2331720"/>
            <a:ext cx="384048" cy="384048"/>
          </a:xfrm>
          <a:prstGeom prst="ellipse">
            <a:avLst/>
          </a:prstGeom>
          <a:solidFill>
            <a:srgbClr val="25774F"/>
          </a:solidFill>
          <a:ln/>
        </p:spPr>
      </p:sp>
      <p:sp>
        <p:nvSpPr>
          <p:cNvPr id="21" name="Text 19"/>
          <p:cNvSpPr txBox="1"/>
          <p:nvPr/>
        </p:nvSpPr>
        <p:spPr>
          <a:xfrm>
            <a:off x="9267444"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67444"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Capital Preservation</a:t>
            </a:r>
            <a:endParaRPr lang="en-US" sz="1500" dirty="0"/>
          </a:p>
        </p:txBody>
      </p:sp>
      <p:sp>
        <p:nvSpPr>
          <p:cNvPr id="23" name="Text 21"/>
          <p:cNvSpPr txBox="1"/>
          <p:nvPr/>
        </p:nvSpPr>
        <p:spPr>
          <a:xfrm>
            <a:off x="9267444"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The module that keeps you in the game long enough for the first three to matter.</a:t>
            </a:r>
            <a:endParaRPr lang="en-US" sz="1200" dirty="0"/>
          </a:p>
        </p:txBody>
      </p:sp>
      <p:sp>
        <p:nvSpPr>
          <p:cNvPr id="24" name="Text 22"/>
          <p:cNvSpPr txBox="1"/>
          <p:nvPr/>
        </p:nvSpPr>
        <p:spPr>
          <a:xfrm>
            <a:off x="685800" y="4754880"/>
            <a:ext cx="10607040" cy="109728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Just like Cashflow — you learn the board before you play it. Type “Ok” in the chat.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ONE</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Buy Borrow Die</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Land, a bank, a foreclosure — and the same shape done digitally.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2021 → 2026</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hectare in BGC</a:t>
            </a:r>
            <a:endParaRPr lang="en-US" sz="3400" dirty="0"/>
          </a:p>
        </p:txBody>
      </p:sp>
      <p:sp>
        <p:nvSpPr>
          <p:cNvPr id="4" name="Shape 2"/>
          <p:cNvSpPr/>
          <p:nvPr/>
        </p:nvSpPr>
        <p:spPr>
          <a:xfrm>
            <a:off x="685800" y="1965960"/>
            <a:ext cx="521208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4846320" cy="1051560"/>
          </a:xfrm>
          <a:prstGeom prst="rect">
            <a:avLst/>
          </a:prstGeom>
          <a:noFill/>
          <a:ln/>
        </p:spPr>
        <p:txBody>
          <a:bodyPr wrap="square" lIns="0" tIns="0" rIns="0" bIns="0" rtlCol="0" anchor="ctr"/>
          <a:lstStyle/>
          <a:p>
            <a:pPr algn="ctr" indent="0" marL="0">
              <a:buNone/>
            </a:pPr>
            <a:r>
              <a:rPr lang="en-US" sz="3400" b="1" dirty="0">
                <a:solidFill>
                  <a:srgbClr val="1A2340"/>
                </a:solidFill>
                <a:latin typeface="Cambria" pitchFamily="34" charset="0"/>
                <a:ea typeface="Cambria" pitchFamily="34" charset="-122"/>
                <a:cs typeface="Cambria" pitchFamily="34" charset="-120"/>
              </a:rPr>
              <a:t>₱1,000,000</a:t>
            </a:r>
            <a:endParaRPr lang="en-US" sz="3400" dirty="0"/>
          </a:p>
        </p:txBody>
      </p:sp>
      <p:sp>
        <p:nvSpPr>
          <p:cNvPr id="6" name="Text 4"/>
          <p:cNvSpPr txBox="1"/>
          <p:nvPr/>
        </p:nvSpPr>
        <p:spPr>
          <a:xfrm>
            <a:off x="86868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what you paid in 2021</a:t>
            </a:r>
            <a:endParaRPr lang="en-US" sz="1300" dirty="0"/>
          </a:p>
        </p:txBody>
      </p:sp>
      <p:sp>
        <p:nvSpPr>
          <p:cNvPr id="7" name="Shape 5"/>
          <p:cNvSpPr/>
          <p:nvPr/>
        </p:nvSpPr>
        <p:spPr>
          <a:xfrm>
            <a:off x="6263640" y="1965960"/>
            <a:ext cx="521208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6446520" y="2267712"/>
            <a:ext cx="4846320" cy="1051560"/>
          </a:xfrm>
          <a:prstGeom prst="rect">
            <a:avLst/>
          </a:prstGeom>
          <a:noFill/>
          <a:ln/>
        </p:spPr>
        <p:txBody>
          <a:bodyPr wrap="square" lIns="0" tIns="0" rIns="0" bIns="0" rtlCol="0" anchor="ctr"/>
          <a:lstStyle/>
          <a:p>
            <a:pPr algn="ctr" indent="0" marL="0">
              <a:buNone/>
            </a:pPr>
            <a:r>
              <a:rPr lang="en-US" sz="3400" b="1" dirty="0">
                <a:solidFill>
                  <a:srgbClr val="25774F"/>
                </a:solidFill>
                <a:latin typeface="Cambria" pitchFamily="34" charset="0"/>
                <a:ea typeface="Cambria" pitchFamily="34" charset="-122"/>
                <a:cs typeface="Cambria" pitchFamily="34" charset="-120"/>
              </a:rPr>
              <a:t>₱2,000,000</a:t>
            </a:r>
            <a:endParaRPr lang="en-US" sz="3400" dirty="0"/>
          </a:p>
        </p:txBody>
      </p:sp>
      <p:sp>
        <p:nvSpPr>
          <p:cNvPr id="9" name="Text 7"/>
          <p:cNvSpPr txBox="1"/>
          <p:nvPr/>
        </p:nvSpPr>
        <p:spPr>
          <a:xfrm>
            <a:off x="644652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what it is worth in 2026</a:t>
            </a:r>
            <a:endParaRPr lang="en-US" sz="1300" dirty="0"/>
          </a:p>
        </p:txBody>
      </p:sp>
      <p:sp>
        <p:nvSpPr>
          <p:cNvPr id="10" name="Text 8"/>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You want money out. You do not want to sell. What are your options?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BANK WALK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borrowing against it actually takes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Appraised</a:t>
            </a:r>
            <a:endParaRPr lang="en-US" sz="1700" dirty="0"/>
          </a:p>
        </p:txBody>
      </p:sp>
      <p:sp>
        <p:nvSpPr>
          <p:cNvPr id="7" name="Text 5"/>
          <p:cNvSpPr txBox="1"/>
          <p:nvPr/>
        </p:nvSpPr>
        <p:spPr>
          <a:xfrm>
            <a:off x="1399032" y="2240280"/>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pay the appraisal fee.</a:t>
            </a:r>
            <a:endParaRPr lang="en-US" sz="1350" dirty="0"/>
          </a:p>
        </p:txBody>
      </p:sp>
      <p:sp>
        <p:nvSpPr>
          <p:cNvPr id="8" name="Shape 6"/>
          <p:cNvSpPr/>
          <p:nvPr/>
        </p:nvSpPr>
        <p:spPr>
          <a:xfrm>
            <a:off x="685800" y="2816352"/>
            <a:ext cx="420624" cy="420624"/>
          </a:xfrm>
          <a:prstGeom prst="ellipse">
            <a:avLst/>
          </a:prstGeom>
          <a:solidFill>
            <a:srgbClr val="C08829"/>
          </a:solidFill>
          <a:ln/>
        </p:spPr>
      </p:sp>
      <p:sp>
        <p:nvSpPr>
          <p:cNvPr id="9" name="Text 7"/>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Title</a:t>
            </a:r>
            <a:endParaRPr lang="en-US" sz="1700" dirty="0"/>
          </a:p>
        </p:txBody>
      </p:sp>
      <p:sp>
        <p:nvSpPr>
          <p:cNvPr id="11" name="Text 9"/>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Due diligence — is it yours, are your taxes current?</a:t>
            </a:r>
            <a:endParaRPr lang="en-US" sz="1350" dirty="0"/>
          </a:p>
        </p:txBody>
      </p:sp>
      <p:sp>
        <p:nvSpPr>
          <p:cNvPr id="12" name="Shape 10"/>
          <p:cNvSpPr/>
          <p:nvPr/>
        </p:nvSpPr>
        <p:spPr>
          <a:xfrm>
            <a:off x="685800" y="3703320"/>
            <a:ext cx="420624" cy="420624"/>
          </a:xfrm>
          <a:prstGeom prst="ellipse">
            <a:avLst/>
          </a:prstGeom>
          <a:solidFill>
            <a:srgbClr val="C08829"/>
          </a:solidFill>
          <a:ln/>
        </p:spPr>
      </p:sp>
      <p:sp>
        <p:nvSpPr>
          <p:cNvPr id="13" name="Text 11"/>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Approved</a:t>
            </a:r>
            <a:endParaRPr lang="en-US" sz="1700" dirty="0"/>
          </a:p>
        </p:txBody>
      </p:sp>
      <p:sp>
        <p:nvSpPr>
          <p:cNvPr id="15" name="Text 13"/>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And you might not be.</a:t>
            </a:r>
            <a:endParaRPr lang="en-US" sz="1350" dirty="0"/>
          </a:p>
        </p:txBody>
      </p:sp>
      <p:sp>
        <p:nvSpPr>
          <p:cNvPr id="16" name="Shape 14"/>
          <p:cNvSpPr/>
          <p:nvPr/>
        </p:nvSpPr>
        <p:spPr>
          <a:xfrm>
            <a:off x="685800" y="4590288"/>
            <a:ext cx="420624" cy="420624"/>
          </a:xfrm>
          <a:prstGeom prst="ellipse">
            <a:avLst/>
          </a:prstGeom>
          <a:solidFill>
            <a:srgbClr val="C08829"/>
          </a:solidFill>
          <a:ln/>
        </p:spPr>
      </p:sp>
      <p:sp>
        <p:nvSpPr>
          <p:cNvPr id="17" name="Text 15"/>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80% loan-to-value</a:t>
            </a:r>
            <a:endParaRPr lang="en-US" sz="1700" dirty="0"/>
          </a:p>
        </p:txBody>
      </p:sp>
      <p:sp>
        <p:nvSpPr>
          <p:cNvPr id="19" name="Text 17"/>
          <p:cNvSpPr txBox="1"/>
          <p:nvPr/>
        </p:nvSpPr>
        <p:spPr>
          <a:xfrm>
            <a:off x="1399032" y="4901184"/>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Calculators. 80% of ₱2M = ₱1.6M.</a:t>
            </a:r>
            <a:endParaRPr lang="en-US" sz="1350" dirty="0"/>
          </a:p>
        </p:txBody>
      </p:sp>
      <p:sp>
        <p:nvSpPr>
          <p:cNvPr id="20" name="Shape 18"/>
          <p:cNvSpPr/>
          <p:nvPr/>
        </p:nvSpPr>
        <p:spPr>
          <a:xfrm>
            <a:off x="685800" y="5477256"/>
            <a:ext cx="420624" cy="420624"/>
          </a:xfrm>
          <a:prstGeom prst="ellipse">
            <a:avLst/>
          </a:prstGeom>
          <a:solidFill>
            <a:srgbClr val="B4720F"/>
          </a:solidFill>
          <a:ln/>
        </p:spPr>
      </p:sp>
      <p:sp>
        <p:nvSpPr>
          <p:cNvPr id="21" name="Text 19"/>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Less the deductions</a:t>
            </a:r>
            <a:endParaRPr lang="en-US" sz="1700" dirty="0"/>
          </a:p>
        </p:txBody>
      </p:sp>
      <p:sp>
        <p:nvSpPr>
          <p:cNvPr id="23" name="Text 21"/>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Insurance, amortisation, credit loan protection. May mga bawas pa yan.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AND IF YOU CANNOT PAY</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Foreclosed.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Months. Missed payments, notices, letters, chances to fix it. Hold that timeline — it matters in ten minutes.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HONEST COMPARISON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Physical and digital real estate</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C08829"/>
                </a:solidFill>
                <a:latin typeface="Cambria" pitchFamily="34" charset="0"/>
                <a:ea typeface="Cambria" pitchFamily="34" charset="-122"/>
                <a:cs typeface="Cambria" pitchFamily="34" charset="-120"/>
              </a:rPr>
              <a:t>Land</a:t>
            </a:r>
            <a:endParaRPr lang="en-US" sz="2100" dirty="0"/>
          </a:p>
        </p:txBody>
      </p:sp>
      <p:sp>
        <p:nvSpPr>
          <p:cNvPr id="6" name="Text 4"/>
          <p:cNvSpPr txBox="1"/>
          <p:nvPr/>
        </p:nvSpPr>
        <p:spPr>
          <a:xfrm>
            <a:off x="1069848"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Physical real estate</a:t>
            </a:r>
            <a:endParaRPr lang="en-US" sz="1200" dirty="0"/>
          </a:p>
        </p:txBody>
      </p:sp>
      <p:sp>
        <p:nvSpPr>
          <p:cNvPr id="7" name="Text 5"/>
          <p:cNvSpPr txBox="1"/>
          <p:nvPr/>
        </p:nvSpPr>
        <p:spPr>
          <a:xfrm>
            <a:off x="1069848"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Millions of pesos to start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Months of process to borrow</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Foreclosure takes months and sends letters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Fees and insurance reduce your loan</a:t>
            </a:r>
            <a:endParaRPr lang="en-US" sz="1400" dirty="0"/>
          </a:p>
        </p:txBody>
      </p:sp>
      <p:sp>
        <p:nvSpPr>
          <p:cNvPr id="8" name="Shape 6"/>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9" name="Text 7"/>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B4720F"/>
                </a:solidFill>
                <a:latin typeface="Cambria" pitchFamily="34" charset="0"/>
                <a:ea typeface="Cambria" pitchFamily="34" charset="-122"/>
                <a:cs typeface="Cambria" pitchFamily="34" charset="-120"/>
              </a:rPr>
              <a:t>Bitcoin</a:t>
            </a:r>
            <a:endParaRPr lang="en-US" sz="2100" dirty="0"/>
          </a:p>
        </p:txBody>
      </p:sp>
      <p:sp>
        <p:nvSpPr>
          <p:cNvPr id="10" name="Text 8"/>
          <p:cNvSpPr txBox="1"/>
          <p:nvPr/>
        </p:nvSpPr>
        <p:spPr>
          <a:xfrm>
            <a:off x="6720840"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Digital real estate</a:t>
            </a:r>
            <a:endParaRPr lang="en-US" sz="1200" dirty="0"/>
          </a:p>
        </p:txBody>
      </p:sp>
      <p:sp>
        <p:nvSpPr>
          <p:cNvPr id="11" name="Text 9"/>
          <p:cNvSpPr txBox="1"/>
          <p:nvPr/>
        </p:nvSpPr>
        <p:spPr>
          <a:xfrm>
            <a:off x="6720840"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About ₱6,000 to start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Minutes to borrow</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Liquidation takes SECONDS and nobody calls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receive the whole amount — but the rate is not “very low”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NUMBERS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 have $100 and Bitcoin is at $100,000</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$100</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your capital</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0.001</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BTC you can buy</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78%</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the platform will lend you this much</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Round numbers so the math is clean. But — should you borrow 78%?</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WHY 78% ENDS YOU</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Borrow 78%, price falls 10%</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3108960"/>
                <a:gridCol w="3840480"/>
                <a:gridCol w="384048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Calculation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New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Quick field check</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 + 10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What the app shows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 ÷ 0.90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86.7%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Margin call at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crossed</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Liquidation at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next stop</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Write down both. The quick version always reads higher, so it errs safe — but the app will show the lower number and I do not want you thinking the app is lying. A 10% Bitcoin drop is a Tuesday.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DRILL ONE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Entry $90,000 · LTV 60% · price drops to $50,000</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743200"/>
                <a:gridCol w="4572000"/>
                <a:gridCol w="347472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Working</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The drop</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90,000 − 50,000 = 40,000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As a percentage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40,000 ÷ 90,000 × 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New LTV</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60 ÷ 0.556</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108% vs 91%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past liquidation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LIQUIDATED</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Does a 44% drop happen in Bitcoin? Yes. 2018, 2021, 2022. Not a black swan — a cycle.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DRILL TWO</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Same entry · LTV 50% · price drops to $60,000</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3108960"/>
                <a:gridCol w="4206240"/>
                <a:gridCol w="347472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Working</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The drop</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30,000 ÷ 90,000 × 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33.3%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New LTV</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50 ÷ 0.667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75% vs 91%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under liquidation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NOT LIQUIDATED</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Give yourselves a hand.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CORRECTION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50% is not the safe number</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651760"/>
                <a:gridCol w="1920240"/>
                <a:gridCol w="1920240"/>
                <a:gridCol w="2148840"/>
                <a:gridCol w="214884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Opening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Margin call at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Liquidated at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Survives 2021 −53%?</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Survives 2022 −77%?</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−41.2%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−45.1%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−52.9%</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−56.0%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B4720F"/>
                          </a:solidFill>
                          <a:latin typeface="Calibri" pitchFamily="34" charset="0"/>
                          <a:ea typeface="Calibri" pitchFamily="34" charset="-122"/>
                          <a:cs typeface="Calibri" pitchFamily="34" charset="-120"/>
                        </a:rPr>
                        <a:t>Barely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30% — BBT ceiling</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−64.7%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−67.0%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−76.5%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−78.0%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25774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B4720F"/>
                          </a:solidFill>
                          <a:latin typeface="Calibri" pitchFamily="34" charset="0"/>
                          <a:ea typeface="Calibri" pitchFamily="34" charset="-122"/>
                          <a:cs typeface="Calibri" pitchFamily="34" charset="-120"/>
                        </a:rPr>
                        <a:t>Barely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BBT: position LTV ≤ 30%  ·  programme LTV ≤ 20%  ·  reserve 1:1. Two different numbers — you need to be able to say both of yours.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QUESTIONS, THEN BREAK</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Ten minutes.</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Three questions before we go. Bound it out loud, take three, then break.</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TWO</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The Yen Carry Trade</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Borrow cheap, deploy dearer — and the half nobody teaches.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1990S JAPAN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trade the institutions ran</a:t>
            </a:r>
            <a:endParaRPr lang="en-US" sz="3400" dirty="0"/>
          </a:p>
        </p:txBody>
      </p:sp>
      <p:sp>
        <p:nvSpPr>
          <p:cNvPr id="4" name="Shape 2"/>
          <p:cNvSpPr/>
          <p:nvPr/>
        </p:nvSpPr>
        <p:spPr>
          <a:xfrm>
            <a:off x="685800" y="2057400"/>
            <a:ext cx="2464308" cy="2331720"/>
          </a:xfrm>
          <a:prstGeom prst="roundRect">
            <a:avLst>
              <a:gd name="adj" fmla="val 3137"/>
            </a:avLst>
          </a:prstGeom>
          <a:solidFill>
            <a:srgbClr val="EEF1F8"/>
          </a:solidFill>
          <a:ln w="9525">
            <a:solidFill>
              <a:srgbClr val="D8DDEA"/>
            </a:solidFill>
            <a:prstDash val="solid"/>
          </a:ln>
        </p:spPr>
      </p:sp>
      <p:sp>
        <p:nvSpPr>
          <p:cNvPr id="5" name="Shape 3"/>
          <p:cNvSpPr/>
          <p:nvPr/>
        </p:nvSpPr>
        <p:spPr>
          <a:xfrm>
            <a:off x="941832" y="2331720"/>
            <a:ext cx="384048" cy="384048"/>
          </a:xfrm>
          <a:prstGeom prst="ellipse">
            <a:avLst/>
          </a:prstGeom>
          <a:solidFill>
            <a:srgbClr val="C08829"/>
          </a:solidFill>
          <a:ln/>
        </p:spPr>
      </p:sp>
      <p:sp>
        <p:nvSpPr>
          <p:cNvPr id="6" name="Text 4"/>
          <p:cNvSpPr txBox="1"/>
          <p:nvPr/>
        </p:nvSpPr>
        <p:spPr>
          <a:xfrm>
            <a:off x="94183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41832"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Borrow ¥ at ~0%</a:t>
            </a:r>
            <a:endParaRPr lang="en-US" sz="1500" dirty="0"/>
          </a:p>
        </p:txBody>
      </p:sp>
      <p:sp>
        <p:nvSpPr>
          <p:cNvPr id="8" name="Text 6"/>
          <p:cNvSpPr txBox="1"/>
          <p:nvPr/>
        </p:nvSpPr>
        <p:spPr>
          <a:xfrm>
            <a:off x="941832"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Bank of Japan zero interest rate policy.</a:t>
            </a:r>
            <a:endParaRPr lang="en-US" sz="1200" dirty="0"/>
          </a:p>
        </p:txBody>
      </p:sp>
      <p:sp>
        <p:nvSpPr>
          <p:cNvPr id="9" name="Shape 7"/>
          <p:cNvSpPr/>
          <p:nvPr/>
        </p:nvSpPr>
        <p:spPr>
          <a:xfrm>
            <a:off x="3461004" y="2057400"/>
            <a:ext cx="2464308" cy="2331720"/>
          </a:xfrm>
          <a:prstGeom prst="roundRect">
            <a:avLst>
              <a:gd name="adj" fmla="val 3137"/>
            </a:avLst>
          </a:prstGeom>
          <a:solidFill>
            <a:srgbClr val="EEF1F8"/>
          </a:solidFill>
          <a:ln w="9525">
            <a:solidFill>
              <a:srgbClr val="D8DDEA"/>
            </a:solidFill>
            <a:prstDash val="solid"/>
          </a:ln>
        </p:spPr>
      </p:sp>
      <p:sp>
        <p:nvSpPr>
          <p:cNvPr id="10" name="Shape 8"/>
          <p:cNvSpPr/>
          <p:nvPr/>
        </p:nvSpPr>
        <p:spPr>
          <a:xfrm>
            <a:off x="3717036" y="2331720"/>
            <a:ext cx="384048" cy="384048"/>
          </a:xfrm>
          <a:prstGeom prst="ellipse">
            <a:avLst/>
          </a:prstGeom>
          <a:solidFill>
            <a:srgbClr val="C08829"/>
          </a:solidFill>
          <a:ln/>
        </p:spPr>
      </p:sp>
      <p:sp>
        <p:nvSpPr>
          <p:cNvPr id="11" name="Text 9"/>
          <p:cNvSpPr txBox="1"/>
          <p:nvPr/>
        </p:nvSpPr>
        <p:spPr>
          <a:xfrm>
            <a:off x="3717036"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717036"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Convert to USD</a:t>
            </a:r>
            <a:endParaRPr lang="en-US" sz="1500" dirty="0"/>
          </a:p>
        </p:txBody>
      </p:sp>
      <p:sp>
        <p:nvSpPr>
          <p:cNvPr id="13" name="Text 11"/>
          <p:cNvSpPr txBox="1"/>
          <p:nvPr/>
        </p:nvSpPr>
        <p:spPr>
          <a:xfrm>
            <a:off x="3717036"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¥1B at ¥159/$ ≈ $6,289,308.</a:t>
            </a:r>
            <a:endParaRPr lang="en-US" sz="1200" dirty="0"/>
          </a:p>
        </p:txBody>
      </p:sp>
      <p:sp>
        <p:nvSpPr>
          <p:cNvPr id="14" name="Shape 12"/>
          <p:cNvSpPr/>
          <p:nvPr/>
        </p:nvSpPr>
        <p:spPr>
          <a:xfrm>
            <a:off x="6236208" y="2057400"/>
            <a:ext cx="2464308" cy="2331720"/>
          </a:xfrm>
          <a:prstGeom prst="roundRect">
            <a:avLst>
              <a:gd name="adj" fmla="val 3137"/>
            </a:avLst>
          </a:prstGeom>
          <a:solidFill>
            <a:srgbClr val="EEF1F8"/>
          </a:solidFill>
          <a:ln w="9525">
            <a:solidFill>
              <a:srgbClr val="D8DDEA"/>
            </a:solidFill>
            <a:prstDash val="solid"/>
          </a:ln>
        </p:spPr>
      </p:sp>
      <p:sp>
        <p:nvSpPr>
          <p:cNvPr id="15" name="Shape 13"/>
          <p:cNvSpPr/>
          <p:nvPr/>
        </p:nvSpPr>
        <p:spPr>
          <a:xfrm>
            <a:off x="6492240" y="2331720"/>
            <a:ext cx="384048" cy="384048"/>
          </a:xfrm>
          <a:prstGeom prst="ellipse">
            <a:avLst/>
          </a:prstGeom>
          <a:solidFill>
            <a:srgbClr val="C08829"/>
          </a:solidFill>
          <a:ln/>
        </p:spPr>
      </p:sp>
      <p:sp>
        <p:nvSpPr>
          <p:cNvPr id="16" name="Text 14"/>
          <p:cNvSpPr txBox="1"/>
          <p:nvPr/>
        </p:nvSpPr>
        <p:spPr>
          <a:xfrm>
            <a:off x="6492240"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92240"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Buy T-bills at 4%</a:t>
            </a:r>
            <a:endParaRPr lang="en-US" sz="1500" dirty="0"/>
          </a:p>
        </p:txBody>
      </p:sp>
      <p:sp>
        <p:nvSpPr>
          <p:cNvPr id="18" name="Text 16"/>
          <p:cNvSpPr txBox="1"/>
          <p:nvPr/>
        </p:nvSpPr>
        <p:spPr>
          <a:xfrm>
            <a:off x="6492240"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Earning $251,572 a year.</a:t>
            </a:r>
            <a:endParaRPr lang="en-US" sz="1200" dirty="0"/>
          </a:p>
        </p:txBody>
      </p:sp>
      <p:sp>
        <p:nvSpPr>
          <p:cNvPr id="19" name="Shape 17"/>
          <p:cNvSpPr/>
          <p:nvPr/>
        </p:nvSpPr>
        <p:spPr>
          <a:xfrm>
            <a:off x="9011412" y="2057400"/>
            <a:ext cx="2464308" cy="2331720"/>
          </a:xfrm>
          <a:prstGeom prst="roundRect">
            <a:avLst>
              <a:gd name="adj" fmla="val 3137"/>
            </a:avLst>
          </a:prstGeom>
          <a:solidFill>
            <a:srgbClr val="EEF1F8"/>
          </a:solidFill>
          <a:ln w="9525">
            <a:solidFill>
              <a:srgbClr val="D8DDEA"/>
            </a:solidFill>
            <a:prstDash val="solid"/>
          </a:ln>
        </p:spPr>
      </p:sp>
      <p:sp>
        <p:nvSpPr>
          <p:cNvPr id="20" name="Shape 18"/>
          <p:cNvSpPr/>
          <p:nvPr/>
        </p:nvSpPr>
        <p:spPr>
          <a:xfrm>
            <a:off x="9267444" y="2331720"/>
            <a:ext cx="384048" cy="384048"/>
          </a:xfrm>
          <a:prstGeom prst="ellipse">
            <a:avLst/>
          </a:prstGeom>
          <a:solidFill>
            <a:srgbClr val="25774F"/>
          </a:solidFill>
          <a:ln/>
        </p:spPr>
      </p:sp>
      <p:sp>
        <p:nvSpPr>
          <p:cNvPr id="21" name="Text 19"/>
          <p:cNvSpPr txBox="1"/>
          <p:nvPr/>
        </p:nvSpPr>
        <p:spPr>
          <a:xfrm>
            <a:off x="9267444"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67444"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The carry = 4% − 0%</a:t>
            </a:r>
            <a:endParaRPr lang="en-US" sz="1500" dirty="0"/>
          </a:p>
        </p:txBody>
      </p:sp>
      <p:sp>
        <p:nvSpPr>
          <p:cNvPr id="23" name="Text 21"/>
          <p:cNvSpPr txBox="1"/>
          <p:nvPr/>
        </p:nvSpPr>
        <p:spPr>
          <a:xfrm>
            <a:off x="9267444"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The gap between what you earn and what you pay.</a:t>
            </a:r>
            <a:endParaRPr lang="en-US" sz="1200" dirty="0"/>
          </a:p>
        </p:txBody>
      </p:sp>
      <p:sp>
        <p:nvSpPr>
          <p:cNvPr id="24" name="Text 22"/>
          <p:cNvSpPr txBox="1"/>
          <p:nvPr/>
        </p:nvSpPr>
        <p:spPr>
          <a:xfrm>
            <a:off x="685800" y="4754880"/>
            <a:ext cx="10607040" cy="109728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Calculators. And what interest do they owe Japan? Zero.</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THE HALF NOBODY TEACHES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The loan is repaid in yen.</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If the yen strengthens, your dollars buy fewer yen. The 4% is gone — and past a point, your capital with it. In August 2024 the Bank of Japan raised rates, the yen surged, and everyone holding this trade unwound at once. Equities fell. Crypto fell. Years of carry given back in a week.</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YOUR VERSION</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Bitcoin falls.</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Same shape. Same failure mode. Same fix — keep the borrow small enough that the unwind cannot reach you. That is the 30%. That is the reserve. That is why we are strict about a number that looks boring.</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YOU CANNOT PLAY UNLESS YOU HAVE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Stablecoins</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USDT</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tokenised US dollar</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same value</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USDC</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tokenised US dollar</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$1 = 1 USDT = 1 USDC. Different companies issue them — that is the only difference. Sino dito naglaro na sa Timezone? You convert pesos to credits before you can play.</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THE SPREAD, HONESTLY</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Three things before you get excited</a:t>
            </a:r>
            <a:endParaRPr lang="en-US" sz="3400" dirty="0"/>
          </a:p>
        </p:txBody>
      </p:sp>
      <p:sp>
        <p:nvSpPr>
          <p:cNvPr id="4" name="Shape 2"/>
          <p:cNvSpPr/>
          <p:nvPr/>
        </p:nvSpPr>
        <p:spPr>
          <a:xfrm>
            <a:off x="685800" y="1929384"/>
            <a:ext cx="420624" cy="420624"/>
          </a:xfrm>
          <a:prstGeom prst="ellipse">
            <a:avLst/>
          </a:prstGeom>
          <a:solidFill>
            <a:srgbClr val="B4720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headline earn rate is tiered</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It applies to a first tranche only. Above the cap you drop to a much lower rate. Your blended rate is what matters.</a:t>
            </a:r>
            <a:endParaRPr lang="en-US" sz="1350" dirty="0"/>
          </a:p>
        </p:txBody>
      </p:sp>
      <p:sp>
        <p:nvSpPr>
          <p:cNvPr id="8" name="Shape 6"/>
          <p:cNvSpPr/>
          <p:nvPr/>
        </p:nvSpPr>
        <p:spPr>
          <a:xfrm>
            <a:off x="685800" y="3407664"/>
            <a:ext cx="420624" cy="420624"/>
          </a:xfrm>
          <a:prstGeom prst="ellipse">
            <a:avLst/>
          </a:prstGeom>
          <a:solidFill>
            <a:srgbClr val="B4720F"/>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Both rates float independently</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gap narrows. Some months it inverts and you pay more than you earn.</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money sits on a platform</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That is its own risk and no strategy here protects you from it.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FLOW</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One step at a time</a:t>
            </a:r>
            <a:endParaRPr lang="en-US" sz="3400" dirty="0"/>
          </a:p>
        </p:txBody>
      </p:sp>
      <p:sp>
        <p:nvSpPr>
          <p:cNvPr id="4" name="Shape 2"/>
          <p:cNvSpPr/>
          <p:nvPr/>
        </p:nvSpPr>
        <p:spPr>
          <a:xfrm>
            <a:off x="685800" y="2057400"/>
            <a:ext cx="2464308" cy="2331720"/>
          </a:xfrm>
          <a:prstGeom prst="roundRect">
            <a:avLst>
              <a:gd name="adj" fmla="val 3137"/>
            </a:avLst>
          </a:prstGeom>
          <a:solidFill>
            <a:srgbClr val="EEF1F8"/>
          </a:solidFill>
          <a:ln w="9525">
            <a:solidFill>
              <a:srgbClr val="D8DDEA"/>
            </a:solidFill>
            <a:prstDash val="solid"/>
          </a:ln>
        </p:spPr>
      </p:sp>
      <p:sp>
        <p:nvSpPr>
          <p:cNvPr id="5" name="Shape 3"/>
          <p:cNvSpPr/>
          <p:nvPr/>
        </p:nvSpPr>
        <p:spPr>
          <a:xfrm>
            <a:off x="941832" y="2331720"/>
            <a:ext cx="384048" cy="384048"/>
          </a:xfrm>
          <a:prstGeom prst="ellipse">
            <a:avLst/>
          </a:prstGeom>
          <a:solidFill>
            <a:srgbClr val="C08829"/>
          </a:solidFill>
          <a:ln/>
        </p:spPr>
      </p:sp>
      <p:sp>
        <p:nvSpPr>
          <p:cNvPr id="6" name="Text 4"/>
          <p:cNvSpPr txBox="1"/>
          <p:nvPr/>
        </p:nvSpPr>
        <p:spPr>
          <a:xfrm>
            <a:off x="94183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41832"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Buy</a:t>
            </a:r>
            <a:endParaRPr lang="en-US" sz="1500" dirty="0"/>
          </a:p>
        </p:txBody>
      </p:sp>
      <p:sp>
        <p:nvSpPr>
          <p:cNvPr id="8" name="Text 6"/>
          <p:cNvSpPr txBox="1"/>
          <p:nvPr/>
        </p:nvSpPr>
        <p:spPr>
          <a:xfrm>
            <a:off x="941832"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The asset, at a level.</a:t>
            </a:r>
            <a:endParaRPr lang="en-US" sz="1200" dirty="0"/>
          </a:p>
        </p:txBody>
      </p:sp>
      <p:sp>
        <p:nvSpPr>
          <p:cNvPr id="9" name="Shape 7"/>
          <p:cNvSpPr/>
          <p:nvPr/>
        </p:nvSpPr>
        <p:spPr>
          <a:xfrm>
            <a:off x="3461004" y="2057400"/>
            <a:ext cx="2464308" cy="2331720"/>
          </a:xfrm>
          <a:prstGeom prst="roundRect">
            <a:avLst>
              <a:gd name="adj" fmla="val 3137"/>
            </a:avLst>
          </a:prstGeom>
          <a:solidFill>
            <a:srgbClr val="EEF1F8"/>
          </a:solidFill>
          <a:ln w="9525">
            <a:solidFill>
              <a:srgbClr val="D8DDEA"/>
            </a:solidFill>
            <a:prstDash val="solid"/>
          </a:ln>
        </p:spPr>
      </p:sp>
      <p:sp>
        <p:nvSpPr>
          <p:cNvPr id="10" name="Shape 8"/>
          <p:cNvSpPr/>
          <p:nvPr/>
        </p:nvSpPr>
        <p:spPr>
          <a:xfrm>
            <a:off x="3717036" y="2331720"/>
            <a:ext cx="384048" cy="384048"/>
          </a:xfrm>
          <a:prstGeom prst="ellipse">
            <a:avLst/>
          </a:prstGeom>
          <a:solidFill>
            <a:srgbClr val="C08829"/>
          </a:solidFill>
          <a:ln/>
        </p:spPr>
      </p:sp>
      <p:sp>
        <p:nvSpPr>
          <p:cNvPr id="11" name="Text 9"/>
          <p:cNvSpPr txBox="1"/>
          <p:nvPr/>
        </p:nvSpPr>
        <p:spPr>
          <a:xfrm>
            <a:off x="3717036"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717036"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Borrow</a:t>
            </a:r>
            <a:endParaRPr lang="en-US" sz="1500" dirty="0"/>
          </a:p>
        </p:txBody>
      </p:sp>
      <p:sp>
        <p:nvSpPr>
          <p:cNvPr id="13" name="Text 11"/>
          <p:cNvSpPr txBox="1"/>
          <p:nvPr/>
        </p:nvSpPr>
        <p:spPr>
          <a:xfrm>
            <a:off x="3717036"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Against it, never selling.</a:t>
            </a:r>
            <a:endParaRPr lang="en-US" sz="1200" dirty="0"/>
          </a:p>
        </p:txBody>
      </p:sp>
      <p:sp>
        <p:nvSpPr>
          <p:cNvPr id="14" name="Shape 12"/>
          <p:cNvSpPr/>
          <p:nvPr/>
        </p:nvSpPr>
        <p:spPr>
          <a:xfrm>
            <a:off x="6236208" y="2057400"/>
            <a:ext cx="2464308" cy="2331720"/>
          </a:xfrm>
          <a:prstGeom prst="roundRect">
            <a:avLst>
              <a:gd name="adj" fmla="val 3137"/>
            </a:avLst>
          </a:prstGeom>
          <a:solidFill>
            <a:srgbClr val="EEF1F8"/>
          </a:solidFill>
          <a:ln w="9525">
            <a:solidFill>
              <a:srgbClr val="D8DDEA"/>
            </a:solidFill>
            <a:prstDash val="solid"/>
          </a:ln>
        </p:spPr>
      </p:sp>
      <p:sp>
        <p:nvSpPr>
          <p:cNvPr id="15" name="Shape 13"/>
          <p:cNvSpPr/>
          <p:nvPr/>
        </p:nvSpPr>
        <p:spPr>
          <a:xfrm>
            <a:off x="6492240" y="2331720"/>
            <a:ext cx="384048" cy="384048"/>
          </a:xfrm>
          <a:prstGeom prst="ellipse">
            <a:avLst/>
          </a:prstGeom>
          <a:solidFill>
            <a:srgbClr val="C08829"/>
          </a:solidFill>
          <a:ln/>
        </p:spPr>
      </p:sp>
      <p:sp>
        <p:nvSpPr>
          <p:cNvPr id="16" name="Text 14"/>
          <p:cNvSpPr txBox="1"/>
          <p:nvPr/>
        </p:nvSpPr>
        <p:spPr>
          <a:xfrm>
            <a:off x="6492240"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92240"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Convert</a:t>
            </a:r>
            <a:endParaRPr lang="en-US" sz="1500" dirty="0"/>
          </a:p>
        </p:txBody>
      </p:sp>
      <p:sp>
        <p:nvSpPr>
          <p:cNvPr id="18" name="Text 16"/>
          <p:cNvSpPr txBox="1"/>
          <p:nvPr/>
        </p:nvSpPr>
        <p:spPr>
          <a:xfrm>
            <a:off x="6492240"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Into the earning stablecoin.</a:t>
            </a:r>
            <a:endParaRPr lang="en-US" sz="1200" dirty="0"/>
          </a:p>
        </p:txBody>
      </p:sp>
      <p:sp>
        <p:nvSpPr>
          <p:cNvPr id="19" name="Shape 17"/>
          <p:cNvSpPr/>
          <p:nvPr/>
        </p:nvSpPr>
        <p:spPr>
          <a:xfrm>
            <a:off x="9011412" y="2057400"/>
            <a:ext cx="2464308" cy="2331720"/>
          </a:xfrm>
          <a:prstGeom prst="roundRect">
            <a:avLst>
              <a:gd name="adj" fmla="val 3137"/>
            </a:avLst>
          </a:prstGeom>
          <a:solidFill>
            <a:srgbClr val="EEF1F8"/>
          </a:solidFill>
          <a:ln w="9525">
            <a:solidFill>
              <a:srgbClr val="D8DDEA"/>
            </a:solidFill>
            <a:prstDash val="solid"/>
          </a:ln>
        </p:spPr>
      </p:sp>
      <p:sp>
        <p:nvSpPr>
          <p:cNvPr id="20" name="Shape 18"/>
          <p:cNvSpPr/>
          <p:nvPr/>
        </p:nvSpPr>
        <p:spPr>
          <a:xfrm>
            <a:off x="9267444" y="2331720"/>
            <a:ext cx="384048" cy="384048"/>
          </a:xfrm>
          <a:prstGeom prst="ellipse">
            <a:avLst/>
          </a:prstGeom>
          <a:solidFill>
            <a:srgbClr val="25774F"/>
          </a:solidFill>
          <a:ln/>
        </p:spPr>
      </p:sp>
      <p:sp>
        <p:nvSpPr>
          <p:cNvPr id="21" name="Text 19"/>
          <p:cNvSpPr txBox="1"/>
          <p:nvPr/>
        </p:nvSpPr>
        <p:spPr>
          <a:xfrm>
            <a:off x="9267444"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67444" y="2852928"/>
            <a:ext cx="1952244"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Earn</a:t>
            </a:r>
            <a:endParaRPr lang="en-US" sz="1500" dirty="0"/>
          </a:p>
        </p:txBody>
      </p:sp>
      <p:sp>
        <p:nvSpPr>
          <p:cNvPr id="23" name="Text 21"/>
          <p:cNvSpPr txBox="1"/>
          <p:nvPr/>
        </p:nvSpPr>
        <p:spPr>
          <a:xfrm>
            <a:off x="9267444" y="3310128"/>
            <a:ext cx="1952244"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The spread — small, and not the point.</a:t>
            </a:r>
            <a:endParaRPr lang="en-US" sz="1200" dirty="0"/>
          </a:p>
        </p:txBody>
      </p:sp>
      <p:sp>
        <p:nvSpPr>
          <p:cNvPr id="24" name="Text 22"/>
          <p:cNvSpPr txBox="1"/>
          <p:nvPr/>
        </p:nvSpPr>
        <p:spPr>
          <a:xfrm>
            <a:off x="685800" y="4754880"/>
            <a:ext cx="10607040" cy="109728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You end up holding two things: your Bitcoin, and capital you did not have before.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THREE</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Entry Levels</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Where you buy, and how you accumulate without adding money.</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TCIB RECALL</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Fibonacci buying zones</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0.618</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first level — shallowest, most often reached</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0.50</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second level</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0.382</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third level — deepest, best price</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In TCIB these were about entering well. Here they do a second job: instead of selling at the next level up, you borrow against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SCENARIO ONE · IT FELL</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$100 in, price drops</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377440"/>
                <a:gridCol w="2377440"/>
                <a:gridCol w="3291840"/>
                <a:gridCol w="274320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BTC held</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Buy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 in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Borrow 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you hold $30 USDT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Price falls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What do you do?</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Buy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deploy the $30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0.00135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35% more Bitcoin than you started with — and you never added new money.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SCENARIO TWO · IT ROSE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$100 in, price rises first</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377440"/>
                <a:gridCol w="2377440"/>
                <a:gridCol w="3291840"/>
                <a:gridCol w="274320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BTC held</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Buy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$100 in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Price rises</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$115,000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position worth $115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Borrow 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$115,000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instead of selling — $34.50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0.00100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Buy the dip</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$85,000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1A2340"/>
                          </a:solidFill>
                          <a:latin typeface="Calibri" pitchFamily="34" charset="0"/>
                          <a:ea typeface="Calibri" pitchFamily="34" charset="-122"/>
                          <a:cs typeface="Calibri" pitchFamily="34" charset="-120"/>
                        </a:rPr>
                        <a:t>deploy the $34.50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0.00141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More Bitcoin than scenario one — and you still hold the original position.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THE CATCH</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For every $100 you deploy, hold $100 back.</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Untouched. Not in the position, not in Earn where you would be tempted. That reserve is what lets you buy a 60% drawdown instead of being liquidated by it. And in a margin call the top-up comes from reserve — never from borrowing more. Buying with borrowed money raises your loan and your collateral together; it rescues nothing.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NO SIGNAL</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if you bought without a signal?</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buying price becomes your 0.618</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Plot the Fibonacci as normal, then move it so 0.618 sits on your entry.</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But understand what you just did</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Walang basehan yung Fibonacci mo if you moved it to wherever you happened to buy.</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This is not encouraged</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It only shows your next levels given you already bought. It does not make a bad entry good.</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4</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FOUR</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Capital Preservation</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The module that makes the other three worth anything.</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SENTENCE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A drop is not a loss until you are forced to sell.</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Module 1 ended on a word: foreclosed. This is the general version. Everything in the next forty minutes is one question — how do we remove the force?</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WHERE YOUR ALARMS SIT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Open at 30% LTV — what each price fall means</a:t>
            </a:r>
            <a:endParaRPr lang="en-US" sz="3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194560"/>
                <a:gridCol w="2011680"/>
                <a:gridCol w="658368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 falls</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Your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What you do</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Log it. Nothing else.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Confirm reserve, calculate the top-up. Do not execute.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ACT. Top up from reserve, or close the loan.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−64.7%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Platform margin call — you never arrive here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−67.0%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Liquidation — you never arrive here</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Seventeen percentage points between “act” and “liquidated”, with a written instruction sitting inside it. That gap is what you are buying with the discipline.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SEVEN YEARS OF WEATHER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Four of these five hit Alarm 3</a:t>
            </a:r>
            <a:endParaRPr lang="en-US" sz="3400" dirty="0"/>
          </a:p>
        </p:txBody>
      </p:sp>
      <p:sp>
        <p:nvSpPr>
          <p:cNvPr id="4" name="Shape 2"/>
          <p:cNvSpPr/>
          <p:nvPr/>
        </p:nvSpPr>
        <p:spPr>
          <a:xfrm>
            <a:off x="685800" y="1965960"/>
            <a:ext cx="1865376" cy="2377440"/>
          </a:xfrm>
          <a:prstGeom prst="roundRect">
            <a:avLst>
              <a:gd name="adj" fmla="val 3922"/>
            </a:avLst>
          </a:prstGeom>
          <a:solidFill>
            <a:srgbClr val="EEF1F8"/>
          </a:solidFill>
          <a:ln w="9525">
            <a:solidFill>
              <a:srgbClr val="D8DDEA"/>
            </a:solidFill>
            <a:prstDash val="solid"/>
          </a:ln>
        </p:spPr>
      </p:sp>
      <p:sp>
        <p:nvSpPr>
          <p:cNvPr id="5" name="Text 3"/>
          <p:cNvSpPr txBox="1"/>
          <p:nvPr/>
        </p:nvSpPr>
        <p:spPr>
          <a:xfrm>
            <a:off x="868680"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−54%</a:t>
            </a:r>
            <a:endParaRPr lang="en-US" sz="4600" dirty="0"/>
          </a:p>
        </p:txBody>
      </p:sp>
      <p:sp>
        <p:nvSpPr>
          <p:cNvPr id="6" name="Text 4"/>
          <p:cNvSpPr txBox="1"/>
          <p:nvPr/>
        </p:nvSpPr>
        <p:spPr>
          <a:xfrm>
            <a:off x="868680"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2019</a:t>
            </a:r>
            <a:endParaRPr lang="en-US" sz="1300" dirty="0"/>
          </a:p>
        </p:txBody>
      </p:sp>
      <p:sp>
        <p:nvSpPr>
          <p:cNvPr id="7" name="Shape 5"/>
          <p:cNvSpPr/>
          <p:nvPr/>
        </p:nvSpPr>
        <p:spPr>
          <a:xfrm>
            <a:off x="2916936" y="1965960"/>
            <a:ext cx="1865376" cy="2377440"/>
          </a:xfrm>
          <a:prstGeom prst="roundRect">
            <a:avLst>
              <a:gd name="adj" fmla="val 3922"/>
            </a:avLst>
          </a:prstGeom>
          <a:solidFill>
            <a:srgbClr val="EEF1F8"/>
          </a:solidFill>
          <a:ln w="9525">
            <a:solidFill>
              <a:srgbClr val="D8DDEA"/>
            </a:solidFill>
            <a:prstDash val="solid"/>
          </a:ln>
        </p:spPr>
      </p:sp>
      <p:sp>
        <p:nvSpPr>
          <p:cNvPr id="8" name="Text 6"/>
          <p:cNvSpPr txBox="1"/>
          <p:nvPr/>
        </p:nvSpPr>
        <p:spPr>
          <a:xfrm>
            <a:off x="3099816"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−63%</a:t>
            </a:r>
            <a:endParaRPr lang="en-US" sz="4600" dirty="0"/>
          </a:p>
        </p:txBody>
      </p:sp>
      <p:sp>
        <p:nvSpPr>
          <p:cNvPr id="9" name="Text 7"/>
          <p:cNvSpPr txBox="1"/>
          <p:nvPr/>
        </p:nvSpPr>
        <p:spPr>
          <a:xfrm>
            <a:off x="3099816"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2020</a:t>
            </a:r>
            <a:endParaRPr lang="en-US" sz="1300" dirty="0"/>
          </a:p>
        </p:txBody>
      </p:sp>
      <p:sp>
        <p:nvSpPr>
          <p:cNvPr id="10" name="Shape 8"/>
          <p:cNvSpPr/>
          <p:nvPr/>
        </p:nvSpPr>
        <p:spPr>
          <a:xfrm>
            <a:off x="5148072" y="1965960"/>
            <a:ext cx="1865376" cy="2377440"/>
          </a:xfrm>
          <a:prstGeom prst="roundRect">
            <a:avLst>
              <a:gd name="adj" fmla="val 3922"/>
            </a:avLst>
          </a:prstGeom>
          <a:solidFill>
            <a:srgbClr val="EEF1F8"/>
          </a:solidFill>
          <a:ln w="9525">
            <a:solidFill>
              <a:srgbClr val="D8DDEA"/>
            </a:solidFill>
            <a:prstDash val="solid"/>
          </a:ln>
        </p:spPr>
      </p:sp>
      <p:sp>
        <p:nvSpPr>
          <p:cNvPr id="11" name="Text 9"/>
          <p:cNvSpPr txBox="1"/>
          <p:nvPr/>
        </p:nvSpPr>
        <p:spPr>
          <a:xfrm>
            <a:off x="5330952"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−54%</a:t>
            </a:r>
            <a:endParaRPr lang="en-US" sz="4600" dirty="0"/>
          </a:p>
        </p:txBody>
      </p:sp>
      <p:sp>
        <p:nvSpPr>
          <p:cNvPr id="12" name="Text 10"/>
          <p:cNvSpPr txBox="1"/>
          <p:nvPr/>
        </p:nvSpPr>
        <p:spPr>
          <a:xfrm>
            <a:off x="5330952"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2021</a:t>
            </a:r>
            <a:endParaRPr lang="en-US" sz="1300" dirty="0"/>
          </a:p>
        </p:txBody>
      </p:sp>
      <p:sp>
        <p:nvSpPr>
          <p:cNvPr id="13" name="Shape 11"/>
          <p:cNvSpPr/>
          <p:nvPr/>
        </p:nvSpPr>
        <p:spPr>
          <a:xfrm>
            <a:off x="7379208" y="1965960"/>
            <a:ext cx="1865376" cy="2377440"/>
          </a:xfrm>
          <a:prstGeom prst="roundRect">
            <a:avLst>
              <a:gd name="adj" fmla="val 3922"/>
            </a:avLst>
          </a:prstGeom>
          <a:solidFill>
            <a:srgbClr val="EEF1F8"/>
          </a:solidFill>
          <a:ln w="9525">
            <a:solidFill>
              <a:srgbClr val="D8DDEA"/>
            </a:solidFill>
            <a:prstDash val="solid"/>
          </a:ln>
        </p:spPr>
      </p:sp>
      <p:sp>
        <p:nvSpPr>
          <p:cNvPr id="14" name="Text 12"/>
          <p:cNvSpPr txBox="1"/>
          <p:nvPr/>
        </p:nvSpPr>
        <p:spPr>
          <a:xfrm>
            <a:off x="7562088" y="2267712"/>
            <a:ext cx="1499616" cy="1051560"/>
          </a:xfrm>
          <a:prstGeom prst="rect">
            <a:avLst/>
          </a:prstGeom>
          <a:noFill/>
          <a:ln/>
        </p:spPr>
        <p:txBody>
          <a:bodyPr wrap="square" lIns="0" tIns="0" rIns="0" bIns="0" rtlCol="0" anchor="ctr"/>
          <a:lstStyle/>
          <a:p>
            <a:pPr algn="ctr" indent="0" marL="0">
              <a:buNone/>
            </a:pPr>
            <a:r>
              <a:rPr lang="en-US" sz="4600" b="1" dirty="0">
                <a:solidFill>
                  <a:srgbClr val="A82F26"/>
                </a:solidFill>
                <a:latin typeface="Cambria" pitchFamily="34" charset="0"/>
                <a:ea typeface="Cambria" pitchFamily="34" charset="-122"/>
                <a:cs typeface="Cambria" pitchFamily="34" charset="-120"/>
              </a:rPr>
              <a:t>−77%</a:t>
            </a:r>
            <a:endParaRPr lang="en-US" sz="4600" dirty="0"/>
          </a:p>
        </p:txBody>
      </p:sp>
      <p:sp>
        <p:nvSpPr>
          <p:cNvPr id="15" name="Text 13"/>
          <p:cNvSpPr txBox="1"/>
          <p:nvPr/>
        </p:nvSpPr>
        <p:spPr>
          <a:xfrm>
            <a:off x="7562088"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2022</a:t>
            </a:r>
            <a:endParaRPr lang="en-US" sz="1300" dirty="0"/>
          </a:p>
        </p:txBody>
      </p:sp>
      <p:sp>
        <p:nvSpPr>
          <p:cNvPr id="16" name="Shape 14"/>
          <p:cNvSpPr/>
          <p:nvPr/>
        </p:nvSpPr>
        <p:spPr>
          <a:xfrm>
            <a:off x="9610344" y="1965960"/>
            <a:ext cx="1865376" cy="2377440"/>
          </a:xfrm>
          <a:prstGeom prst="roundRect">
            <a:avLst>
              <a:gd name="adj" fmla="val 3922"/>
            </a:avLst>
          </a:prstGeom>
          <a:solidFill>
            <a:srgbClr val="EEF1F8"/>
          </a:solidFill>
          <a:ln w="9525">
            <a:solidFill>
              <a:srgbClr val="D8DDEA"/>
            </a:solidFill>
            <a:prstDash val="solid"/>
          </a:ln>
        </p:spPr>
      </p:sp>
      <p:sp>
        <p:nvSpPr>
          <p:cNvPr id="17" name="Text 15"/>
          <p:cNvSpPr txBox="1"/>
          <p:nvPr/>
        </p:nvSpPr>
        <p:spPr>
          <a:xfrm>
            <a:off x="9793224"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−33%</a:t>
            </a:r>
            <a:endParaRPr lang="en-US" sz="4600" dirty="0"/>
          </a:p>
        </p:txBody>
      </p:sp>
      <p:sp>
        <p:nvSpPr>
          <p:cNvPr id="18" name="Text 16"/>
          <p:cNvSpPr txBox="1"/>
          <p:nvPr/>
        </p:nvSpPr>
        <p:spPr>
          <a:xfrm>
            <a:off x="9793224"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2024</a:t>
            </a:r>
            <a:endParaRPr lang="en-US" sz="1300" dirty="0"/>
          </a:p>
        </p:txBody>
      </p:sp>
      <p:sp>
        <p:nvSpPr>
          <p:cNvPr id="19" name="Text 17"/>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Alarm 3 is not an emergency. It is a normal event — about once a year, for seven years. Someone who thinks it is a catastrophe will panic. Someone who expects it will act.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WORST ENTRY IN SEVEN YEARS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 bought the 2021 peak at our 30% ceiling</a:t>
            </a:r>
            <a:endParaRPr lang="en-US" sz="3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103120"/>
                <a:gridCol w="3657600"/>
                <a:gridCol w="502920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Event</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What you do</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$69,000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Open at 30% LTV, reserve funded 1:1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$51,750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−25% · Alarm 1</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Log it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$41,400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−40% · Alarm 2</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Calculate the top-up</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$34,500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−50% · ALARM 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B4720F"/>
                          </a:solidFill>
                          <a:latin typeface="Calibri" pitchFamily="34" charset="0"/>
                          <a:ea typeface="Calibri" pitchFamily="34" charset="-122"/>
                          <a:cs typeface="Calibri" pitchFamily="34" charset="-120"/>
                        </a:rPr>
                        <a:t>Close the loan from reserve. Keep every satoshi.</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$22,747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would have been liquidation</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25774F"/>
                          </a:solidFill>
                          <a:latin typeface="Calibri" pitchFamily="34" charset="0"/>
                          <a:ea typeface="Calibri" pitchFamily="34" charset="-122"/>
                          <a:cs typeface="Calibri" pitchFamily="34" charset="-120"/>
                        </a:rPr>
                        <a:t>Loan already closed. Nothing to sell.</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$15,500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the 2022 bottom</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Still holding 100% of it</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Liquidation price = 69,000 × 0.30 ÷ 0.91 = $22,747. The 2022 low was ~$15,500 — so left alone, this position IS liquidated. 30% by itself does not save you.</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THE HONEST HALF</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You still took the drawdown.</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At the bottom of 2022 that Bitcoin was worth about 23 centavos on the peso. Our rules did not stop that. Nothing stops that. What they did was make sure you still owned all of it — so when it turned, it turned in your hands. We preserve the asset. That is what lets you choose your own timing.</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ONE PESO, TWO JOBS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Resolving the contradiction you just watched</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C08829"/>
                </a:solidFill>
                <a:latin typeface="Cambria" pitchFamily="34" charset="0"/>
                <a:ea typeface="Cambria" pitchFamily="34" charset="-122"/>
                <a:cs typeface="Cambria" pitchFamily="34" charset="-120"/>
              </a:rPr>
              <a:t>Module 2 said</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Borrow USDT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Convert to USDC</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Park it in Earn</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Collect the spread</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B4720F"/>
                </a:solidFill>
                <a:latin typeface="Cambria" pitchFamily="34" charset="0"/>
                <a:ea typeface="Cambria" pitchFamily="34" charset="-122"/>
                <a:cs typeface="Cambria" pitchFamily="34" charset="-120"/>
              </a:rPr>
              <a:t>Module 3 said</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Borrow USDT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Hold it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Wait for your level</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Buy the dip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YOU CAN NOW DO</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Most people who own Bitcoin cannot do what you just did.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You computed a liquidation price from a peak you did not choose, and you found the one instruction that saved a position through a 77% drawdown.</a:t>
            </a:r>
            <a:endParaRPr lang="en-US" sz="1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YOU STILL CANNOT DO</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It was all on paper.</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A8B0C8"/>
                </a:solidFill>
                <a:latin typeface="Calibri" pitchFamily="34" charset="0"/>
                <a:ea typeface="Calibri" pitchFamily="34" charset="-122"/>
                <a:cs typeface="Calibri" pitchFamily="34" charset="-120"/>
              </a:rPr>
              <a:t>You have never funded a wallet, moved money between two platforms, posted collateral, or watched an LTV slider move with your own money behind it. And there is a night coming — down 40%, phone going off, 3am, acting in order while tired. Tonight you learned that night exists. You have not rehearsed it. Reading the fire exit is not the same as walking it in the dark.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COMES NEXT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Level 2/3 — one curriculum, two ways to take it</a:t>
            </a:r>
            <a:endParaRPr lang="en-US" sz="27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C08829"/>
                </a:solidFill>
                <a:latin typeface="Cambria" pitchFamily="34" charset="0"/>
                <a:ea typeface="Cambria" pitchFamily="34" charset="-122"/>
                <a:cs typeface="Cambria" pitchFamily="34" charset="-120"/>
              </a:rPr>
              <a:t>Deep Dive · ₱15,000</a:t>
            </a:r>
            <a:endParaRPr lang="en-US" sz="2100" dirty="0"/>
          </a:p>
        </p:txBody>
      </p:sp>
      <p:sp>
        <p:nvSpPr>
          <p:cNvPr id="6" name="Text 4"/>
          <p:cNvSpPr txBox="1"/>
          <p:nvPr/>
        </p:nvSpPr>
        <p:spPr>
          <a:xfrm>
            <a:off x="1069848"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3 days, online, pods of 8</a:t>
            </a:r>
            <a:endParaRPr lang="en-US" sz="1200" dirty="0"/>
          </a:p>
        </p:txBody>
      </p:sp>
      <p:sp>
        <p:nvSpPr>
          <p:cNvPr id="7" name="Text 5"/>
          <p:cNvSpPr txBox="1"/>
          <p:nvPr/>
        </p:nvSpPr>
        <p:spPr>
          <a:xfrm>
            <a:off x="1069848"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Chart structure and weekly levels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 platform, end to end</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Your first live position</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LTV discipline and the scored drill</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 accumulation system</a:t>
            </a:r>
            <a:endParaRPr lang="en-US" sz="1400" dirty="0"/>
          </a:p>
        </p:txBody>
      </p:sp>
      <p:sp>
        <p:nvSpPr>
          <p:cNvPr id="8" name="Shape 6"/>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9" name="Text 7"/>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Immersion · ₱75,000</a:t>
            </a:r>
            <a:endParaRPr lang="en-US" sz="2100" dirty="0"/>
          </a:p>
        </p:txBody>
      </p:sp>
      <p:sp>
        <p:nvSpPr>
          <p:cNvPr id="10" name="Text 8"/>
          <p:cNvSpPr txBox="1"/>
          <p:nvPr/>
        </p:nvSpPr>
        <p:spPr>
          <a:xfrm>
            <a:off x="6720840"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3–4 days, face to face, small class</a:t>
            </a:r>
            <a:endParaRPr lang="en-US" sz="1200" dirty="0"/>
          </a:p>
        </p:txBody>
      </p:sp>
      <p:sp>
        <p:nvSpPr>
          <p:cNvPr id="11" name="Text 9"/>
          <p:cNvSpPr txBox="1"/>
          <p:nvPr/>
        </p:nvSpPr>
        <p:spPr>
          <a:xfrm>
            <a:off x="6720840"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Everything in the Deep Dive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In a room, with faculty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Your complete personal playbook</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 transfer question</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One-to-one playbook review</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AND WHO SHOULD NOT BOOK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Do not take Level 2 or 3 if</a:t>
            </a:r>
            <a:endParaRPr lang="en-US" sz="3400" dirty="0"/>
          </a:p>
        </p:txBody>
      </p:sp>
      <p:sp>
        <p:nvSpPr>
          <p:cNvPr id="4" name="Shape 2"/>
          <p:cNvSpPr/>
          <p:nvPr/>
        </p:nvSpPr>
        <p:spPr>
          <a:xfrm>
            <a:off x="685800" y="1929384"/>
            <a:ext cx="420624" cy="420624"/>
          </a:xfrm>
          <a:prstGeom prst="ellipse">
            <a:avLst/>
          </a:prstGeom>
          <a:solidFill>
            <a:srgbClr val="A82F26"/>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 are not going to fund the reserve</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saw tonight what did the saving. Half the rule set is worse than none — it feels like protection and is not.</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 would use money you need inside five years</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Nothing we teach makes short money safe.</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Tonight made you excited rather than careful</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Sit with it a week. Excitement is what puts people at 78% LTV.</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ONE STEP</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Registration is in the chat.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Next Deep Dive {{level_2_date}} · next Immersion {{level_3_date}} · {{seat_cap}} seats, because pods run one coach to eight and we do not stretch that. Unsure which — or unsure at all? Message {{ops_lead}} and say so. You will get a real answer, including “not yet”.</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1 — Masterclass</dc:title>
  <dc:subject>Buy Borrow Thrive Masterclass</dc:subject>
  <dc:creator>Thrive Blueprint Education Corp.</dc:creator>
  <cp:lastModifiedBy>Thrive Blueprint Education Corp.</cp:lastModifiedBy>
  <cp:revision>1</cp:revision>
  <dcterms:created xsi:type="dcterms:W3CDTF">2026-09-03T07:47:52Z</dcterms:created>
  <dcterms:modified xsi:type="dcterms:W3CDTF">2026-09-03T07:47:52Z</dcterms:modified>
</cp:coreProperties>
</file>