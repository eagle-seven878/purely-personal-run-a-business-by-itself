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makes BBT a company rather than a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A1, 20 min. This rung has one job: turn what one person does instinctively into something twelve people can do reliably. Not identically — reliably.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A2, 15 min. Candidates misread the middle column as optional. It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A3, 10 min. Crossing it ends your certification, not a conversation about it. This slide stays visible during every Day 2 teach-back.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B1, 30 min, then 40 min practicum on the bank walk.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B3, 20 min. Trainer plays the difficult participant; candidates answer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C1, 30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C2, 30 min. Each candidate delivers Level 1 beat B9 to the room. Scored on: table shown, no defensiveness, no blame, room invited to check the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D, 180 min. Keep this rubric on screen throughout so scoring is transparent.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E, 90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F1. A certified facilitator is certified on Layer A — the principle — which is what transfers to any future asset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F2–F3. Then: go run a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TRAINER · 2 DAYS · MAX 12 CANDIDATES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969264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room is not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constraint.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22192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Certifying a graduate to run Levels 0 to 3 to the standard.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of the levels · By invitation · Entry: Level 3 Immersion complete, two cohorts observed, one live drawdown survived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instructor ≈ two cohorts a month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EEF1F8"/>
          </a:solidFill>
          <a:ln w="9525">
            <a:solidFill>
              <a:srgbClr val="D8DD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6771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3649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per month, per instructor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EEF1F8"/>
          </a:solidFill>
          <a:ln w="9525">
            <a:solidFill>
              <a:srgbClr val="D8DD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26771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82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33649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marketing moves that number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7091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we have — the script, the analogies, the room mechanics, the callbacks — lives in one person’s head and one person’s calendar. The number of people who can run a room is the constraint.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BOUNDARIES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may and may not change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47088"/>
            <a:ext cx="5138928" cy="4160520"/>
          </a:xfrm>
          <a:prstGeom prst="roundRect">
            <a:avLst>
              <a:gd name="adj" fmla="val 1758"/>
            </a:avLst>
          </a:prstGeom>
          <a:solidFill>
            <a:srgbClr val="EEF1F8"/>
          </a:solidFill>
          <a:ln w="9525">
            <a:solidFill>
              <a:srgbClr val="D8DD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157984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2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NOT change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798064"/>
            <a:ext cx="43708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disclosure — verbatim, always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LTV ceilings — 30% position, 20% programme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reserve rule — 1:1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 — no exceptions for people you like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claim corrections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ratio — one coach per eight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preservation table, and both halves of what it claims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closing beats, including the disqualifier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47088"/>
            <a:ext cx="5138928" cy="4160520"/>
          </a:xfrm>
          <a:prstGeom prst="roundRect">
            <a:avLst>
              <a:gd name="adj" fmla="val 1758"/>
            </a:avLst>
          </a:prstGeom>
          <a:solidFill>
            <a:srgbClr val="EEF1F8"/>
          </a:solidFill>
          <a:ln w="9525">
            <a:solidFill>
              <a:srgbClr val="D8DD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157984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7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change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798064"/>
            <a:ext cx="43708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analogies. Mine are mine.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“Sino dito naglaro na sa Timezone” works because it is my room and my reference.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yours. A borrowed analogy delivered flat is worse than a plain explanation.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change: pacing inside a beat, the order of questions you take, your own worked examples — as long as they use round abstract numbers.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2344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8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YOU NEVER CROSS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9164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never make a return claim.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262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number, not a range, not “historically”, not “conservatively”, not “people in my last cohort”. Not in the room, not in a DM, not in a testimonial you repost. We teach a mechanism and its failure modes; the participant does their own arithmetic. That is the whole compact, and it is the only reason we can teach leverage to beginners with a straight face.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MECHANICS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— practise each on a partner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938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99032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typed check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2240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question, one word, WAIT, acknowledge. The wait is the skill — most new facilitators ask and move on in two seconds, which trains the room that answering is optional.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03809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03809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99032" y="298323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calculator moment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99032" y="334899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arithmetic they can do. A number you compute yourself is a number you believe. This is why Level 1 works and a lecture on the same content does not.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146804"/>
            <a:ext cx="420624" cy="420624"/>
          </a:xfrm>
          <a:prstGeom prst="ellipse">
            <a:avLst/>
          </a:prstGeom>
          <a:solidFill>
            <a:srgbClr val="B4720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1468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99032" y="40919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filter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99032" y="44577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question, take real answers, thank each one, then steer. You NEVER correct a participant in front of the room — acknowledge, then add.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25551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2555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99032" y="520065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analogy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99032" y="556641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Land, refinancing, foreclosure, arcade tokens, Cashflow. Every abstract concept needs one, and it must come from your room’s life.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ROOM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hard questions — answered cold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9384"/>
            <a:ext cx="420624" cy="420624"/>
          </a:xfrm>
          <a:prstGeom prst="ellipse">
            <a:avLst/>
          </a:prstGeom>
          <a:solidFill>
            <a:srgbClr val="A82F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99032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will I make?”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2240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will not give you a number, and anyone who does is selling you something.”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038094"/>
            <a:ext cx="420624" cy="420624"/>
          </a:xfrm>
          <a:prstGeom prst="ellipse">
            <a:avLst/>
          </a:prstGeom>
          <a:solidFill>
            <a:srgbClr val="B472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03809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99032" y="298323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safe?”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99032" y="334899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“No. It is leveraged exposure to the most volatile major asset there is.” Then the drawdown table.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14680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1468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99032" y="40919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friend runs 78% and he is fine.”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99032" y="44577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“Then a 15% drop closes him out. Bitcoin does 15% in a bad week.” Do not editorialise beyond the arithmetic.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255514"/>
            <a:ext cx="420624" cy="420624"/>
          </a:xfrm>
          <a:prstGeom prst="ellipse">
            <a:avLst/>
          </a:prstGeom>
          <a:solidFill>
            <a:srgbClr val="B4720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2555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99032" y="520065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coach last cohort said 50% was fine.”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99032" y="556641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get this one. Do not defend the old material — show the table and say plainly that we corrected it.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GATE · NO NOTES · WRITTEN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 from memory — 8 of 8 to pass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938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99032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LTV · new LTV after a d% drop · the additive shortcut and why we label it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03809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03809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99032" y="298323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 price formula · survivable drawdown at 78 / 50 / 30 / 20%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414680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41468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40919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vs programme LTV, with a worked example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525551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52555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99032" y="520065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to restore a target LTV · alarm price conversion from a target LTV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2344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257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THING A NEW FACILITATOR DOES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9164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taught 50%. We ran the arithmetic. The rule is 30% now. Check my work.”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262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your room will have heard 50% from a previous cohort or a friend. Do not defend it. Do not blame whoever taught it. Do not soften it into “some people prefer 30%”. A programme that corrects itself in public is more trustworthy than one that never has to — deliver it as strength, because it is.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SCORED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Teach-back rubric — two beats drawn blind, both must pass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789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6766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wrong number, or any uncorrected claim from the corrections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mechanics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typed check, no calculator moment, or corrected someone publicly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50% over the beat’s allotted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analogy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Borrowed the trainer’s analogy instead of bringing their 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return claim — automatic fail for the whole certification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57150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who fails one beat re-teaches it at the next workshop. A candidate who makes a return claim does not certify.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EXECUTION SIMULATION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planted problems, unannounced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938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99032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participant arrives unverified and asks to “just watch”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2240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hold the pre-flight gate — warmly and firmly?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407664"/>
            <a:ext cx="420624" cy="420624"/>
          </a:xfrm>
          <a:prstGeom prst="ellipse">
            <a:avLst/>
          </a:prstGeom>
          <a:solidFill>
            <a:srgbClr val="B472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407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99032" y="3352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participant about to send on the wrong network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99032" y="37185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six-word checklist catch it before send?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885944"/>
            <a:ext cx="420624" cy="420624"/>
          </a:xfrm>
          <a:prstGeom prst="ellipse">
            <a:avLst/>
          </a:prstGeom>
          <a:solidFill>
            <a:srgbClr val="A82F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885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99032" y="4831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participant quietly sets 65% LTV because “the app said 78 was fine”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99032" y="51968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catch it without shaming the person — and keep the other seven pods moving?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permits, and what it never permits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47088"/>
            <a:ext cx="5138928" cy="4160520"/>
          </a:xfrm>
          <a:prstGeom prst="roundRect">
            <a:avLst>
              <a:gd name="adj" fmla="val 1758"/>
            </a:avLst>
          </a:prstGeom>
          <a:solidFill>
            <a:srgbClr val="EEF1F8"/>
          </a:solidFill>
          <a:ln w="9525">
            <a:solidFill>
              <a:srgbClr val="D8DD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157984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7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to run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798064"/>
            <a:ext cx="43708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solo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solo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modules as lead, with coaches assigned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Immersion co-facilitated with a certified lead for the first two cohorts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47088"/>
            <a:ext cx="5138928" cy="4160520"/>
          </a:xfrm>
          <a:prstGeom prst="roundRect">
            <a:avLst>
              <a:gd name="adj" fmla="val 1758"/>
            </a:avLst>
          </a:prstGeom>
          <a:solidFill>
            <a:srgbClr val="EEF1F8"/>
          </a:solidFill>
          <a:ln w="9525">
            <a:solidFill>
              <a:srgbClr val="D8DD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157984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2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798064"/>
            <a:ext cx="43708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mentorship is faculty only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Certifying other facilitators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Altering the ceilings, reserve rule, gates or disclosure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 execution session below one coach per eight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return claim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OBLIGATIONS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carry after certification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938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99032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cohort variables for every cohort you run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038094"/>
            <a:ext cx="420624" cy="420624"/>
          </a:xfrm>
          <a:prstGeom prst="ellipse">
            <a:avLst/>
          </a:prstGeom>
          <a:solidFill>
            <a:srgbClr val="B4720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03809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99032" y="298323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capital preservation figures before every cohort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99032" y="334899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correct the shared file when they have drifted.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146804"/>
            <a:ext cx="420624" cy="420624"/>
          </a:xfrm>
          <a:prstGeom prst="ellipse">
            <a:avLst/>
          </a:prstGeom>
          <a:solidFill>
            <a:srgbClr val="A82F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41468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99032" y="40919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every participant liquidation within 48 hours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99032" y="44577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position card and the alarm history. No blame attaches to a facilitator for a liquidation — it attaches to not reporting one. We cannot improve the defense modules from cohorts we never hear about.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5255514"/>
            <a:ext cx="420624" cy="420624"/>
          </a:xfrm>
          <a:prstGeom prst="ellipse">
            <a:avLst/>
          </a:prstGeom>
          <a:solidFill>
            <a:srgbClr val="C088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52555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520065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Re-certify annually · re-read the corrections before every cohort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99032" y="556641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change as the platform changes.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Buy Borrow Thrive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BBT — Train the Trainer</dc:title>
  <dc:subject>Faculty certification workshop</dc:subject>
  <dc:creator>Thrive Blueprint Education Corp.</dc:creator>
  <cp:lastModifiedBy>Thrive Blueprint Education Corp.</cp:lastModifiedBy>
  <cp:revision>1</cp:revision>
  <dcterms:created xsi:type="dcterms:W3CDTF">2026-09-03T07:52:16Z</dcterms:created>
  <dcterms:modified xsi:type="dcterms:W3CDTF">2026-09-03T07:52:16Z</dcterms:modified>
</cp:coreProperties>
</file>