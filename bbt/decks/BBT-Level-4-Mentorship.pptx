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no curriculum to deliver — there is a cadence to hold and a set of conversations that must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 the teaching content as it becomes relevant to that participant’s position, not as a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this at onboarding so the expectation is explicit both 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Faculty must say this verbatim at onboarding. It is the boundary that keeps us an education company.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B1, 8 min at onboarding. Put it in the calendar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B2,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B3, 7 min. Anyone who sells you this strategy on the yield is selling you the wrong thing — and if that is what someone came for, this is a good moment to find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C1, 10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C2, 5 min. The most useful behavioural beat in the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C3,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D1–D2, 15 min. A tired person makes the decision that ends the position. That is not a soft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D3, 5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GATE. Faculty signs. That page is the programme.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Delivered at the annual review, not before. Beat four is mandatory.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37160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LEVEL 4 · DONE-WITH-YOU · USD 3,000 · 12 MONTHS</a:t>
            </a:r>
            <a:endParaRPr lang="en-US" sz="1000" dirty="0"/>
          </a:p>
        </p:txBody>
      </p:sp>
      <p:sp>
        <p:nvSpPr>
          <p:cNvPr id="3" name="Text 1"/>
          <p:cNvSpPr txBox="1"/>
          <p:nvPr/>
        </p:nvSpPr>
        <p:spPr>
          <a:xfrm>
            <a:off x="685800" y="1783080"/>
            <a:ext cx="9692640" cy="1837944"/>
          </a:xfrm>
          <a:prstGeom prst="rect">
            <a:avLst/>
          </a:prstGeom>
          <a:noFill/>
          <a:ln/>
        </p:spPr>
        <p:txBody>
          <a:bodyPr wrap="square" lIns="0" tIns="0" rIns="0" bIns="0" rtlCol="0" anchor="ctr"/>
          <a:lstStyle/>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A cadence,</a:t>
            </a:r>
            <a:endParaRPr lang="en-US" sz="5400" dirty="0"/>
          </a:p>
          <a:p>
            <a:pPr indent="0" marL="0">
              <a:lnSpc>
                <a:spcPts val="5800"/>
              </a:lnSpc>
              <a:buNone/>
            </a:pPr>
            <a:r>
              <a:rPr lang="en-US" sz="5400" b="1" dirty="0">
                <a:solidFill>
                  <a:srgbClr val="F2F4FA"/>
                </a:solidFill>
                <a:latin typeface="Cambria" pitchFamily="34" charset="0"/>
                <a:ea typeface="Cambria" pitchFamily="34" charset="-122"/>
                <a:cs typeface="Cambria" pitchFamily="34" charset="-120"/>
              </a:rPr>
              <a:t>not a class.</a:t>
            </a:r>
            <a:endParaRPr lang="en-US" sz="5400" dirty="0"/>
          </a:p>
        </p:txBody>
      </p:sp>
      <p:sp>
        <p:nvSpPr>
          <p:cNvPr id="4" name="Text 2"/>
          <p:cNvSpPr txBox="1"/>
          <p:nvPr/>
        </p:nvSpPr>
        <p:spPr>
          <a:xfrm>
            <a:off x="685800" y="3822192"/>
            <a:ext cx="8595360" cy="868680"/>
          </a:xfrm>
          <a:prstGeom prst="rect">
            <a:avLst/>
          </a:prstGeom>
          <a:noFill/>
          <a:ln/>
        </p:spPr>
        <p:txBody>
          <a:bodyPr wrap="square" lIns="0" tIns="0" rIns="0" bIns="0" rtlCol="0" anchor="ctr"/>
          <a:lstStyle/>
          <a:p>
            <a:pPr indent="0" marL="0">
              <a:lnSpc>
                <a:spcPts val="2600"/>
              </a:lnSpc>
              <a:buNone/>
            </a:pPr>
            <a:r>
              <a:rPr lang="en-US" sz="1800" dirty="0">
                <a:solidFill>
                  <a:srgbClr val="A8B0C8"/>
                </a:solidFill>
                <a:latin typeface="Calibri" pitchFamily="34" charset="0"/>
                <a:ea typeface="Calibri" pitchFamily="34" charset="-122"/>
                <a:cs typeface="Calibri" pitchFamily="34" charset="-120"/>
              </a:rPr>
              <a:t>Faculty beside you as you apply your own playbook to your own portfolio decisions, through at least one real cycle.</a:t>
            </a:r>
            <a:endParaRPr lang="en-US" sz="1800" dirty="0"/>
          </a:p>
        </p:txBody>
      </p:sp>
      <p:sp>
        <p:nvSpPr>
          <p:cNvPr id="5" name="Text 3"/>
          <p:cNvSpPr txBox="1"/>
          <p:nvPr/>
        </p:nvSpPr>
        <p:spPr>
          <a:xfrm>
            <a:off x="685800" y="5806440"/>
            <a:ext cx="10789920" cy="365760"/>
          </a:xfrm>
          <a:prstGeom prst="rect">
            <a:avLst/>
          </a:prstGeom>
          <a:noFill/>
          <a:ln/>
        </p:spPr>
        <p:txBody>
          <a:bodyPr wrap="square" lIns="0" tIns="0" rIns="0" bIns="0" rtlCol="0" anchor="ctr"/>
          <a:lstStyle/>
          <a:p>
            <a:pPr indent="0" marL="0">
              <a:buNone/>
            </a:pPr>
            <a:r>
              <a:rPr lang="en-US" sz="1200" dirty="0">
                <a:solidFill>
                  <a:srgbClr val="A8B0C8"/>
                </a:solidFill>
                <a:latin typeface="Calibri" pitchFamily="34" charset="0"/>
                <a:ea typeface="Calibri" pitchFamily="34" charset="-122"/>
                <a:cs typeface="Calibri" pitchFamily="34" charset="-120"/>
              </a:rPr>
              <a:t>Includes year one of the Thrive Circle   ·   Entry: Level 3 complete, signed playbook, one full cycle executed</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YEAR</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actually happens, and when</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Onboarding · 90 min 1:1</a:t>
            </a:r>
            <a:endParaRPr lang="en-US" sz="1700" dirty="0"/>
          </a:p>
        </p:txBody>
      </p:sp>
      <p:sp>
        <p:nvSpPr>
          <p:cNvPr id="7" name="Text 5"/>
          <p:cNvSpPr txBox="1"/>
          <p:nvPr/>
        </p:nvSpPr>
        <p:spPr>
          <a:xfrm>
            <a:off x="1399032" y="2240280"/>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Playbook review against the live position. Every number re-verified.</a:t>
            </a:r>
            <a:endParaRPr lang="en-US" sz="1350" dirty="0"/>
          </a:p>
        </p:txBody>
      </p:sp>
      <p:sp>
        <p:nvSpPr>
          <p:cNvPr id="8" name="Shape 6"/>
          <p:cNvSpPr/>
          <p:nvPr/>
        </p:nvSpPr>
        <p:spPr>
          <a:xfrm>
            <a:off x="685800" y="2816352"/>
            <a:ext cx="420624" cy="420624"/>
          </a:xfrm>
          <a:prstGeom prst="ellipse">
            <a:avLst/>
          </a:prstGeom>
          <a:solidFill>
            <a:srgbClr val="C08829"/>
          </a:solidFill>
          <a:ln/>
        </p:spPr>
      </p:sp>
      <p:sp>
        <p:nvSpPr>
          <p:cNvPr id="9" name="Text 7"/>
          <p:cNvSpPr txBox="1"/>
          <p:nvPr/>
        </p:nvSpPr>
        <p:spPr>
          <a:xfrm>
            <a:off x="685800"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761488"/>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Monthly · logged by you</a:t>
            </a:r>
            <a:endParaRPr lang="en-US" sz="1700" dirty="0"/>
          </a:p>
        </p:txBody>
      </p:sp>
      <p:sp>
        <p:nvSpPr>
          <p:cNvPr id="11" name="Text 9"/>
          <p:cNvSpPr txBox="1"/>
          <p:nvPr/>
        </p:nvSpPr>
        <p:spPr>
          <a:xfrm>
            <a:off x="1399032" y="3127248"/>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four numbers — borrow rate, blended earn rate, spread, LTV.</a:t>
            </a:r>
            <a:endParaRPr lang="en-US" sz="1350" dirty="0"/>
          </a:p>
        </p:txBody>
      </p:sp>
      <p:sp>
        <p:nvSpPr>
          <p:cNvPr id="12" name="Shape 10"/>
          <p:cNvSpPr/>
          <p:nvPr/>
        </p:nvSpPr>
        <p:spPr>
          <a:xfrm>
            <a:off x="685800" y="3703320"/>
            <a:ext cx="420624" cy="420624"/>
          </a:xfrm>
          <a:prstGeom prst="ellipse">
            <a:avLst/>
          </a:prstGeom>
          <a:solidFill>
            <a:srgbClr val="C08829"/>
          </a:solidFill>
          <a:ln/>
        </p:spPr>
      </p:sp>
      <p:sp>
        <p:nvSpPr>
          <p:cNvPr id="13" name="Text 11"/>
          <p:cNvSpPr txBox="1"/>
          <p:nvPr/>
        </p:nvSpPr>
        <p:spPr>
          <a:xfrm>
            <a:off x="685800" y="3703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3648456"/>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Quarterly · 60 min 1:1</a:t>
            </a:r>
            <a:endParaRPr lang="en-US" sz="1700" dirty="0"/>
          </a:p>
        </p:txBody>
      </p:sp>
      <p:sp>
        <p:nvSpPr>
          <p:cNvPr id="15" name="Text 13"/>
          <p:cNvSpPr txBox="1"/>
          <p:nvPr/>
        </p:nvSpPr>
        <p:spPr>
          <a:xfrm>
            <a:off x="1399032" y="4014216"/>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Re-plot levels · rebalance buckets · recompute alarms · confirm reserve is still 1:1.</a:t>
            </a:r>
            <a:endParaRPr lang="en-US" sz="1350" dirty="0"/>
          </a:p>
        </p:txBody>
      </p:sp>
      <p:sp>
        <p:nvSpPr>
          <p:cNvPr id="16" name="Shape 14"/>
          <p:cNvSpPr/>
          <p:nvPr/>
        </p:nvSpPr>
        <p:spPr>
          <a:xfrm>
            <a:off x="685800" y="4590288"/>
            <a:ext cx="420624" cy="420624"/>
          </a:xfrm>
          <a:prstGeom prst="ellipse">
            <a:avLst/>
          </a:prstGeom>
          <a:solidFill>
            <a:srgbClr val="B4720F"/>
          </a:solidFill>
          <a:ln/>
        </p:spPr>
      </p:sp>
      <p:sp>
        <p:nvSpPr>
          <p:cNvPr id="17" name="Text 15"/>
          <p:cNvSpPr txBox="1"/>
          <p:nvPr/>
        </p:nvSpPr>
        <p:spPr>
          <a:xfrm>
            <a:off x="685800" y="4590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4535424"/>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On any Alarm 3 · same day</a:t>
            </a:r>
            <a:endParaRPr lang="en-US" sz="1700" dirty="0"/>
          </a:p>
        </p:txBody>
      </p:sp>
      <p:sp>
        <p:nvSpPr>
          <p:cNvPr id="19" name="Text 17"/>
          <p:cNvSpPr txBox="1"/>
          <p:nvPr/>
        </p:nvSpPr>
        <p:spPr>
          <a:xfrm>
            <a:off x="1399032" y="4901184"/>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This is what you are paying for.</a:t>
            </a:r>
            <a:endParaRPr lang="en-US" sz="1350" dirty="0"/>
          </a:p>
        </p:txBody>
      </p:sp>
      <p:sp>
        <p:nvSpPr>
          <p:cNvPr id="20" name="Shape 18"/>
          <p:cNvSpPr/>
          <p:nvPr/>
        </p:nvSpPr>
        <p:spPr>
          <a:xfrm>
            <a:off x="685800" y="5477256"/>
            <a:ext cx="420624" cy="420624"/>
          </a:xfrm>
          <a:prstGeom prst="ellipse">
            <a:avLst/>
          </a:prstGeom>
          <a:solidFill>
            <a:srgbClr val="C08829"/>
          </a:solidFill>
          <a:ln/>
        </p:spPr>
      </p:sp>
      <p:sp>
        <p:nvSpPr>
          <p:cNvPr id="21" name="Text 19"/>
          <p:cNvSpPr txBox="1"/>
          <p:nvPr/>
        </p:nvSpPr>
        <p:spPr>
          <a:xfrm>
            <a:off x="685800" y="5477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399032" y="5422392"/>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Annually · half a day</a:t>
            </a:r>
            <a:endParaRPr lang="en-US" sz="1700" dirty="0"/>
          </a:p>
        </p:txBody>
      </p:sp>
      <p:sp>
        <p:nvSpPr>
          <p:cNvPr id="23" name="Text 21"/>
          <p:cNvSpPr txBox="1"/>
          <p:nvPr/>
        </p:nvSpPr>
        <p:spPr>
          <a:xfrm>
            <a:off x="1399032" y="5788152"/>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Full plan re-run: sizing, growth ceiling, transfer, tax.</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WHAT YOU ARE ACTUALLY BUYING</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The Alarm 3 call is the product.</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Everything else is scaffolding around being reachable on the day it matters. A Level 4 participant whose Alarm 3 fired and who did not get a same-day call has not received what they bought.</a:t>
            </a:r>
            <a:endParaRPr lang="en-US"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A82F26"/>
                </a:solidFill>
                <a:latin typeface="Calibri" pitchFamily="34" charset="0"/>
                <a:ea typeface="Calibri" pitchFamily="34" charset="-122"/>
                <a:cs typeface="Calibri" pitchFamily="34" charset="-120"/>
              </a:rPr>
              <a:t>SAID AT ONBOARDING, IN THESE WORDS</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I will not tell you to buy or sell.</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000"/>
              </a:lnSpc>
              <a:buNone/>
            </a:pPr>
            <a:r>
              <a:rPr lang="en-US" sz="1400" dirty="0">
                <a:solidFill>
                  <a:srgbClr val="5B6480"/>
                </a:solidFill>
                <a:latin typeface="Calibri" pitchFamily="34" charset="0"/>
                <a:ea typeface="Calibri" pitchFamily="34" charset="-122"/>
                <a:cs typeface="Calibri" pitchFamily="34" charset="-120"/>
              </a:rPr>
              <a:t>I will not manage your money. I will not give you a number to act on. What I will do is ask you the questions your playbook says to ask, in the order it says to ask them, on the day you cannot think straight. If you wanted the first thing, this is the wrong programme and I would rather refund you today than disappoint you in eight months.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MONTHLY</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four numbers</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borrow rate today</a:t>
            </a:r>
            <a:endParaRPr lang="en-US" sz="1700" dirty="0"/>
          </a:p>
        </p:txBody>
      </p:sp>
      <p:sp>
        <p:nvSpPr>
          <p:cNvPr id="7" name="Shape 5"/>
          <p:cNvSpPr/>
          <p:nvPr/>
        </p:nvSpPr>
        <p:spPr>
          <a:xfrm>
            <a:off x="685800" y="3038094"/>
            <a:ext cx="420624" cy="420624"/>
          </a:xfrm>
          <a:prstGeom prst="ellipse">
            <a:avLst/>
          </a:prstGeom>
          <a:solidFill>
            <a:srgbClr val="B4720F"/>
          </a:solidFill>
          <a:ln/>
        </p:spPr>
      </p:sp>
      <p:sp>
        <p:nvSpPr>
          <p:cNvPr id="8" name="Text 6"/>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earn rate today — blended, not the headline</a:t>
            </a:r>
            <a:endParaRPr lang="en-US" sz="1700" dirty="0"/>
          </a:p>
        </p:txBody>
      </p:sp>
      <p:sp>
        <p:nvSpPr>
          <p:cNvPr id="10" name="Text 8"/>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Flexible Earn advertises a high rate on a first small tranche and a much lower one above it. Work out your blended rate once, properly, and you will never be fooled by the headline again.</a:t>
            </a:r>
            <a:endParaRPr lang="en-US" sz="1350" dirty="0"/>
          </a:p>
        </p:txBody>
      </p:sp>
      <p:sp>
        <p:nvSpPr>
          <p:cNvPr id="11" name="Shape 9"/>
          <p:cNvSpPr/>
          <p:nvPr/>
        </p:nvSpPr>
        <p:spPr>
          <a:xfrm>
            <a:off x="685800" y="4146804"/>
            <a:ext cx="420624" cy="420624"/>
          </a:xfrm>
          <a:prstGeom prst="ellipse">
            <a:avLst/>
          </a:prstGeom>
          <a:solidFill>
            <a:srgbClr val="C08829"/>
          </a:solidFill>
          <a:ln/>
        </p:spPr>
      </p:sp>
      <p:sp>
        <p:nvSpPr>
          <p:cNvPr id="12" name="Text 10"/>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spread</a:t>
            </a:r>
            <a:endParaRPr lang="en-US" sz="1700" dirty="0"/>
          </a:p>
        </p:txBody>
      </p:sp>
      <p:sp>
        <p:nvSpPr>
          <p:cNvPr id="14" name="Text 12"/>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Two minus one.</a:t>
            </a:r>
            <a:endParaRPr lang="en-US" sz="1350" dirty="0"/>
          </a:p>
        </p:txBody>
      </p:sp>
      <p:sp>
        <p:nvSpPr>
          <p:cNvPr id="15" name="Shape 13"/>
          <p:cNvSpPr/>
          <p:nvPr/>
        </p:nvSpPr>
        <p:spPr>
          <a:xfrm>
            <a:off x="685800" y="5255514"/>
            <a:ext cx="420624" cy="420624"/>
          </a:xfrm>
          <a:prstGeom prst="ellipse">
            <a:avLst/>
          </a:prstGeom>
          <a:solidFill>
            <a:srgbClr val="C08829"/>
          </a:solidFill>
          <a:ln/>
        </p:spPr>
      </p:sp>
      <p:sp>
        <p:nvSpPr>
          <p:cNvPr id="16" name="Text 14"/>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Your position LTV</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WHEN THE SPREAD INVERTS</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Three responses, in order of preference</a:t>
            </a:r>
            <a:endParaRPr lang="en-US" sz="3400" dirty="0"/>
          </a:p>
        </p:txBody>
      </p:sp>
      <p:sp>
        <p:nvSpPr>
          <p:cNvPr id="4" name="Shape 2"/>
          <p:cNvSpPr/>
          <p:nvPr/>
        </p:nvSpPr>
        <p:spPr>
          <a:xfrm>
            <a:off x="685800" y="1929384"/>
            <a:ext cx="420624" cy="420624"/>
          </a:xfrm>
          <a:prstGeom prst="ellipse">
            <a:avLst/>
          </a:prstGeom>
          <a:solidFill>
            <a:srgbClr val="25774F"/>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Repay part of the loan</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Reduces the loan, reduces the LTV, ends the negative carry. Best answer almost always — and the one people resist because it feels like retreating.</a:t>
            </a:r>
            <a:endParaRPr lang="en-US" sz="1350" dirty="0"/>
          </a:p>
        </p:txBody>
      </p:sp>
      <p:sp>
        <p:nvSpPr>
          <p:cNvPr id="8" name="Shape 6"/>
          <p:cNvSpPr/>
          <p:nvPr/>
        </p:nvSpPr>
        <p:spPr>
          <a:xfrm>
            <a:off x="685800" y="3407664"/>
            <a:ext cx="420624" cy="420624"/>
          </a:xfrm>
          <a:prstGeom prst="ellipse">
            <a:avLst/>
          </a:prstGeom>
          <a:solidFill>
            <a:srgbClr val="C08829"/>
          </a:solidFill>
          <a:ln/>
        </p:spPr>
      </p:sp>
      <p:sp>
        <p:nvSpPr>
          <p:cNvPr id="9" name="Text 7"/>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Move carry capital to dry powder</a:t>
            </a:r>
            <a:endParaRPr lang="en-US" sz="1700" dirty="0"/>
          </a:p>
        </p:txBody>
      </p:sp>
      <p:sp>
        <p:nvSpPr>
          <p:cNvPr id="11" name="Text 9"/>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Stops the bleed, keeps the optionality if you think the inversion is temporary.</a:t>
            </a:r>
            <a:endParaRPr lang="en-US" sz="1350" dirty="0"/>
          </a:p>
        </p:txBody>
      </p:sp>
      <p:sp>
        <p:nvSpPr>
          <p:cNvPr id="12" name="Shape 10"/>
          <p:cNvSpPr/>
          <p:nvPr/>
        </p:nvSpPr>
        <p:spPr>
          <a:xfrm>
            <a:off x="685800" y="4885944"/>
            <a:ext cx="420624" cy="420624"/>
          </a:xfrm>
          <a:prstGeom prst="ellipse">
            <a:avLst/>
          </a:prstGeom>
          <a:solidFill>
            <a:srgbClr val="B4720F"/>
          </a:solidFill>
          <a:ln/>
        </p:spPr>
      </p:sp>
      <p:sp>
        <p:nvSpPr>
          <p:cNvPr id="13" name="Text 11"/>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Do nothing, for a stated period</a:t>
            </a:r>
            <a:endParaRPr lang="en-US" sz="1700" dirty="0"/>
          </a:p>
        </p:txBody>
      </p:sp>
      <p:sp>
        <p:nvSpPr>
          <p:cNvPr id="15" name="Text 13"/>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Only legitimate if you write down how long and what you will do at the end. “I will wait and see” is not a plan; “I will review in 30 days and repay if still negative” is.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HONEST ARITHMETIC</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What the carry actually earns</a:t>
            </a:r>
            <a:endParaRPr lang="en-US" sz="3400" dirty="0"/>
          </a:p>
        </p:txBody>
      </p:sp>
      <p:sp>
        <p:nvSpPr>
          <p:cNvPr id="4" name="Shape 2"/>
          <p:cNvSpPr/>
          <p:nvPr/>
        </p:nvSpPr>
        <p:spPr>
          <a:xfrm>
            <a:off x="685800" y="1965960"/>
            <a:ext cx="3352800" cy="2377440"/>
          </a:xfrm>
          <a:prstGeom prst="roundRect">
            <a:avLst>
              <a:gd name="adj" fmla="val 3077"/>
            </a:avLst>
          </a:prstGeom>
          <a:solidFill>
            <a:srgbClr val="EEF1F8"/>
          </a:solidFill>
          <a:ln w="9525">
            <a:solidFill>
              <a:srgbClr val="D8DDEA"/>
            </a:solidFill>
            <a:prstDash val="solid"/>
          </a:ln>
        </p:spPr>
      </p:sp>
      <p:sp>
        <p:nvSpPr>
          <p:cNvPr id="5" name="Text 3"/>
          <p:cNvSpPr txBox="1"/>
          <p:nvPr/>
        </p:nvSpPr>
        <p:spPr>
          <a:xfrm>
            <a:off x="86868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$30</a:t>
            </a:r>
            <a:endParaRPr lang="en-US" sz="4600" dirty="0"/>
          </a:p>
        </p:txBody>
      </p:sp>
      <p:sp>
        <p:nvSpPr>
          <p:cNvPr id="6" name="Text 4"/>
          <p:cNvSpPr txBox="1"/>
          <p:nvPr/>
        </p:nvSpPr>
        <p:spPr>
          <a:xfrm>
            <a:off x="86868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borrowed</a:t>
            </a:r>
            <a:endParaRPr lang="en-US" sz="1300" dirty="0"/>
          </a:p>
        </p:txBody>
      </p:sp>
      <p:sp>
        <p:nvSpPr>
          <p:cNvPr id="7" name="Shape 5"/>
          <p:cNvSpPr/>
          <p:nvPr/>
        </p:nvSpPr>
        <p:spPr>
          <a:xfrm>
            <a:off x="4404360" y="1965960"/>
            <a:ext cx="3352800" cy="2377440"/>
          </a:xfrm>
          <a:prstGeom prst="roundRect">
            <a:avLst>
              <a:gd name="adj" fmla="val 3077"/>
            </a:avLst>
          </a:prstGeom>
          <a:solidFill>
            <a:srgbClr val="EEF1F8"/>
          </a:solidFill>
          <a:ln w="9525">
            <a:solidFill>
              <a:srgbClr val="D8DDEA"/>
            </a:solidFill>
            <a:prstDash val="solid"/>
          </a:ln>
        </p:spPr>
      </p:sp>
      <p:sp>
        <p:nvSpPr>
          <p:cNvPr id="8" name="Text 6"/>
          <p:cNvSpPr txBox="1"/>
          <p:nvPr/>
        </p:nvSpPr>
        <p:spPr>
          <a:xfrm>
            <a:off x="4587240" y="2267712"/>
            <a:ext cx="2987040" cy="1051560"/>
          </a:xfrm>
          <a:prstGeom prst="rect">
            <a:avLst/>
          </a:prstGeom>
          <a:noFill/>
          <a:ln/>
        </p:spPr>
        <p:txBody>
          <a:bodyPr wrap="square" lIns="0" tIns="0" rIns="0" bIns="0" rtlCol="0" anchor="ctr"/>
          <a:lstStyle/>
          <a:p>
            <a:pPr algn="ctr" indent="0" marL="0">
              <a:buNone/>
            </a:pPr>
            <a:r>
              <a:rPr lang="en-US" sz="4600" b="1" dirty="0">
                <a:solidFill>
                  <a:srgbClr val="1A2340"/>
                </a:solidFill>
                <a:latin typeface="Cambria" pitchFamily="34" charset="0"/>
                <a:ea typeface="Cambria" pitchFamily="34" charset="-122"/>
                <a:cs typeface="Cambria" pitchFamily="34" charset="-120"/>
              </a:rPr>
              <a:t>2%</a:t>
            </a:r>
            <a:endParaRPr lang="en-US" sz="4600" dirty="0"/>
          </a:p>
        </p:txBody>
      </p:sp>
      <p:sp>
        <p:nvSpPr>
          <p:cNvPr id="9" name="Text 7"/>
          <p:cNvSpPr txBox="1"/>
          <p:nvPr/>
        </p:nvSpPr>
        <p:spPr>
          <a:xfrm>
            <a:off x="458724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spread</a:t>
            </a:r>
            <a:endParaRPr lang="en-US" sz="1300" dirty="0"/>
          </a:p>
        </p:txBody>
      </p:sp>
      <p:sp>
        <p:nvSpPr>
          <p:cNvPr id="10" name="Shape 8"/>
          <p:cNvSpPr/>
          <p:nvPr/>
        </p:nvSpPr>
        <p:spPr>
          <a:xfrm>
            <a:off x="8122920" y="1965960"/>
            <a:ext cx="3352800" cy="2377440"/>
          </a:xfrm>
          <a:prstGeom prst="roundRect">
            <a:avLst>
              <a:gd name="adj" fmla="val 3077"/>
            </a:avLst>
          </a:prstGeom>
          <a:solidFill>
            <a:srgbClr val="EEF1F8"/>
          </a:solidFill>
          <a:ln w="9525">
            <a:solidFill>
              <a:srgbClr val="D8DDEA"/>
            </a:solidFill>
            <a:prstDash val="solid"/>
          </a:ln>
        </p:spPr>
      </p:sp>
      <p:sp>
        <p:nvSpPr>
          <p:cNvPr id="11" name="Text 9"/>
          <p:cNvSpPr txBox="1"/>
          <p:nvPr/>
        </p:nvSpPr>
        <p:spPr>
          <a:xfrm>
            <a:off x="8305800" y="2267712"/>
            <a:ext cx="2987040" cy="1051560"/>
          </a:xfrm>
          <a:prstGeom prst="rect">
            <a:avLst/>
          </a:prstGeom>
          <a:noFill/>
          <a:ln/>
        </p:spPr>
        <p:txBody>
          <a:bodyPr wrap="square" lIns="0" tIns="0" rIns="0" bIns="0" rtlCol="0" anchor="ctr"/>
          <a:lstStyle/>
          <a:p>
            <a:pPr algn="ctr" indent="0" marL="0">
              <a:buNone/>
            </a:pPr>
            <a:r>
              <a:rPr lang="en-US" sz="4600" b="1" dirty="0">
                <a:solidFill>
                  <a:srgbClr val="B4720F"/>
                </a:solidFill>
                <a:latin typeface="Cambria" pitchFamily="34" charset="0"/>
                <a:ea typeface="Cambria" pitchFamily="34" charset="-122"/>
                <a:cs typeface="Cambria" pitchFamily="34" charset="-120"/>
              </a:rPr>
              <a:t>60¢</a:t>
            </a:r>
            <a:endParaRPr lang="en-US" sz="4600" dirty="0"/>
          </a:p>
        </p:txBody>
      </p:sp>
      <p:sp>
        <p:nvSpPr>
          <p:cNvPr id="12" name="Text 10"/>
          <p:cNvSpPr txBox="1"/>
          <p:nvPr/>
        </p:nvSpPr>
        <p:spPr>
          <a:xfrm>
            <a:off x="8305800" y="3364992"/>
            <a:ext cx="2987040" cy="822960"/>
          </a:xfrm>
          <a:prstGeom prst="rect">
            <a:avLst/>
          </a:prstGeom>
          <a:noFill/>
          <a:ln/>
        </p:spPr>
        <p:txBody>
          <a:bodyPr wrap="square" lIns="0" tIns="0" rIns="0" bIns="0" rtlCol="0" anchor="ctr"/>
          <a:lstStyle/>
          <a:p>
            <a:pPr algn="ctr" indent="0" marL="0">
              <a:lnSpc>
                <a:spcPts val="1800"/>
              </a:lnSpc>
              <a:buNone/>
            </a:pPr>
            <a:r>
              <a:rPr lang="en-US" sz="1300" dirty="0">
                <a:solidFill>
                  <a:srgbClr val="5B6480"/>
                </a:solidFill>
                <a:latin typeface="Calibri" pitchFamily="34" charset="0"/>
                <a:ea typeface="Calibri" pitchFamily="34" charset="-122"/>
                <a:cs typeface="Calibri" pitchFamily="34" charset="-120"/>
              </a:rPr>
              <a:t>per year</a:t>
            </a:r>
            <a:endParaRPr lang="en-US" sz="1300" dirty="0"/>
          </a:p>
        </p:txBody>
      </p:sp>
      <p:sp>
        <p:nvSpPr>
          <p:cNvPr id="13" name="Text 11"/>
          <p:cNvSpPr txBox="1"/>
          <p:nvPr/>
        </p:nvSpPr>
        <p:spPr>
          <a:xfrm>
            <a:off x="685800" y="4709160"/>
            <a:ext cx="10607040" cy="1188720"/>
          </a:xfrm>
          <a:prstGeom prst="rect">
            <a:avLst/>
          </a:prstGeom>
          <a:noFill/>
          <a:ln/>
        </p:spPr>
        <p:txBody>
          <a:bodyPr wrap="square" lIns="0" tIns="0" rIns="0" bIns="0" rtlCol="0" anchor="ctr"/>
          <a:lstStyle/>
          <a:p>
            <a:pPr indent="0" marL="0">
              <a:lnSpc>
                <a:spcPts val="2300"/>
              </a:lnSpc>
              <a:buNone/>
            </a:pPr>
            <a:r>
              <a:rPr lang="en-US" sz="1500" dirty="0">
                <a:solidFill>
                  <a:srgbClr val="1A2340"/>
                </a:solidFill>
                <a:latin typeface="Calibri" pitchFamily="34" charset="0"/>
                <a:ea typeface="Calibri" pitchFamily="34" charset="-122"/>
                <a:cs typeface="Calibri" pitchFamily="34" charset="-120"/>
              </a:rPr>
              <a:t>Sixty centavos. That is not the return. The carry pays for transaction costs and a bit of the interest — it is a rounding error against the asset. What makes this worth doing is the Bitcoin you accumulated without selling any of it, and without adding capital you did not have.</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CADENCE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Four rhythms, increasing depth</a:t>
            </a:r>
            <a:endParaRPr lang="en-US" sz="3400" dirty="0"/>
          </a:p>
        </p:txBody>
      </p:sp>
      <p:sp>
        <p:nvSpPr>
          <p:cNvPr id="4" name="Shape 2"/>
          <p:cNvSpPr/>
          <p:nvPr/>
        </p:nvSpPr>
        <p:spPr>
          <a:xfrm>
            <a:off x="685800" y="1929384"/>
            <a:ext cx="420624" cy="420624"/>
          </a:xfrm>
          <a:prstGeom prst="ellipse">
            <a:avLst/>
          </a:prstGeom>
          <a:solidFill>
            <a:srgbClr val="25774F"/>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Daily · 30 seconds</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Look at LTV. Do not open the chart. If no alarm has fired, close the app.</a:t>
            </a:r>
            <a:endParaRPr lang="en-US" sz="1350" dirty="0"/>
          </a:p>
        </p:txBody>
      </p:sp>
      <p:sp>
        <p:nvSpPr>
          <p:cNvPr id="8" name="Shape 6"/>
          <p:cNvSpPr/>
          <p:nvPr/>
        </p:nvSpPr>
        <p:spPr>
          <a:xfrm>
            <a:off x="685800" y="3038094"/>
            <a:ext cx="420624" cy="420624"/>
          </a:xfrm>
          <a:prstGeom prst="ellipse">
            <a:avLst/>
          </a:prstGeom>
          <a:solidFill>
            <a:srgbClr val="C08829"/>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Monthly · 15 minutes</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four numbers. Log them.</a:t>
            </a:r>
            <a:endParaRPr lang="en-US" sz="1350" dirty="0"/>
          </a:p>
        </p:txBody>
      </p:sp>
      <p:sp>
        <p:nvSpPr>
          <p:cNvPr id="12" name="Shape 10"/>
          <p:cNvSpPr/>
          <p:nvPr/>
        </p:nvSpPr>
        <p:spPr>
          <a:xfrm>
            <a:off x="685800" y="4146804"/>
            <a:ext cx="420624" cy="420624"/>
          </a:xfrm>
          <a:prstGeom prst="ellipse">
            <a:avLst/>
          </a:prstGeom>
          <a:solidFill>
            <a:srgbClr val="B4720F"/>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Quarterly · 1 hour</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Re-plot Fib · rebalance buckets · recompute alarms · confirm reserve is still 1:1 — it drifts as the position grows and nobody notices.</a:t>
            </a:r>
            <a:endParaRPr lang="en-US" sz="1350" dirty="0"/>
          </a:p>
        </p:txBody>
      </p:sp>
      <p:sp>
        <p:nvSpPr>
          <p:cNvPr id="16" name="Shape 14"/>
          <p:cNvSpPr/>
          <p:nvPr/>
        </p:nvSpPr>
        <p:spPr>
          <a:xfrm>
            <a:off x="685800" y="5255514"/>
            <a:ext cx="420624" cy="420624"/>
          </a:xfrm>
          <a:prstGeom prst="ellipse">
            <a:avLst/>
          </a:prstGeom>
          <a:solidFill>
            <a:srgbClr val="C08829"/>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Annually · half a day</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Re-run the whole plan. Position sizing, estate check, tax position.</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25774F"/>
                </a:solidFill>
                <a:latin typeface="Calibri" pitchFamily="34" charset="0"/>
                <a:ea typeface="Calibri" pitchFamily="34" charset="-122"/>
                <a:cs typeface="Calibri" pitchFamily="34" charset="-120"/>
              </a:rPr>
              <a:t>WHY THE DAILY CHECK IS DELIBERATELY BORING</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1A2340"/>
                </a:solidFill>
                <a:latin typeface="Cambria" pitchFamily="34" charset="0"/>
                <a:ea typeface="Cambria" pitchFamily="34" charset="-122"/>
                <a:cs typeface="Cambria" pitchFamily="34" charset="-120"/>
              </a:rPr>
              <a:t>Look at the number. Close the app.</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5B6480"/>
                </a:solidFill>
                <a:latin typeface="Calibri" pitchFamily="34" charset="0"/>
                <a:ea typeface="Calibri" pitchFamily="34" charset="-122"/>
                <a:cs typeface="Calibri" pitchFamily="34" charset="-120"/>
              </a:rPr>
              <a:t>The failure mode of this strategy is not neglect — it is over-engagement. People who watch the chart all day start managing the position, and managing a position you were supposed to hold is how you end up with less Bitcoin than you started with.</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THE LOG</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One line a month</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Date · price · LTV · borrow rate · earn rate · spread · action taken</a:t>
            </a:r>
            <a:endParaRPr lang="en-US" sz="1700" dirty="0"/>
          </a:p>
        </p:txBody>
      </p:sp>
      <p:sp>
        <p:nvSpPr>
          <p:cNvPr id="7" name="Shape 5"/>
          <p:cNvSpPr/>
          <p:nvPr/>
        </p:nvSpPr>
        <p:spPr>
          <a:xfrm>
            <a:off x="685800" y="3407664"/>
            <a:ext cx="420624" cy="420624"/>
          </a:xfrm>
          <a:prstGeom prst="ellipse">
            <a:avLst/>
          </a:prstGeom>
          <a:solidFill>
            <a:srgbClr val="25774F"/>
          </a:solidFill>
          <a:ln/>
        </p:spPr>
      </p:sp>
      <p:sp>
        <p:nvSpPr>
          <p:cNvPr id="8" name="Text 6"/>
          <p:cNvSpPr txBox="1"/>
          <p:nvPr/>
        </p:nvSpPr>
        <p:spPr>
          <a:xfrm>
            <a:off x="685800" y="3407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txBox="1"/>
          <p:nvPr/>
        </p:nvSpPr>
        <p:spPr>
          <a:xfrm>
            <a:off x="1399032" y="335280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Reason one — your nerve</a:t>
            </a:r>
            <a:endParaRPr lang="en-US" sz="1700" dirty="0"/>
          </a:p>
        </p:txBody>
      </p:sp>
      <p:sp>
        <p:nvSpPr>
          <p:cNvPr id="10" name="Text 8"/>
          <p:cNvSpPr txBox="1"/>
          <p:nvPr/>
        </p:nvSpPr>
        <p:spPr>
          <a:xfrm>
            <a:off x="1399032" y="371856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In a drawdown you can see you have been here before. That is worth more than any reassurance a coach can give you.</a:t>
            </a:r>
            <a:endParaRPr lang="en-US" sz="1350" dirty="0"/>
          </a:p>
        </p:txBody>
      </p:sp>
      <p:sp>
        <p:nvSpPr>
          <p:cNvPr id="11" name="Shape 9"/>
          <p:cNvSpPr/>
          <p:nvPr/>
        </p:nvSpPr>
        <p:spPr>
          <a:xfrm>
            <a:off x="685800" y="4885944"/>
            <a:ext cx="420624" cy="420624"/>
          </a:xfrm>
          <a:prstGeom prst="ellipse">
            <a:avLst/>
          </a:prstGeom>
          <a:solidFill>
            <a:srgbClr val="B4720F"/>
          </a:solidFill>
          <a:ln/>
        </p:spPr>
      </p:sp>
      <p:sp>
        <p:nvSpPr>
          <p:cNvPr id="12" name="Text 10"/>
          <p:cNvSpPr txBox="1"/>
          <p:nvPr/>
        </p:nvSpPr>
        <p:spPr>
          <a:xfrm>
            <a:off x="685800" y="4885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3" name="Text 11"/>
          <p:cNvSpPr txBox="1"/>
          <p:nvPr/>
        </p:nvSpPr>
        <p:spPr>
          <a:xfrm>
            <a:off x="1399032" y="483108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Reason two — the BIR</a:t>
            </a:r>
            <a:endParaRPr lang="en-US" sz="1700" dirty="0"/>
          </a:p>
        </p:txBody>
      </p:sp>
      <p:sp>
        <p:nvSpPr>
          <p:cNvPr id="14" name="Text 12"/>
          <p:cNvSpPr txBox="1"/>
          <p:nvPr/>
        </p:nvSpPr>
        <p:spPr>
          <a:xfrm>
            <a:off x="1399032" y="519684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They do not accept “I think I bought around then”. Your tax position is yours, and a log is what makes it answerable.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SIZING AS YOU GROW</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2700" b="1" dirty="0">
                <a:solidFill>
                  <a:srgbClr val="1A2340"/>
                </a:solidFill>
                <a:latin typeface="Cambria" pitchFamily="34" charset="0"/>
                <a:ea typeface="Cambria" pitchFamily="34" charset="-122"/>
                <a:cs typeface="Cambria" pitchFamily="34" charset="-120"/>
              </a:rPr>
              <a:t>The rules stay the same. The pesos get big enough to frighten you.</a:t>
            </a:r>
            <a:endParaRPr lang="en-US" sz="2700" dirty="0"/>
          </a:p>
        </p:txBody>
      </p:sp>
      <p:sp>
        <p:nvSpPr>
          <p:cNvPr id="4" name="Shape 2"/>
          <p:cNvSpPr/>
          <p:nvPr/>
        </p:nvSpPr>
        <p:spPr>
          <a:xfrm>
            <a:off x="685800" y="1847088"/>
            <a:ext cx="5138928" cy="4160520"/>
          </a:xfrm>
          <a:prstGeom prst="roundRect">
            <a:avLst>
              <a:gd name="adj" fmla="val 1758"/>
            </a:avLst>
          </a:prstGeom>
          <a:solidFill>
            <a:srgbClr val="EEF1F8"/>
          </a:solidFill>
          <a:ln w="9525">
            <a:solidFill>
              <a:srgbClr val="D8DDEA"/>
            </a:solidFill>
            <a:prstDash val="solid"/>
          </a:ln>
        </p:spPr>
      </p:sp>
      <p:sp>
        <p:nvSpPr>
          <p:cNvPr id="5" name="Text 3"/>
          <p:cNvSpPr txBox="1"/>
          <p:nvPr/>
        </p:nvSpPr>
        <p:spPr>
          <a:xfrm>
            <a:off x="1069848" y="2157984"/>
            <a:ext cx="4370832" cy="548640"/>
          </a:xfrm>
          <a:prstGeom prst="rect">
            <a:avLst/>
          </a:prstGeom>
          <a:noFill/>
          <a:ln/>
        </p:spPr>
        <p:txBody>
          <a:bodyPr wrap="square" lIns="0" tIns="0" rIns="0" bIns="0" rtlCol="0" anchor="ctr"/>
          <a:lstStyle/>
          <a:p>
            <a:pPr indent="0" marL="0">
              <a:buNone/>
            </a:pPr>
            <a:r>
              <a:rPr lang="en-US" sz="2100" b="1" dirty="0">
                <a:solidFill>
                  <a:srgbClr val="25774F"/>
                </a:solidFill>
                <a:latin typeface="Cambria" pitchFamily="34" charset="0"/>
                <a:ea typeface="Cambria" pitchFamily="34" charset="-122"/>
                <a:cs typeface="Cambria" pitchFamily="34" charset="-120"/>
              </a:rPr>
              <a:t>What never changes</a:t>
            </a:r>
            <a:endParaRPr lang="en-US" sz="2100" dirty="0"/>
          </a:p>
        </p:txBody>
      </p:sp>
      <p:sp>
        <p:nvSpPr>
          <p:cNvPr id="6" name="Text 4"/>
          <p:cNvSpPr txBox="1"/>
          <p:nvPr/>
        </p:nvSpPr>
        <p:spPr>
          <a:xfrm>
            <a:off x="1069848"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30% position LTV at $100 — and at $100,000</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1:1 reserve at both</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60/40 at every size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A ₱50,000 top-up is the same decision as a ₱500 one, with more zeroes</a:t>
            </a:r>
            <a:endParaRPr lang="en-US" sz="1400" dirty="0"/>
          </a:p>
        </p:txBody>
      </p:sp>
      <p:sp>
        <p:nvSpPr>
          <p:cNvPr id="7" name="Shape 5"/>
          <p:cNvSpPr/>
          <p:nvPr/>
        </p:nvSpPr>
        <p:spPr>
          <a:xfrm>
            <a:off x="6336792" y="1847088"/>
            <a:ext cx="5138928" cy="4160520"/>
          </a:xfrm>
          <a:prstGeom prst="roundRect">
            <a:avLst>
              <a:gd name="adj" fmla="val 1758"/>
            </a:avLst>
          </a:prstGeom>
          <a:solidFill>
            <a:srgbClr val="EEF1F8"/>
          </a:solidFill>
          <a:ln w="9525">
            <a:solidFill>
              <a:srgbClr val="D8DDEA"/>
            </a:solidFill>
            <a:prstDash val="solid"/>
          </a:ln>
        </p:spPr>
      </p:sp>
      <p:sp>
        <p:nvSpPr>
          <p:cNvPr id="8" name="Text 6"/>
          <p:cNvSpPr txBox="1"/>
          <p:nvPr/>
        </p:nvSpPr>
        <p:spPr>
          <a:xfrm>
            <a:off x="6720840" y="2157984"/>
            <a:ext cx="4370832" cy="548640"/>
          </a:xfrm>
          <a:prstGeom prst="rect">
            <a:avLst/>
          </a:prstGeom>
          <a:noFill/>
          <a:ln/>
        </p:spPr>
        <p:txBody>
          <a:bodyPr wrap="square" lIns="0" tIns="0" rIns="0" bIns="0" rtlCol="0" anchor="ctr"/>
          <a:lstStyle/>
          <a:p>
            <a:pPr indent="0" marL="0">
              <a:buNone/>
            </a:pPr>
            <a:r>
              <a:rPr lang="en-US" sz="2100" b="1" dirty="0">
                <a:solidFill>
                  <a:srgbClr val="B4720F"/>
                </a:solidFill>
                <a:latin typeface="Cambria" pitchFamily="34" charset="0"/>
                <a:ea typeface="Cambria" pitchFamily="34" charset="-122"/>
                <a:cs typeface="Cambria" pitchFamily="34" charset="-120"/>
              </a:rPr>
              <a:t>What does change</a:t>
            </a:r>
            <a:endParaRPr lang="en-US" sz="2100" dirty="0"/>
          </a:p>
        </p:txBody>
      </p:sp>
      <p:sp>
        <p:nvSpPr>
          <p:cNvPr id="9" name="Text 7"/>
          <p:cNvSpPr txBox="1"/>
          <p:nvPr/>
        </p:nvSpPr>
        <p:spPr>
          <a:xfrm>
            <a:off x="6720840" y="2798064"/>
            <a:ext cx="4370832" cy="274320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Platform concentration — at $20,000 one platform is a single point of failure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Tax — get an accountant who has actually handled crypto here</a:t>
            </a:r>
            <a:endParaRPr lang="en-US" sz="1400" dirty="0"/>
          </a:p>
          <a:p>
            <a:pPr marL="342900" indent="-342900">
              <a:lnSpc>
                <a:spcPts val="2000"/>
              </a:lnSpc>
              <a:spcAft>
                <a:spcPts val="800"/>
              </a:spcAft>
              <a:buSzPct val="100000"/>
              <a:buChar char="•"/>
            </a:pPr>
            <a:r>
              <a:rPr lang="en-US" sz="1400" dirty="0">
                <a:solidFill>
                  <a:srgbClr val="1A2340"/>
                </a:solidFill>
                <a:latin typeface="Calibri" pitchFamily="34" charset="0"/>
                <a:ea typeface="Calibri" pitchFamily="34" charset="-122"/>
                <a:cs typeface="Calibri" pitchFamily="34" charset="-120"/>
              </a:rPr>
              <a:t>Your own psychology — if the size costs you sleep it is too big, whatever the LTV says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C36"/>
        </a:solidFill>
      </p:bgPr>
    </p:bg>
    <p:spTree>
      <p:nvGrpSpPr>
        <p:cNvPr id="1" name=""/>
        <p:cNvGrpSpPr/>
        <p:nvPr/>
      </p:nvGrpSpPr>
      <p:grpSpPr>
        <a:xfrm>
          <a:off x="0" y="0"/>
          <a:ext cx="0" cy="0"/>
          <a:chOff x="0" y="0"/>
          <a:chExt cx="0" cy="0"/>
        </a:xfrm>
      </p:grpSpPr>
      <p:sp>
        <p:nvSpPr>
          <p:cNvPr id="2" name="Text 0"/>
          <p:cNvSpPr txBox="1"/>
          <p:nvPr/>
        </p:nvSpPr>
        <p:spPr>
          <a:xfrm>
            <a:off x="685800" y="1234440"/>
            <a:ext cx="10789920" cy="237744"/>
          </a:xfrm>
          <a:prstGeom prst="rect">
            <a:avLst/>
          </a:prstGeom>
          <a:noFill/>
          <a:ln/>
        </p:spPr>
        <p:txBody>
          <a:bodyPr wrap="square" lIns="0" tIns="0" rIns="0" bIns="0" rtlCol="0" anchor="ctr"/>
          <a:lstStyle/>
          <a:p>
            <a:pPr indent="0" marL="0">
              <a:buNone/>
            </a:pPr>
            <a:r>
              <a:rPr lang="en-US" sz="1000" b="1" spc="220" kern="0" dirty="0">
                <a:solidFill>
                  <a:srgbClr val="B4720F"/>
                </a:solidFill>
                <a:latin typeface="Calibri" pitchFamily="34" charset="0"/>
                <a:ea typeface="Calibri" pitchFamily="34" charset="-122"/>
                <a:cs typeface="Calibri" pitchFamily="34" charset="-120"/>
              </a:rPr>
              <a:t>AND WHEN TO STOP GROWING</a:t>
            </a:r>
            <a:endParaRPr lang="en-US" sz="1000" dirty="0"/>
          </a:p>
        </p:txBody>
      </p:sp>
      <p:sp>
        <p:nvSpPr>
          <p:cNvPr id="3" name="Text 1"/>
          <p:cNvSpPr txBox="1"/>
          <p:nvPr/>
        </p:nvSpPr>
        <p:spPr>
          <a:xfrm>
            <a:off x="685800" y="1691640"/>
            <a:ext cx="10607040" cy="2651760"/>
          </a:xfrm>
          <a:prstGeom prst="rect">
            <a:avLst/>
          </a:prstGeom>
          <a:noFill/>
          <a:ln/>
        </p:spPr>
        <p:txBody>
          <a:bodyPr wrap="square" lIns="0" tIns="0" rIns="0" bIns="0" rtlCol="0" anchor="ctr"/>
          <a:lstStyle/>
          <a:p>
            <a:pPr indent="0" marL="0">
              <a:lnSpc>
                <a:spcPts val="6000"/>
              </a:lnSpc>
              <a:buNone/>
            </a:pPr>
            <a:r>
              <a:rPr lang="en-US" sz="5000" b="1" dirty="0">
                <a:solidFill>
                  <a:srgbClr val="F2F4FA"/>
                </a:solidFill>
                <a:latin typeface="Cambria" pitchFamily="34" charset="0"/>
                <a:ea typeface="Cambria" pitchFamily="34" charset="-122"/>
                <a:cs typeface="Cambria" pitchFamily="34" charset="-120"/>
              </a:rPr>
              <a:t>Stop when losing it would change your life.</a:t>
            </a:r>
            <a:endParaRPr lang="en-US" sz="5000" dirty="0"/>
          </a:p>
        </p:txBody>
      </p:sp>
      <p:sp>
        <p:nvSpPr>
          <p:cNvPr id="4" name="Text 2"/>
          <p:cNvSpPr txBox="1"/>
          <p:nvPr/>
        </p:nvSpPr>
        <p:spPr>
          <a:xfrm>
            <a:off x="685800" y="4526280"/>
            <a:ext cx="10424160" cy="1920240"/>
          </a:xfrm>
          <a:prstGeom prst="rect">
            <a:avLst/>
          </a:prstGeom>
          <a:noFill/>
          <a:ln/>
        </p:spPr>
        <p:txBody>
          <a:bodyPr wrap="square" lIns="0" tIns="0" rIns="0" bIns="0" rtlCol="0" anchor="ctr"/>
          <a:lstStyle/>
          <a:p>
            <a:pPr indent="0" marL="0">
              <a:lnSpc>
                <a:spcPts val="2400"/>
              </a:lnSpc>
              <a:buNone/>
            </a:pPr>
            <a:r>
              <a:rPr lang="en-US" sz="1650" dirty="0">
                <a:solidFill>
                  <a:srgbClr val="A8B0C8"/>
                </a:solidFill>
                <a:latin typeface="Calibri" pitchFamily="34" charset="0"/>
                <a:ea typeface="Calibri" pitchFamily="34" charset="-122"/>
                <a:cs typeface="Calibri" pitchFamily="34" charset="-120"/>
              </a:rPr>
              <a:t>Not annoy you — change it. That is the line, it is different for everyone, and you should know yours before the market makes you find out. Almost nobody names it.</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ONBOARDING DELIVERABLE · GATE</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Your BBT Operating Plan — one page</a:t>
            </a:r>
            <a:endParaRPr lang="en-US" sz="3400" dirty="0"/>
          </a:p>
        </p:txBody>
      </p:sp>
      <p:sp>
        <p:nvSpPr>
          <p:cNvPr id="4" name="Shape 2"/>
          <p:cNvSpPr/>
          <p:nvPr/>
        </p:nvSpPr>
        <p:spPr>
          <a:xfrm>
            <a:off x="685800" y="1929384"/>
            <a:ext cx="420624" cy="420624"/>
          </a:xfrm>
          <a:prstGeom prst="ellipse">
            <a:avLst/>
          </a:prstGeom>
          <a:solidFill>
            <a:srgbClr val="C08829"/>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Position</a:t>
            </a:r>
            <a:endParaRPr lang="en-US" sz="1700" dirty="0"/>
          </a:p>
        </p:txBody>
      </p:sp>
      <p:sp>
        <p:nvSpPr>
          <p:cNvPr id="7" name="Text 5"/>
          <p:cNvSpPr txBox="1"/>
          <p:nvPr/>
        </p:nvSpPr>
        <p:spPr>
          <a:xfrm>
            <a:off x="1399032" y="2240280"/>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Entry, LTV, liquidation price, reserve, the three buckets.</a:t>
            </a:r>
            <a:endParaRPr lang="en-US" sz="1350" dirty="0"/>
          </a:p>
        </p:txBody>
      </p:sp>
      <p:sp>
        <p:nvSpPr>
          <p:cNvPr id="8" name="Shape 6"/>
          <p:cNvSpPr/>
          <p:nvPr/>
        </p:nvSpPr>
        <p:spPr>
          <a:xfrm>
            <a:off x="685800" y="2816352"/>
            <a:ext cx="420624" cy="420624"/>
          </a:xfrm>
          <a:prstGeom prst="ellipse">
            <a:avLst/>
          </a:prstGeom>
          <a:solidFill>
            <a:srgbClr val="C08829"/>
          </a:solidFill>
          <a:ln/>
        </p:spPr>
      </p:sp>
      <p:sp>
        <p:nvSpPr>
          <p:cNvPr id="9" name="Text 7"/>
          <p:cNvSpPr txBox="1"/>
          <p:nvPr/>
        </p:nvSpPr>
        <p:spPr>
          <a:xfrm>
            <a:off x="685800" y="281635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761488"/>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Alarms</a:t>
            </a:r>
            <a:endParaRPr lang="en-US" sz="1700" dirty="0"/>
          </a:p>
        </p:txBody>
      </p:sp>
      <p:sp>
        <p:nvSpPr>
          <p:cNvPr id="11" name="Text 9"/>
          <p:cNvSpPr txBox="1"/>
          <p:nvPr/>
        </p:nvSpPr>
        <p:spPr>
          <a:xfrm>
            <a:off x="1399032" y="3127248"/>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Four prices.</a:t>
            </a:r>
            <a:endParaRPr lang="en-US" sz="1350" dirty="0"/>
          </a:p>
        </p:txBody>
      </p:sp>
      <p:sp>
        <p:nvSpPr>
          <p:cNvPr id="12" name="Shape 10"/>
          <p:cNvSpPr/>
          <p:nvPr/>
        </p:nvSpPr>
        <p:spPr>
          <a:xfrm>
            <a:off x="685800" y="3703320"/>
            <a:ext cx="420624" cy="420624"/>
          </a:xfrm>
          <a:prstGeom prst="ellipse">
            <a:avLst/>
          </a:prstGeom>
          <a:solidFill>
            <a:srgbClr val="C08829"/>
          </a:solidFill>
          <a:ln/>
        </p:spPr>
      </p:sp>
      <p:sp>
        <p:nvSpPr>
          <p:cNvPr id="13" name="Text 11"/>
          <p:cNvSpPr txBox="1"/>
          <p:nvPr/>
        </p:nvSpPr>
        <p:spPr>
          <a:xfrm>
            <a:off x="685800" y="3703320"/>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3648456"/>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Cadence</a:t>
            </a:r>
            <a:endParaRPr lang="en-US" sz="1700" dirty="0"/>
          </a:p>
        </p:txBody>
      </p:sp>
      <p:sp>
        <p:nvSpPr>
          <p:cNvPr id="15" name="Text 13"/>
          <p:cNvSpPr txBox="1"/>
          <p:nvPr/>
        </p:nvSpPr>
        <p:spPr>
          <a:xfrm>
            <a:off x="1399032" y="4014216"/>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Daily, monthly, quarterly, annual — with dates in a calendar.</a:t>
            </a:r>
            <a:endParaRPr lang="en-US" sz="1350" dirty="0"/>
          </a:p>
        </p:txBody>
      </p:sp>
      <p:sp>
        <p:nvSpPr>
          <p:cNvPr id="16" name="Shape 14"/>
          <p:cNvSpPr/>
          <p:nvPr/>
        </p:nvSpPr>
        <p:spPr>
          <a:xfrm>
            <a:off x="685800" y="4590288"/>
            <a:ext cx="420624" cy="420624"/>
          </a:xfrm>
          <a:prstGeom prst="ellipse">
            <a:avLst/>
          </a:prstGeom>
          <a:solidFill>
            <a:srgbClr val="C08829"/>
          </a:solidFill>
          <a:ln/>
        </p:spPr>
      </p:sp>
      <p:sp>
        <p:nvSpPr>
          <p:cNvPr id="17" name="Text 15"/>
          <p:cNvSpPr txBox="1"/>
          <p:nvPr/>
        </p:nvSpPr>
        <p:spPr>
          <a:xfrm>
            <a:off x="685800" y="459028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4535424"/>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Spread rule</a:t>
            </a:r>
            <a:endParaRPr lang="en-US" sz="1700" dirty="0"/>
          </a:p>
        </p:txBody>
      </p:sp>
      <p:sp>
        <p:nvSpPr>
          <p:cNvPr id="19" name="Text 17"/>
          <p:cNvSpPr txBox="1"/>
          <p:nvPr/>
        </p:nvSpPr>
        <p:spPr>
          <a:xfrm>
            <a:off x="1399032" y="4901184"/>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What you do when it inverts, and within how many days.</a:t>
            </a:r>
            <a:endParaRPr lang="en-US" sz="1350" dirty="0"/>
          </a:p>
        </p:txBody>
      </p:sp>
      <p:sp>
        <p:nvSpPr>
          <p:cNvPr id="20" name="Shape 18"/>
          <p:cNvSpPr/>
          <p:nvPr/>
        </p:nvSpPr>
        <p:spPr>
          <a:xfrm>
            <a:off x="685800" y="5477256"/>
            <a:ext cx="420624" cy="420624"/>
          </a:xfrm>
          <a:prstGeom prst="ellipse">
            <a:avLst/>
          </a:prstGeom>
          <a:solidFill>
            <a:srgbClr val="B4720F"/>
          </a:solidFill>
          <a:ln/>
        </p:spPr>
      </p:sp>
      <p:sp>
        <p:nvSpPr>
          <p:cNvPr id="21" name="Text 19"/>
          <p:cNvSpPr txBox="1"/>
          <p:nvPr/>
        </p:nvSpPr>
        <p:spPr>
          <a:xfrm>
            <a:off x="685800" y="54772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2" name="Text 20"/>
          <p:cNvSpPr txBox="1"/>
          <p:nvPr/>
        </p:nvSpPr>
        <p:spPr>
          <a:xfrm>
            <a:off x="1399032" y="5422392"/>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Growth ceiling and transfer</a:t>
            </a:r>
            <a:endParaRPr lang="en-US" sz="1700" dirty="0"/>
          </a:p>
        </p:txBody>
      </p:sp>
      <p:sp>
        <p:nvSpPr>
          <p:cNvPr id="23" name="Text 21"/>
          <p:cNvSpPr txBox="1"/>
          <p:nvPr/>
        </p:nvSpPr>
        <p:spPr>
          <a:xfrm>
            <a:off x="1399032" y="5788152"/>
            <a:ext cx="9692640" cy="50292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A number, and four checkboxes.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85800" y="502920"/>
            <a:ext cx="10789920" cy="237744"/>
          </a:xfrm>
          <a:prstGeom prst="rect">
            <a:avLst/>
          </a:prstGeom>
          <a:noFill/>
          <a:ln/>
        </p:spPr>
        <p:txBody>
          <a:bodyPr wrap="square" lIns="0" tIns="0" rIns="0" bIns="0" rtlCol="0" anchor="ctr"/>
          <a:lstStyle/>
          <a:p>
            <a:pPr indent="0" marL="0">
              <a:buNone/>
            </a:pPr>
            <a:r>
              <a:rPr lang="en-US" sz="1000" b="1" spc="220" kern="0" dirty="0">
                <a:solidFill>
                  <a:srgbClr val="C08829"/>
                </a:solidFill>
                <a:latin typeface="Calibri" pitchFamily="34" charset="0"/>
                <a:ea typeface="Calibri" pitchFamily="34" charset="-122"/>
                <a:cs typeface="Calibri" pitchFamily="34" charset="-120"/>
              </a:rPr>
              <a:t>AT THE ANNUAL REVIEW</a:t>
            </a:r>
            <a:endParaRPr lang="en-US" sz="1000" dirty="0"/>
          </a:p>
        </p:txBody>
      </p:sp>
      <p:sp>
        <p:nvSpPr>
          <p:cNvPr id="3" name="Text 1"/>
          <p:cNvSpPr txBox="1"/>
          <p:nvPr/>
        </p:nvSpPr>
        <p:spPr>
          <a:xfrm>
            <a:off x="685800" y="822960"/>
            <a:ext cx="10607040" cy="960120"/>
          </a:xfrm>
          <a:prstGeom prst="rect">
            <a:avLst/>
          </a:prstGeom>
          <a:noFill/>
          <a:ln/>
        </p:spPr>
        <p:txBody>
          <a:bodyPr wrap="square" lIns="0" tIns="0" rIns="0" bIns="0" rtlCol="0" anchor="ctr"/>
          <a:lstStyle/>
          <a:p>
            <a:pPr indent="0" marL="0">
              <a:buNone/>
            </a:pPr>
            <a:r>
              <a:rPr lang="en-US" sz="3400" b="1" dirty="0">
                <a:solidFill>
                  <a:srgbClr val="1A2340"/>
                </a:solidFill>
                <a:latin typeface="Cambria" pitchFamily="34" charset="0"/>
                <a:ea typeface="Cambria" pitchFamily="34" charset="-122"/>
                <a:cs typeface="Cambria" pitchFamily="34" charset="-120"/>
              </a:rPr>
              <a:t>The close into the Thrive Circle</a:t>
            </a:r>
            <a:endParaRPr lang="en-US" sz="3400" dirty="0"/>
          </a:p>
        </p:txBody>
      </p:sp>
      <p:sp>
        <p:nvSpPr>
          <p:cNvPr id="4" name="Shape 2"/>
          <p:cNvSpPr/>
          <p:nvPr/>
        </p:nvSpPr>
        <p:spPr>
          <a:xfrm>
            <a:off x="685800" y="1929384"/>
            <a:ext cx="420624" cy="420624"/>
          </a:xfrm>
          <a:prstGeom prst="ellipse">
            <a:avLst/>
          </a:prstGeom>
          <a:solidFill>
            <a:srgbClr val="25774F"/>
          </a:solidFill>
          <a:ln/>
        </p:spPr>
      </p:sp>
      <p:sp>
        <p:nvSpPr>
          <p:cNvPr id="5" name="Text 3"/>
          <p:cNvSpPr txBox="1"/>
          <p:nvPr/>
        </p:nvSpPr>
        <p:spPr>
          <a:xfrm>
            <a:off x="685800" y="1929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txBox="1"/>
          <p:nvPr/>
        </p:nvSpPr>
        <p:spPr>
          <a:xfrm>
            <a:off x="1399032" y="187452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What you can now do</a:t>
            </a:r>
            <a:endParaRPr lang="en-US" sz="1700" dirty="0"/>
          </a:p>
        </p:txBody>
      </p:sp>
      <p:sp>
        <p:nvSpPr>
          <p:cNvPr id="7" name="Text 5"/>
          <p:cNvSpPr txBox="1"/>
          <p:nvPr/>
        </p:nvSpPr>
        <p:spPr>
          <a:xfrm>
            <a:off x="1399032" y="224028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 ran your own playbook for a year, through at least one Alarm 3, with me on the phone. You did not panic and you did not improvise. That is what this whole programme exists to produce.</a:t>
            </a:r>
            <a:endParaRPr lang="en-US" sz="1350" dirty="0"/>
          </a:p>
        </p:txBody>
      </p:sp>
      <p:sp>
        <p:nvSpPr>
          <p:cNvPr id="8" name="Shape 6"/>
          <p:cNvSpPr/>
          <p:nvPr/>
        </p:nvSpPr>
        <p:spPr>
          <a:xfrm>
            <a:off x="685800" y="3038094"/>
            <a:ext cx="420624" cy="420624"/>
          </a:xfrm>
          <a:prstGeom prst="ellipse">
            <a:avLst/>
          </a:prstGeom>
          <a:solidFill>
            <a:srgbClr val="C08829"/>
          </a:solidFill>
          <a:ln/>
        </p:spPr>
      </p:sp>
      <p:sp>
        <p:nvSpPr>
          <p:cNvPr id="9" name="Text 7"/>
          <p:cNvSpPr txBox="1"/>
          <p:nvPr/>
        </p:nvSpPr>
        <p:spPr>
          <a:xfrm>
            <a:off x="685800" y="303809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0" name="Text 8"/>
          <p:cNvSpPr txBox="1"/>
          <p:nvPr/>
        </p:nvSpPr>
        <p:spPr>
          <a:xfrm>
            <a:off x="1399032" y="298323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gap — nothing about your discipline</a:t>
            </a:r>
            <a:endParaRPr lang="en-US" sz="1700" dirty="0"/>
          </a:p>
        </p:txBody>
      </p:sp>
      <p:sp>
        <p:nvSpPr>
          <p:cNvPr id="11" name="Text 9"/>
          <p:cNvSpPr txBox="1"/>
          <p:nvPr/>
        </p:nvSpPr>
        <p:spPr>
          <a:xfrm>
            <a:off x="1399032" y="334899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The ground moves. Rates change. Your levels are from a swing that has since completed. The seven-year table now has an eighth year in it. A playbook is current the day you write it and slowly stops being true.</a:t>
            </a:r>
            <a:endParaRPr lang="en-US" sz="1350" dirty="0"/>
          </a:p>
        </p:txBody>
      </p:sp>
      <p:sp>
        <p:nvSpPr>
          <p:cNvPr id="12" name="Shape 10"/>
          <p:cNvSpPr/>
          <p:nvPr/>
        </p:nvSpPr>
        <p:spPr>
          <a:xfrm>
            <a:off x="685800" y="4146804"/>
            <a:ext cx="420624" cy="420624"/>
          </a:xfrm>
          <a:prstGeom prst="ellipse">
            <a:avLst/>
          </a:prstGeom>
          <a:solidFill>
            <a:srgbClr val="C08829"/>
          </a:solidFill>
          <a:ln/>
        </p:spPr>
      </p:sp>
      <p:sp>
        <p:nvSpPr>
          <p:cNvPr id="13" name="Text 11"/>
          <p:cNvSpPr txBox="1"/>
          <p:nvPr/>
        </p:nvSpPr>
        <p:spPr>
          <a:xfrm>
            <a:off x="685800" y="41468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399032" y="409194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The Circle · USD 1,999/yr</a:t>
            </a:r>
            <a:endParaRPr lang="en-US" sz="1700" dirty="0"/>
          </a:p>
        </p:txBody>
      </p:sp>
      <p:sp>
        <p:nvSpPr>
          <p:cNvPr id="15" name="Text 13"/>
          <p:cNvSpPr txBox="1"/>
          <p:nvPr/>
        </p:nvSpPr>
        <p:spPr>
          <a:xfrm>
            <a:off x="1399032" y="445770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Your first year came with Level 4, so this is a renewal, not a new purchase.</a:t>
            </a:r>
            <a:endParaRPr lang="en-US" sz="1350" dirty="0"/>
          </a:p>
        </p:txBody>
      </p:sp>
      <p:sp>
        <p:nvSpPr>
          <p:cNvPr id="16" name="Shape 14"/>
          <p:cNvSpPr/>
          <p:nvPr/>
        </p:nvSpPr>
        <p:spPr>
          <a:xfrm>
            <a:off x="685800" y="5255514"/>
            <a:ext cx="420624" cy="420624"/>
          </a:xfrm>
          <a:prstGeom prst="ellipse">
            <a:avLst/>
          </a:prstGeom>
          <a:solidFill>
            <a:srgbClr val="A82F26"/>
          </a:solidFill>
          <a:ln/>
        </p:spPr>
      </p:sp>
      <p:sp>
        <p:nvSpPr>
          <p:cNvPr id="17" name="Text 15"/>
          <p:cNvSpPr txBox="1"/>
          <p:nvPr/>
        </p:nvSpPr>
        <p:spPr>
          <a:xfrm>
            <a:off x="685800" y="525551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8" name="Text 16"/>
          <p:cNvSpPr txBox="1"/>
          <p:nvPr/>
        </p:nvSpPr>
        <p:spPr>
          <a:xfrm>
            <a:off x="1399032" y="5200650"/>
            <a:ext cx="9692640" cy="365760"/>
          </a:xfrm>
          <a:prstGeom prst="rect">
            <a:avLst/>
          </a:prstGeom>
          <a:noFill/>
          <a:ln/>
        </p:spPr>
        <p:txBody>
          <a:bodyPr wrap="square" lIns="0" tIns="0" rIns="0" bIns="0" rtlCol="0" anchor="ctr"/>
          <a:lstStyle/>
          <a:p>
            <a:pPr indent="0" marL="0">
              <a:buNone/>
            </a:pPr>
            <a:r>
              <a:rPr lang="en-US" sz="1700" b="1" dirty="0">
                <a:solidFill>
                  <a:srgbClr val="1A2340"/>
                </a:solidFill>
                <a:latin typeface="Calibri" pitchFamily="34" charset="0"/>
                <a:ea typeface="Calibri" pitchFamily="34" charset="-122"/>
                <a:cs typeface="Calibri" pitchFamily="34" charset="-120"/>
              </a:rPr>
              <a:t>Who should not renew</a:t>
            </a:r>
            <a:endParaRPr lang="en-US" sz="1700" dirty="0"/>
          </a:p>
        </p:txBody>
      </p:sp>
      <p:sp>
        <p:nvSpPr>
          <p:cNvPr id="19" name="Text 17"/>
          <p:cNvSpPr txBox="1"/>
          <p:nvPr/>
        </p:nvSpPr>
        <p:spPr>
          <a:xfrm>
            <a:off x="1399032" y="5566410"/>
            <a:ext cx="9692640" cy="640080"/>
          </a:xfrm>
          <a:prstGeom prst="rect">
            <a:avLst/>
          </a:prstGeom>
          <a:noFill/>
          <a:ln/>
        </p:spPr>
        <p:txBody>
          <a:bodyPr wrap="square" lIns="0" tIns="0" rIns="0" bIns="0" rtlCol="0" anchor="ctr"/>
          <a:lstStyle/>
          <a:p>
            <a:pPr indent="0" marL="0">
              <a:lnSpc>
                <a:spcPts val="1800"/>
              </a:lnSpc>
              <a:buNone/>
            </a:pPr>
            <a:r>
              <a:rPr lang="en-US" sz="1350" dirty="0">
                <a:solidFill>
                  <a:srgbClr val="5B6480"/>
                </a:solidFill>
                <a:latin typeface="Calibri" pitchFamily="34" charset="0"/>
                <a:ea typeface="Calibri" pitchFamily="34" charset="-122"/>
                <a:cs typeface="Calibri" pitchFamily="34" charset="-120"/>
              </a:rPr>
              <a:t>If you have not logged your four numbers in six months, do not. You are not using what you have and paying for more will not fix that. Nobody will chase you, and it does not auto-renew.</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Buy Borrow Thrive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BBT Level 4 — Done-With-You Mentorship</dc:title>
  <dc:subject>Onboarding and the annual cadence</dc:subject>
  <dc:creator>Thrive Blueprint Education Corp.</dc:creator>
  <cp:lastModifiedBy>Thrive Blueprint Education Corp.</cp:lastModifiedBy>
  <cp:revision>1</cp:revision>
  <dcterms:created xsi:type="dcterms:W3CDTF">2026-09-03T07:52:15Z</dcterms:created>
  <dcterms:modified xsi:type="dcterms:W3CDTF">2026-09-03T07:52:15Z</dcterms:modified>
</cp:coreProperties>
</file>