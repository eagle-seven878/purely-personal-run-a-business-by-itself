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curriculum, two delivery modes. Modules 1–6 run in both; 7–8 are Immersion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12 min. Not because weekly is more accurate — it is not. Because our strategy holds for years, and a chart that tempts you daily will eventually win. Ask: how many times last month did you check a price and then do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10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 8 min. Enormous difference, and the one most people never make. Have them write 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15 min. Everyone plots the same swing. Coaches check every one before moving on. Face to face: on the wall first, then their own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15 min. Connects forward to Module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15 min. Anyone selling you exact levels is selling certainty, and we do not have any. This slide prevents a lot of support burden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11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 12 min. Re-plotting lives in the quarterly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D2, 10 min. Must read as a warning, never a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D3, 8 min. GATE — coaches sign every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Pre-flight gate must be closed BEFORE this room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Do NOT take a show of hands — check. This one rule is the difference between a 40-minute session and a three-hour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 Binance does about a hundred things. We use four. If you find yourself somewhere I have not taken you,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9 min. Leave this on screen through the whole demo AND through Phase A. Have every participant read it back before Block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This is the irreversible mistake. Be blunt.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10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The core. Do not compress to make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 6 min. Callback to Level 1’s bank walk.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E2, 6 min. Read the live max LTV aloud, then say this immediately. Never show the max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E3, 8 min. Move the slider live and let the room watch the liquidation price climb toward today’s price as LTV 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E4, 5 min. The platform prints this for you — but they must be able to derive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G3, 4 min. GATE. Paper, not a screenshot — they will want it in their hand on a bad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8, 45 min. Then re-demonstrate whichever step generated the most coach interventions. Always re-demonstrate something — “everyone was perfect” means the coaches were not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H3/I1. GATE. Photograph the card, keep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I2. The do-nots are the ones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37160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LEVEL 2 · DEEP DIVE  ·  LEVEL 3 · IMMERSION</a:t>
            </a:r>
            <a:endParaRPr lang="en-US" sz="1000" dirty="0"/>
          </a:p>
        </p:txBody>
      </p:sp>
      <p:sp>
        <p:nvSpPr>
          <p:cNvPr id="3" name="Text 1"/>
          <p:cNvSpPr txBox="1"/>
          <p:nvPr/>
        </p:nvSpPr>
        <p:spPr>
          <a:xfrm>
            <a:off x="685800" y="1783080"/>
            <a:ext cx="9692640" cy="1078992"/>
          </a:xfrm>
          <a:prstGeom prst="rect">
            <a:avLst/>
          </a:prstGeom>
          <a:noFill/>
          <a:ln/>
        </p:spPr>
        <p:txBody>
          <a:bodyPr wrap="square" lIns="0" tIns="0" rIns="0" bIns="0" rtlCol="0" anchor="ctr"/>
          <a:lstStyle/>
          <a:p>
            <a:pPr indent="0" marL="0">
              <a:lnSpc>
                <a:spcPts val="5800"/>
              </a:lnSpc>
              <a:buNone/>
            </a:pPr>
            <a:r>
              <a:rPr lang="en-US" sz="5400" b="1" dirty="0">
                <a:solidFill>
                  <a:srgbClr val="F2F4FA"/>
                </a:solidFill>
                <a:latin typeface="Cambria" pitchFamily="34" charset="0"/>
                <a:ea typeface="Cambria" pitchFamily="34" charset="-122"/>
                <a:cs typeface="Cambria" pitchFamily="34" charset="-120"/>
              </a:rPr>
              <a:t>Modules 1–3</a:t>
            </a:r>
            <a:endParaRPr lang="en-US" sz="5400" dirty="0"/>
          </a:p>
        </p:txBody>
      </p:sp>
      <p:sp>
        <p:nvSpPr>
          <p:cNvPr id="4" name="Text 2"/>
          <p:cNvSpPr txBox="1"/>
          <p:nvPr/>
        </p:nvSpPr>
        <p:spPr>
          <a:xfrm>
            <a:off x="685800" y="3063240"/>
            <a:ext cx="8595360" cy="868680"/>
          </a:xfrm>
          <a:prstGeom prst="rect">
            <a:avLst/>
          </a:prstGeom>
          <a:noFill/>
          <a:ln/>
        </p:spPr>
        <p:txBody>
          <a:bodyPr wrap="square" lIns="0" tIns="0" rIns="0" bIns="0" rtlCol="0" anchor="ctr"/>
          <a:lstStyle/>
          <a:p>
            <a:pPr indent="0" marL="0">
              <a:lnSpc>
                <a:spcPts val="2600"/>
              </a:lnSpc>
              <a:buNone/>
            </a:pPr>
            <a:r>
              <a:rPr lang="en-US" sz="1800" dirty="0">
                <a:solidFill>
                  <a:srgbClr val="A8B0C8"/>
                </a:solidFill>
                <a:latin typeface="Calibri" pitchFamily="34" charset="0"/>
                <a:ea typeface="Calibri" pitchFamily="34" charset="-122"/>
                <a:cs typeface="Calibri" pitchFamily="34" charset="-120"/>
              </a:rPr>
              <a:t>Chart structure and levels · the platform · your first live position.</a:t>
            </a:r>
            <a:endParaRPr lang="en-US" sz="1800" dirty="0"/>
          </a:p>
        </p:txBody>
      </p:sp>
      <p:sp>
        <p:nvSpPr>
          <p:cNvPr id="5" name="Text 3"/>
          <p:cNvSpPr txBox="1"/>
          <p:nvPr/>
        </p:nvSpPr>
        <p:spPr>
          <a:xfrm>
            <a:off x="685800" y="5806440"/>
            <a:ext cx="10789920" cy="365760"/>
          </a:xfrm>
          <a:prstGeom prst="rect">
            <a:avLst/>
          </a:prstGeom>
          <a:noFill/>
          <a:ln/>
        </p:spPr>
        <p:txBody>
          <a:bodyPr wrap="square" lIns="0" tIns="0" rIns="0" bIns="0" rtlCol="0" anchor="ctr"/>
          <a:lstStyle/>
          <a:p>
            <a:pPr indent="0" marL="0">
              <a:buNone/>
            </a:pPr>
            <a:r>
              <a:rPr lang="en-US" sz="1200" dirty="0">
                <a:solidFill>
                  <a:srgbClr val="A8B0C8"/>
                </a:solidFill>
                <a:latin typeface="Calibri" pitchFamily="34" charset="0"/>
                <a:ea typeface="Calibri" pitchFamily="34" charset="-122"/>
                <a:cs typeface="Calibri" pitchFamily="34" charset="-120"/>
              </a:rPr>
              <a:t>Buy Borrow Thrive   ·   Level 2 ₱15,000 online   ·   Level 3 ₱75,000 face to face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C36"/>
        </a:solidFill>
      </p:bgPr>
    </p:bg>
    <p:spTree>
      <p:nvGrpSpPr>
        <p:cNvPr id="1" name=""/>
        <p:cNvGrpSpPr/>
        <p:nvPr/>
      </p:nvGrpSpPr>
      <p:grpSpPr>
        <a:xfrm>
          <a:off x="0" y="0"/>
          <a:ext cx="0" cy="0"/>
          <a:chOff x="0" y="0"/>
          <a:chExt cx="0" cy="0"/>
        </a:xfrm>
      </p:grpSpPr>
      <p:sp>
        <p:nvSpPr>
          <p:cNvPr id="2" name="Shape 0"/>
          <p:cNvSpPr/>
          <p:nvPr/>
        </p:nvSpPr>
        <p:spPr>
          <a:xfrm>
            <a:off x="685800" y="2331720"/>
            <a:ext cx="868680" cy="868680"/>
          </a:xfrm>
          <a:prstGeom prst="ellipse">
            <a:avLst/>
          </a:prstGeom>
          <a:solidFill>
            <a:srgbClr val="C08829"/>
          </a:solidFill>
          <a:ln/>
        </p:spPr>
      </p:sp>
      <p:sp>
        <p:nvSpPr>
          <p:cNvPr id="3" name="Text 1"/>
          <p:cNvSpPr txBox="1"/>
          <p:nvPr/>
        </p:nvSpPr>
        <p:spPr>
          <a:xfrm>
            <a:off x="685800" y="2331720"/>
            <a:ext cx="868680" cy="868680"/>
          </a:xfrm>
          <a:prstGeom prst="rect">
            <a:avLst/>
          </a:prstGeom>
          <a:noFill/>
          <a:ln/>
        </p:spPr>
        <p:txBody>
          <a:bodyPr wrap="square" lIns="0" tIns="0" rIns="0" bIns="0" rtlCol="0" anchor="ctr"/>
          <a:lstStyle/>
          <a:p>
            <a:pPr algn="ctr" indent="0" marL="0">
              <a:buNone/>
            </a:pPr>
            <a:r>
              <a:rPr lang="en-US" sz="3000" b="1" dirty="0">
                <a:solidFill>
                  <a:srgbClr val="141C36"/>
                </a:solidFill>
                <a:latin typeface="Cambria" pitchFamily="34" charset="0"/>
                <a:ea typeface="Cambria" pitchFamily="34" charset="-122"/>
                <a:cs typeface="Cambria" pitchFamily="34" charset="-120"/>
              </a:rPr>
              <a:t>1</a:t>
            </a:r>
            <a:endParaRPr lang="en-US" sz="3000" dirty="0"/>
          </a:p>
        </p:txBody>
      </p:sp>
      <p:sp>
        <p:nvSpPr>
          <p:cNvPr id="4" name="Text 2"/>
          <p:cNvSpPr txBox="1"/>
          <p:nvPr/>
        </p:nvSpPr>
        <p:spPr>
          <a:xfrm>
            <a:off x="2011680" y="2286000"/>
            <a:ext cx="9814255"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MODULE ONE · 180 MIN · BOTH MODES</a:t>
            </a:r>
            <a:endParaRPr lang="en-US" sz="1000" dirty="0"/>
          </a:p>
        </p:txBody>
      </p:sp>
      <p:sp>
        <p:nvSpPr>
          <p:cNvPr id="5" name="Text 3"/>
          <p:cNvSpPr txBox="1"/>
          <p:nvPr/>
        </p:nvSpPr>
        <p:spPr>
          <a:xfrm>
            <a:off x="2011680" y="2615184"/>
            <a:ext cx="9631375" cy="1097280"/>
          </a:xfrm>
          <a:prstGeom prst="rect">
            <a:avLst/>
          </a:prstGeom>
          <a:noFill/>
          <a:ln/>
        </p:spPr>
        <p:txBody>
          <a:bodyPr wrap="square" lIns="0" tIns="0" rIns="0" bIns="0" rtlCol="0" anchor="ctr"/>
          <a:lstStyle/>
          <a:p>
            <a:pPr indent="0" marL="0">
              <a:buNone/>
            </a:pPr>
            <a:r>
              <a:rPr lang="en-US" sz="4000" b="1" dirty="0">
                <a:solidFill>
                  <a:srgbClr val="F2F4FA"/>
                </a:solidFill>
                <a:latin typeface="Cambria" pitchFamily="34" charset="0"/>
                <a:ea typeface="Cambria" pitchFamily="34" charset="-122"/>
                <a:cs typeface="Cambria" pitchFamily="34" charset="-120"/>
              </a:rPr>
              <a:t>Chart Structure &amp; Levels</a:t>
            </a:r>
            <a:endParaRPr lang="en-US" sz="4000" dirty="0"/>
          </a:p>
        </p:txBody>
      </p:sp>
      <p:sp>
        <p:nvSpPr>
          <p:cNvPr id="6" name="Text 4"/>
          <p:cNvSpPr txBox="1"/>
          <p:nvPr/>
        </p:nvSpPr>
        <p:spPr>
          <a:xfrm>
            <a:off x="2011680" y="3703320"/>
            <a:ext cx="8778240" cy="822960"/>
          </a:xfrm>
          <a:prstGeom prst="rect">
            <a:avLst/>
          </a:prstGeom>
          <a:noFill/>
          <a:ln/>
        </p:spPr>
        <p:txBody>
          <a:bodyPr wrap="square" lIns="0" tIns="0" rIns="0" bIns="0" rtlCol="0" anchor="ctr"/>
          <a:lstStyle/>
          <a:p>
            <a:pPr indent="0" marL="0">
              <a:lnSpc>
                <a:spcPts val="2300"/>
              </a:lnSpc>
              <a:buNone/>
            </a:pPr>
            <a:r>
              <a:rPr lang="en-US" sz="1600" dirty="0">
                <a:solidFill>
                  <a:srgbClr val="A8B0C8"/>
                </a:solidFill>
                <a:latin typeface="Calibri" pitchFamily="34" charset="0"/>
                <a:ea typeface="Calibri" pitchFamily="34" charset="-122"/>
                <a:cs typeface="Calibri" pitchFamily="34" charset="-120"/>
              </a:rPr>
              <a:t>Everything downstream is a level. A participant who cannot set one is guessing with a rulebook.</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FIRST DECISION</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Your timeframe decides who you become</a:t>
            </a:r>
            <a:endParaRPr lang="en-US" sz="3400" dirty="0"/>
          </a:p>
        </p:txBody>
      </p:sp>
      <p:sp>
        <p:nvSpPr>
          <p:cNvPr id="4" name="Shape 2"/>
          <p:cNvSpPr/>
          <p:nvPr/>
        </p:nvSpPr>
        <p:spPr>
          <a:xfrm>
            <a:off x="685800" y="1929384"/>
            <a:ext cx="420624" cy="420624"/>
          </a:xfrm>
          <a:prstGeom prst="ellipse">
            <a:avLst/>
          </a:prstGeom>
          <a:solidFill>
            <a:srgbClr val="A82F26"/>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5-minute chart</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You will find a reason to act several times an hour.</a:t>
            </a:r>
            <a:endParaRPr lang="en-US" sz="1350" dirty="0"/>
          </a:p>
        </p:txBody>
      </p:sp>
      <p:sp>
        <p:nvSpPr>
          <p:cNvPr id="8" name="Shape 6"/>
          <p:cNvSpPr/>
          <p:nvPr/>
        </p:nvSpPr>
        <p:spPr>
          <a:xfrm>
            <a:off x="685800" y="3407664"/>
            <a:ext cx="420624" cy="420624"/>
          </a:xfrm>
          <a:prstGeom prst="ellipse">
            <a:avLst/>
          </a:prstGeom>
          <a:solidFill>
            <a:srgbClr val="B4720F"/>
          </a:solidFill>
          <a:ln/>
        </p:spPr>
      </p:sp>
      <p:sp>
        <p:nvSpPr>
          <p:cNvPr id="9" name="Text 7"/>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Daily chart</a:t>
            </a:r>
            <a:endParaRPr lang="en-US" sz="1700" dirty="0"/>
          </a:p>
        </p:txBody>
      </p:sp>
      <p:sp>
        <p:nvSpPr>
          <p:cNvPr id="11" name="Text 9"/>
          <p:cNvSpPr txBox="1"/>
          <p:nvPr/>
        </p:nvSpPr>
        <p:spPr>
          <a:xfrm>
            <a:off x="1399032" y="371856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A few times a week.</a:t>
            </a:r>
            <a:endParaRPr lang="en-US" sz="1350" dirty="0"/>
          </a:p>
        </p:txBody>
      </p:sp>
      <p:sp>
        <p:nvSpPr>
          <p:cNvPr id="12" name="Shape 10"/>
          <p:cNvSpPr/>
          <p:nvPr/>
        </p:nvSpPr>
        <p:spPr>
          <a:xfrm>
            <a:off x="685800" y="4885944"/>
            <a:ext cx="420624" cy="420624"/>
          </a:xfrm>
          <a:prstGeom prst="ellipse">
            <a:avLst/>
          </a:prstGeom>
          <a:solidFill>
            <a:srgbClr val="25774F"/>
          </a:solidFill>
          <a:ln/>
        </p:spPr>
      </p:sp>
      <p:sp>
        <p:nvSpPr>
          <p:cNvPr id="13" name="Text 11"/>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Weekly chart</a:t>
            </a:r>
            <a:endParaRPr lang="en-US" sz="1700" dirty="0"/>
          </a:p>
        </p:txBody>
      </p:sp>
      <p:sp>
        <p:nvSpPr>
          <p:cNvPr id="15" name="Text 13"/>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A few times a year. This is ours.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AND NO INDICATORS</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5000"/>
              </a:lnSpc>
              <a:buNone/>
            </a:pPr>
            <a:r>
              <a:rPr lang="en-US" sz="4000" b="1" dirty="0">
                <a:solidFill>
                  <a:srgbClr val="1A2340"/>
                </a:solidFill>
                <a:latin typeface="Cambria" pitchFamily="34" charset="0"/>
                <a:ea typeface="Cambria" pitchFamily="34" charset="-122"/>
                <a:cs typeface="Cambria" pitchFamily="34" charset="-120"/>
              </a:rPr>
              <a:t>Structure only. Where price has turned before, and where it has not.</a:t>
            </a:r>
            <a:endParaRPr lang="en-US" sz="4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5B6480"/>
                </a:solidFill>
                <a:latin typeface="Calibri" pitchFamily="34" charset="0"/>
                <a:ea typeface="Calibri" pitchFamily="34" charset="-122"/>
                <a:cs typeface="Calibri" pitchFamily="34" charset="-120"/>
              </a:rPr>
              <a:t>Every indicator is derived from price. If you can read structure, the indicator adds a second opinion from the same witness — and a reason to hesitate when you should act.</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25774F"/>
                </a:solidFill>
                <a:latin typeface="Calibri" pitchFamily="34" charset="0"/>
                <a:ea typeface="Calibri" pitchFamily="34" charset="-122"/>
                <a:cs typeface="Calibri" pitchFamily="34" charset="-120"/>
              </a:rPr>
              <a:t>WHAT A LEVEL IS</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Levels are for deciding in advance, not knowing in advance.</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5B6480"/>
                </a:solidFill>
                <a:latin typeface="Calibri" pitchFamily="34" charset="0"/>
                <a:ea typeface="Calibri" pitchFamily="34" charset="-122"/>
                <a:cs typeface="Calibri" pitchFamily="34" charset="-120"/>
              </a:rPr>
              <a:t>A level is a price where a decision has been made before — where buying overwhelmed selling, or the reverse. It is not a prediction. It does not tell you what will happen; it tells you where you will act if it does.</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PLOTTING THE SWING</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Three rules that keep you honest</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Use the most recent complete major move</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Not the prettiest one.</a:t>
            </a:r>
            <a:endParaRPr lang="en-US" sz="1350" dirty="0"/>
          </a:p>
        </p:txBody>
      </p:sp>
      <p:sp>
        <p:nvSpPr>
          <p:cNvPr id="8" name="Shape 6"/>
          <p:cNvSpPr/>
          <p:nvPr/>
        </p:nvSpPr>
        <p:spPr>
          <a:xfrm>
            <a:off x="685800" y="3407664"/>
            <a:ext cx="420624" cy="420624"/>
          </a:xfrm>
          <a:prstGeom prst="ellipse">
            <a:avLst/>
          </a:prstGeom>
          <a:solidFill>
            <a:srgbClr val="C08829"/>
          </a:solidFill>
          <a:ln/>
        </p:spPr>
      </p:sp>
      <p:sp>
        <p:nvSpPr>
          <p:cNvPr id="9" name="Text 7"/>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If you have to squint to see the swing, it is not one</a:t>
            </a:r>
            <a:endParaRPr lang="en-US" sz="1700" dirty="0"/>
          </a:p>
        </p:txBody>
      </p:sp>
      <p:sp>
        <p:nvSpPr>
          <p:cNvPr id="11" name="Text 9"/>
          <p:cNvSpPr txBox="1"/>
          <p:nvPr/>
        </p:nvSpPr>
        <p:spPr>
          <a:xfrm>
            <a:off x="1399032" y="371856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A clear turn, not a wobble.</a:t>
            </a:r>
            <a:endParaRPr lang="en-US" sz="1350" dirty="0"/>
          </a:p>
        </p:txBody>
      </p:sp>
      <p:sp>
        <p:nvSpPr>
          <p:cNvPr id="12" name="Shape 10"/>
          <p:cNvSpPr/>
          <p:nvPr/>
        </p:nvSpPr>
        <p:spPr>
          <a:xfrm>
            <a:off x="685800" y="4885944"/>
            <a:ext cx="420624" cy="420624"/>
          </a:xfrm>
          <a:prstGeom prst="ellipse">
            <a:avLst/>
          </a:prstGeom>
          <a:solidFill>
            <a:srgbClr val="C08829"/>
          </a:solidFill>
          <a:ln/>
        </p:spPr>
      </p:sp>
      <p:sp>
        <p:nvSpPr>
          <p:cNvPr id="13" name="Text 11"/>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Wicks or bodies — pick one and never change</a:t>
            </a:r>
            <a:endParaRPr lang="en-US" sz="1700" dirty="0"/>
          </a:p>
        </p:txBody>
      </p:sp>
      <p:sp>
        <p:nvSpPr>
          <p:cNvPr id="15" name="Text 13"/>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We use wicks, because the wick is where trades actually happened.</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RETRACEMENT</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2700" b="1" dirty="0">
                <a:solidFill>
                  <a:srgbClr val="1A2340"/>
                </a:solidFill>
                <a:latin typeface="Cambria" pitchFamily="34" charset="0"/>
                <a:ea typeface="Cambria" pitchFamily="34" charset="-122"/>
                <a:cs typeface="Cambria" pitchFamily="34" charset="-120"/>
              </a:rPr>
              <a:t>Three levels, ordered by how often you will see them</a:t>
            </a:r>
            <a:endParaRPr lang="en-US" sz="2700" dirty="0"/>
          </a:p>
        </p:txBody>
      </p:sp>
      <p:sp>
        <p:nvSpPr>
          <p:cNvPr id="4" name="Shape 2"/>
          <p:cNvSpPr/>
          <p:nvPr/>
        </p:nvSpPr>
        <p:spPr>
          <a:xfrm>
            <a:off x="685800" y="1965960"/>
            <a:ext cx="3352800" cy="2377440"/>
          </a:xfrm>
          <a:prstGeom prst="roundRect">
            <a:avLst>
              <a:gd name="adj" fmla="val 3077"/>
            </a:avLst>
          </a:prstGeom>
          <a:solidFill>
            <a:srgbClr val="EEF1F8"/>
          </a:solidFill>
          <a:ln w="9525">
            <a:solidFill>
              <a:srgbClr val="D8DDEA"/>
            </a:solidFill>
            <a:prstDash val="solid"/>
          </a:ln>
        </p:spPr>
      </p:sp>
      <p:sp>
        <p:nvSpPr>
          <p:cNvPr id="5" name="Text 3"/>
          <p:cNvSpPr txBox="1"/>
          <p:nvPr/>
        </p:nvSpPr>
        <p:spPr>
          <a:xfrm>
            <a:off x="868680" y="2267712"/>
            <a:ext cx="298704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0.618</a:t>
            </a:r>
            <a:endParaRPr lang="en-US" sz="4600" dirty="0"/>
          </a:p>
        </p:txBody>
      </p:sp>
      <p:sp>
        <p:nvSpPr>
          <p:cNvPr id="6" name="Text 4"/>
          <p:cNvSpPr txBox="1"/>
          <p:nvPr/>
        </p:nvSpPr>
        <p:spPr>
          <a:xfrm>
            <a:off x="86868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first — shallowest, most often reached, commits least</a:t>
            </a:r>
            <a:endParaRPr lang="en-US" sz="1300" dirty="0"/>
          </a:p>
        </p:txBody>
      </p:sp>
      <p:sp>
        <p:nvSpPr>
          <p:cNvPr id="7" name="Shape 5"/>
          <p:cNvSpPr/>
          <p:nvPr/>
        </p:nvSpPr>
        <p:spPr>
          <a:xfrm>
            <a:off x="4404360" y="1965960"/>
            <a:ext cx="3352800" cy="2377440"/>
          </a:xfrm>
          <a:prstGeom prst="roundRect">
            <a:avLst>
              <a:gd name="adj" fmla="val 3077"/>
            </a:avLst>
          </a:prstGeom>
          <a:solidFill>
            <a:srgbClr val="EEF1F8"/>
          </a:solidFill>
          <a:ln w="9525">
            <a:solidFill>
              <a:srgbClr val="D8DDEA"/>
            </a:solidFill>
            <a:prstDash val="solid"/>
          </a:ln>
        </p:spPr>
      </p:sp>
      <p:sp>
        <p:nvSpPr>
          <p:cNvPr id="8" name="Text 6"/>
          <p:cNvSpPr txBox="1"/>
          <p:nvPr/>
        </p:nvSpPr>
        <p:spPr>
          <a:xfrm>
            <a:off x="4587240" y="2267712"/>
            <a:ext cx="298704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0.50</a:t>
            </a:r>
            <a:endParaRPr lang="en-US" sz="4600" dirty="0"/>
          </a:p>
        </p:txBody>
      </p:sp>
      <p:sp>
        <p:nvSpPr>
          <p:cNvPr id="9" name="Text 7"/>
          <p:cNvSpPr txBox="1"/>
          <p:nvPr/>
        </p:nvSpPr>
        <p:spPr>
          <a:xfrm>
            <a:off x="458724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second — the midpoint</a:t>
            </a:r>
            <a:endParaRPr lang="en-US" sz="1300" dirty="0"/>
          </a:p>
        </p:txBody>
      </p:sp>
      <p:sp>
        <p:nvSpPr>
          <p:cNvPr id="10" name="Shape 8"/>
          <p:cNvSpPr/>
          <p:nvPr/>
        </p:nvSpPr>
        <p:spPr>
          <a:xfrm>
            <a:off x="8122920" y="1965960"/>
            <a:ext cx="3352800" cy="2377440"/>
          </a:xfrm>
          <a:prstGeom prst="roundRect">
            <a:avLst>
              <a:gd name="adj" fmla="val 3077"/>
            </a:avLst>
          </a:prstGeom>
          <a:solidFill>
            <a:srgbClr val="EEF1F8"/>
          </a:solidFill>
          <a:ln w="9525">
            <a:solidFill>
              <a:srgbClr val="D8DDEA"/>
            </a:solidFill>
            <a:prstDash val="solid"/>
          </a:ln>
        </p:spPr>
      </p:sp>
      <p:sp>
        <p:nvSpPr>
          <p:cNvPr id="11" name="Text 9"/>
          <p:cNvSpPr txBox="1"/>
          <p:nvPr/>
        </p:nvSpPr>
        <p:spPr>
          <a:xfrm>
            <a:off x="8305800" y="2267712"/>
            <a:ext cx="298704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0.382</a:t>
            </a:r>
            <a:endParaRPr lang="en-US" sz="4600" dirty="0"/>
          </a:p>
        </p:txBody>
      </p:sp>
      <p:sp>
        <p:nvSpPr>
          <p:cNvPr id="12" name="Text 10"/>
          <p:cNvSpPr txBox="1"/>
          <p:nvPr/>
        </p:nvSpPr>
        <p:spPr>
          <a:xfrm>
            <a:off x="830580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third — deepest, rarest, best price when it comes</a:t>
            </a:r>
            <a:endParaRPr lang="en-US" sz="1300" dirty="0"/>
          </a:p>
        </p:txBody>
      </p:sp>
      <p:sp>
        <p:nvSpPr>
          <p:cNvPr id="13" name="Text 11"/>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First, second, third — by likelihood, not depth. That is the order they arrive in, and the order you deploy in.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AND SOMETHING NO ONE ELSE TELLS YOU</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Your levels are not my levels.</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000"/>
              </a:lnSpc>
              <a:buNone/>
            </a:pPr>
            <a:r>
              <a:rPr lang="en-US" sz="1400" dirty="0">
                <a:solidFill>
                  <a:srgbClr val="5B6480"/>
                </a:solidFill>
                <a:latin typeface="Calibri" pitchFamily="34" charset="0"/>
                <a:ea typeface="Calibri" pitchFamily="34" charset="-122"/>
                <a:cs typeface="Calibri" pitchFamily="34" charset="-120"/>
              </a:rPr>
              <a:t>Plot the same chart in this room and we will be a few percent apart. Different swings, wicks versus bodies. That is fine — we are not finding the one true level, we are building a band you decided on in advance. The precision that matters is not in the number. It is in having written it down before the candle got there.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LEVELS INTO DECISIONS</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A level does three jobs</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Where you buy</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 obvious one — and the only one most courses teach.</a:t>
            </a:r>
            <a:endParaRPr lang="en-US" sz="1350" dirty="0"/>
          </a:p>
        </p:txBody>
      </p:sp>
      <p:sp>
        <p:nvSpPr>
          <p:cNvPr id="8" name="Shape 6"/>
          <p:cNvSpPr/>
          <p:nvPr/>
        </p:nvSpPr>
        <p:spPr>
          <a:xfrm>
            <a:off x="685800" y="3407664"/>
            <a:ext cx="420624" cy="420624"/>
          </a:xfrm>
          <a:prstGeom prst="ellipse">
            <a:avLst/>
          </a:prstGeom>
          <a:solidFill>
            <a:srgbClr val="C08829"/>
          </a:solidFill>
          <a:ln/>
        </p:spPr>
      </p:sp>
      <p:sp>
        <p:nvSpPr>
          <p:cNvPr id="9" name="Text 7"/>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Where your ladder deploys</a:t>
            </a:r>
            <a:endParaRPr lang="en-US" sz="1700" dirty="0"/>
          </a:p>
        </p:txBody>
      </p:sp>
      <p:sp>
        <p:nvSpPr>
          <p:cNvPr id="11" name="Text 9"/>
          <p:cNvSpPr txBox="1"/>
          <p:nvPr/>
        </p:nvSpPr>
        <p:spPr>
          <a:xfrm>
            <a:off x="1399032" y="371856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Module 6. You do not spend everything at one level.</a:t>
            </a:r>
            <a:endParaRPr lang="en-US" sz="1350" dirty="0"/>
          </a:p>
        </p:txBody>
      </p:sp>
      <p:sp>
        <p:nvSpPr>
          <p:cNvPr id="12" name="Shape 10"/>
          <p:cNvSpPr/>
          <p:nvPr/>
        </p:nvSpPr>
        <p:spPr>
          <a:xfrm>
            <a:off x="685800" y="4885944"/>
            <a:ext cx="420624" cy="420624"/>
          </a:xfrm>
          <a:prstGeom prst="ellipse">
            <a:avLst/>
          </a:prstGeom>
          <a:solidFill>
            <a:srgbClr val="C08829"/>
          </a:solidFill>
          <a:ln/>
        </p:spPr>
      </p:sp>
      <p:sp>
        <p:nvSpPr>
          <p:cNvPr id="13" name="Text 11"/>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Where your alarms sit</a:t>
            </a:r>
            <a:endParaRPr lang="en-US" sz="1700" dirty="0"/>
          </a:p>
        </p:txBody>
      </p:sp>
      <p:sp>
        <p:nvSpPr>
          <p:cNvPr id="15" name="Text 13"/>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Module 4. Your LTV alarms convert to prices, and those prices live on this chart.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25774F"/>
                </a:solidFill>
                <a:latin typeface="Calibri" pitchFamily="34" charset="0"/>
                <a:ea typeface="Calibri" pitchFamily="34" charset="-122"/>
                <a:cs typeface="Calibri" pitchFamily="34" charset="-120"/>
              </a:rPr>
              <a:t>WHEN PRICE IS BETWEEN LEVELS</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Do nothing.</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000"/>
              </a:lnSpc>
              <a:buNone/>
            </a:pPr>
            <a:r>
              <a:rPr lang="en-US" sz="1400" dirty="0">
                <a:solidFill>
                  <a:srgbClr val="5B6480"/>
                </a:solidFill>
                <a:latin typeface="Calibri" pitchFamily="34" charset="0"/>
                <a:ea typeface="Calibri" pitchFamily="34" charset="-122"/>
                <a:cs typeface="Calibri" pitchFamily="34" charset="-120"/>
              </a:rPr>
              <a:t>That is the answer, and it is the hardest one in the programme. Most of the time price is between levels, and most of the time the correct action is none. If you need to be doing something to feel like an investor, this strategy will be uncomfortable — and you should find that out now rather than in month four.</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BELOW EVERY LEVEL</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When it goes below 0.382</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ladder is spent</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That is the ladder working as designed, not failing.</a:t>
            </a:r>
            <a:endParaRPr lang="en-US" sz="1350" dirty="0"/>
          </a:p>
        </p:txBody>
      </p:sp>
      <p:sp>
        <p:nvSpPr>
          <p:cNvPr id="8" name="Shape 6"/>
          <p:cNvSpPr/>
          <p:nvPr/>
        </p:nvSpPr>
        <p:spPr>
          <a:xfrm>
            <a:off x="685800" y="3407664"/>
            <a:ext cx="420624" cy="420624"/>
          </a:xfrm>
          <a:prstGeom prst="ellipse">
            <a:avLst/>
          </a:prstGeom>
          <a:solidFill>
            <a:srgbClr val="A82F26"/>
          </a:solidFill>
          <a:ln/>
        </p:spPr>
      </p:sp>
      <p:sp>
        <p:nvSpPr>
          <p:cNvPr id="9" name="Text 7"/>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reserve is not for this</a:t>
            </a:r>
            <a:endParaRPr lang="en-US" sz="1700" dirty="0"/>
          </a:p>
        </p:txBody>
      </p:sp>
      <p:sp>
        <p:nvSpPr>
          <p:cNvPr id="11" name="Text 9"/>
          <p:cNvSpPr txBox="1"/>
          <p:nvPr/>
        </p:nvSpPr>
        <p:spPr>
          <a:xfrm>
            <a:off x="1399032" y="371856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Reserve defends the position you have. Module 6 is strict about it — this is how a disciplined person blows up.</a:t>
            </a:r>
            <a:endParaRPr lang="en-US" sz="1350" dirty="0"/>
          </a:p>
        </p:txBody>
      </p:sp>
      <p:sp>
        <p:nvSpPr>
          <p:cNvPr id="12" name="Shape 10"/>
          <p:cNvSpPr/>
          <p:nvPr/>
        </p:nvSpPr>
        <p:spPr>
          <a:xfrm>
            <a:off x="685800" y="4885944"/>
            <a:ext cx="420624" cy="420624"/>
          </a:xfrm>
          <a:prstGeom prst="ellipse">
            <a:avLst/>
          </a:prstGeom>
          <a:solidFill>
            <a:srgbClr val="25774F"/>
          </a:solidFill>
          <a:ln/>
        </p:spPr>
      </p:sp>
      <p:sp>
        <p:nvSpPr>
          <p:cNvPr id="13" name="Text 11"/>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Only new money from income buys down here</a:t>
            </a:r>
            <a:endParaRPr lang="en-US" sz="1700" dirty="0"/>
          </a:p>
        </p:txBody>
      </p:sp>
      <p:sp>
        <p:nvSpPr>
          <p:cNvPr id="15" name="Text 13"/>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Not reserve. Not borrowed capital.</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RE-PLOTTING</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When to move your levels</a:t>
            </a:r>
            <a:endParaRPr lang="en-US" sz="3400" dirty="0"/>
          </a:p>
        </p:txBody>
      </p:sp>
      <p:sp>
        <p:nvSpPr>
          <p:cNvPr id="4" name="Shape 2"/>
          <p:cNvSpPr/>
          <p:nvPr/>
        </p:nvSpPr>
        <p:spPr>
          <a:xfrm>
            <a:off x="685800" y="1929384"/>
            <a:ext cx="420624" cy="420624"/>
          </a:xfrm>
          <a:prstGeom prst="ellipse">
            <a:avLst/>
          </a:prstGeom>
          <a:solidFill>
            <a:srgbClr val="25774F"/>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A new weekly swing completes</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That is the only trigger. In practice, a handful of times a year.</a:t>
            </a:r>
            <a:endParaRPr lang="en-US" sz="1350" dirty="0"/>
          </a:p>
        </p:txBody>
      </p:sp>
      <p:sp>
        <p:nvSpPr>
          <p:cNvPr id="8" name="Shape 6"/>
          <p:cNvSpPr/>
          <p:nvPr/>
        </p:nvSpPr>
        <p:spPr>
          <a:xfrm>
            <a:off x="685800" y="3038094"/>
            <a:ext cx="420624" cy="420624"/>
          </a:xfrm>
          <a:prstGeom prst="ellipse">
            <a:avLst/>
          </a:prstGeom>
          <a:solidFill>
            <a:srgbClr val="A82F26"/>
          </a:solidFill>
          <a:ln/>
        </p:spPr>
      </p:sp>
      <p:sp>
        <p:nvSpPr>
          <p:cNvPr id="9" name="Text 7"/>
          <p:cNvSpPr txBox="1"/>
          <p:nvPr/>
        </p:nvSpPr>
        <p:spPr>
          <a:xfrm>
            <a:off x="685800" y="303809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98323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Not when price goes somewhere you dislike</a:t>
            </a:r>
            <a:endParaRPr lang="en-US" sz="1700" dirty="0"/>
          </a:p>
        </p:txBody>
      </p:sp>
      <p:sp>
        <p:nvSpPr>
          <p:cNvPr id="11" name="Shape 9"/>
          <p:cNvSpPr/>
          <p:nvPr/>
        </p:nvSpPr>
        <p:spPr>
          <a:xfrm>
            <a:off x="685800" y="4146804"/>
            <a:ext cx="420624" cy="420624"/>
          </a:xfrm>
          <a:prstGeom prst="ellipse">
            <a:avLst/>
          </a:prstGeom>
          <a:solidFill>
            <a:srgbClr val="A82F26"/>
          </a:solidFill>
          <a:ln/>
        </p:spPr>
      </p:sp>
      <p:sp>
        <p:nvSpPr>
          <p:cNvPr id="12" name="Text 10"/>
          <p:cNvSpPr txBox="1"/>
          <p:nvPr/>
        </p:nvSpPr>
        <p:spPr>
          <a:xfrm>
            <a:off x="685800" y="41468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399032" y="409194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Not when someone posts a chart</a:t>
            </a:r>
            <a:endParaRPr lang="en-US" sz="1700" dirty="0"/>
          </a:p>
        </p:txBody>
      </p:sp>
      <p:sp>
        <p:nvSpPr>
          <p:cNvPr id="14" name="Shape 12"/>
          <p:cNvSpPr/>
          <p:nvPr/>
        </p:nvSpPr>
        <p:spPr>
          <a:xfrm>
            <a:off x="685800" y="5255514"/>
            <a:ext cx="420624" cy="420624"/>
          </a:xfrm>
          <a:prstGeom prst="ellipse">
            <a:avLst/>
          </a:prstGeom>
          <a:solidFill>
            <a:srgbClr val="A82F26"/>
          </a:solidFill>
          <a:ln/>
        </p:spPr>
      </p:sp>
      <p:sp>
        <p:nvSpPr>
          <p:cNvPr id="15" name="Text 13"/>
          <p:cNvSpPr txBox="1"/>
          <p:nvPr/>
        </p:nvSpPr>
        <p:spPr>
          <a:xfrm>
            <a:off x="685800" y="525551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399032" y="520065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Not when you are bored</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THE DISHONEST MOVE</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Buying with no signal, then sliding 0.618 onto your entry.</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5B6480"/>
                </a:solidFill>
                <a:latin typeface="Calibri" pitchFamily="34" charset="0"/>
                <a:ea typeface="Calibri" pitchFamily="34" charset="-122"/>
                <a:cs typeface="Calibri" pitchFamily="34" charset="-120"/>
              </a:rPr>
              <a:t>Walang basehan yun. You have drawn a level around a decision you already made and given it the appearance of a plan. It has one legitimate use: showing your next levels given you already bought. If you find yourself doing it often, the problem is not your chart.</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GATE</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Your Level Card</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Swing high and swing low</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 two points everything else is derived from.</a:t>
            </a:r>
            <a:endParaRPr lang="en-US" sz="1350" dirty="0"/>
          </a:p>
        </p:txBody>
      </p:sp>
      <p:sp>
        <p:nvSpPr>
          <p:cNvPr id="8" name="Shape 6"/>
          <p:cNvSpPr/>
          <p:nvPr/>
        </p:nvSpPr>
        <p:spPr>
          <a:xfrm>
            <a:off x="685800" y="3038094"/>
            <a:ext cx="420624" cy="420624"/>
          </a:xfrm>
          <a:prstGeom prst="ellipse">
            <a:avLst/>
          </a:prstGeom>
          <a:solidFill>
            <a:srgbClr val="C08829"/>
          </a:solidFill>
          <a:ln/>
        </p:spPr>
      </p:sp>
      <p:sp>
        <p:nvSpPr>
          <p:cNvPr id="9" name="Text 7"/>
          <p:cNvSpPr txBox="1"/>
          <p:nvPr/>
        </p:nvSpPr>
        <p:spPr>
          <a:xfrm>
            <a:off x="685800" y="303809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98323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three levels</a:t>
            </a:r>
            <a:endParaRPr lang="en-US" sz="1700" dirty="0"/>
          </a:p>
        </p:txBody>
      </p:sp>
      <p:sp>
        <p:nvSpPr>
          <p:cNvPr id="11" name="Text 9"/>
          <p:cNvSpPr txBox="1"/>
          <p:nvPr/>
        </p:nvSpPr>
        <p:spPr>
          <a:xfrm>
            <a:off x="1399032" y="334899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0.618 · 0.50 · 0.382</a:t>
            </a:r>
            <a:endParaRPr lang="en-US" sz="1350" dirty="0"/>
          </a:p>
        </p:txBody>
      </p:sp>
      <p:sp>
        <p:nvSpPr>
          <p:cNvPr id="12" name="Shape 10"/>
          <p:cNvSpPr/>
          <p:nvPr/>
        </p:nvSpPr>
        <p:spPr>
          <a:xfrm>
            <a:off x="685800" y="4146804"/>
            <a:ext cx="420624" cy="420624"/>
          </a:xfrm>
          <a:prstGeom prst="ellipse">
            <a:avLst/>
          </a:prstGeom>
          <a:solidFill>
            <a:srgbClr val="B4720F"/>
          </a:solidFill>
          <a:ln/>
        </p:spPr>
      </p:sp>
      <p:sp>
        <p:nvSpPr>
          <p:cNvPr id="13" name="Text 11"/>
          <p:cNvSpPr txBox="1"/>
          <p:nvPr/>
        </p:nvSpPr>
        <p:spPr>
          <a:xfrm>
            <a:off x="685800" y="41468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09194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The date you plotted them</a:t>
            </a:r>
            <a:endParaRPr lang="en-US" sz="1700" dirty="0"/>
          </a:p>
        </p:txBody>
      </p:sp>
      <p:sp>
        <p:nvSpPr>
          <p:cNvPr id="15" name="Text 13"/>
          <p:cNvSpPr txBox="1"/>
          <p:nvPr/>
        </p:nvSpPr>
        <p:spPr>
          <a:xfrm>
            <a:off x="1399032" y="445770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Undated levels get trusted long after they should have been redrawn.</a:t>
            </a:r>
            <a:endParaRPr lang="en-US" sz="1350" dirty="0"/>
          </a:p>
        </p:txBody>
      </p:sp>
      <p:sp>
        <p:nvSpPr>
          <p:cNvPr id="16" name="Shape 14"/>
          <p:cNvSpPr/>
          <p:nvPr/>
        </p:nvSpPr>
        <p:spPr>
          <a:xfrm>
            <a:off x="685800" y="5255514"/>
            <a:ext cx="420624" cy="420624"/>
          </a:xfrm>
          <a:prstGeom prst="ellipse">
            <a:avLst/>
          </a:prstGeom>
          <a:solidFill>
            <a:srgbClr val="C08829"/>
          </a:solidFill>
          <a:ln/>
        </p:spPr>
      </p:sp>
      <p:sp>
        <p:nvSpPr>
          <p:cNvPr id="17" name="Text 15"/>
          <p:cNvSpPr txBox="1"/>
          <p:nvPr/>
        </p:nvSpPr>
        <p:spPr>
          <a:xfrm>
            <a:off x="685800" y="525551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399032" y="520065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Coach signature</a:t>
            </a:r>
            <a:endParaRPr lang="en-US" sz="1700" dirty="0"/>
          </a:p>
        </p:txBody>
      </p:sp>
      <p:sp>
        <p:nvSpPr>
          <p:cNvPr id="19" name="Text 17"/>
          <p:cNvSpPr txBox="1"/>
          <p:nvPr/>
        </p:nvSpPr>
        <p:spPr>
          <a:xfrm>
            <a:off x="1399032" y="556641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You carry this into Module 4 for your alarms and Module 6 for your ladder.</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C36"/>
        </a:solidFill>
      </p:bgPr>
    </p:bg>
    <p:spTree>
      <p:nvGrpSpPr>
        <p:cNvPr id="1" name=""/>
        <p:cNvGrpSpPr/>
        <p:nvPr/>
      </p:nvGrpSpPr>
      <p:grpSpPr>
        <a:xfrm>
          <a:off x="0" y="0"/>
          <a:ext cx="0" cy="0"/>
          <a:chOff x="0" y="0"/>
          <a:chExt cx="0" cy="0"/>
        </a:xfrm>
      </p:grpSpPr>
      <p:sp>
        <p:nvSpPr>
          <p:cNvPr id="2" name="Shape 0"/>
          <p:cNvSpPr/>
          <p:nvPr/>
        </p:nvSpPr>
        <p:spPr>
          <a:xfrm>
            <a:off x="685800" y="2331720"/>
            <a:ext cx="868680" cy="868680"/>
          </a:xfrm>
          <a:prstGeom prst="ellipse">
            <a:avLst/>
          </a:prstGeom>
          <a:solidFill>
            <a:srgbClr val="C08829"/>
          </a:solidFill>
          <a:ln/>
        </p:spPr>
      </p:sp>
      <p:sp>
        <p:nvSpPr>
          <p:cNvPr id="3" name="Text 1"/>
          <p:cNvSpPr txBox="1"/>
          <p:nvPr/>
        </p:nvSpPr>
        <p:spPr>
          <a:xfrm>
            <a:off x="685800" y="2331720"/>
            <a:ext cx="868680" cy="868680"/>
          </a:xfrm>
          <a:prstGeom prst="rect">
            <a:avLst/>
          </a:prstGeom>
          <a:noFill/>
          <a:ln/>
        </p:spPr>
        <p:txBody>
          <a:bodyPr wrap="square" lIns="0" tIns="0" rIns="0" bIns="0" rtlCol="0" anchor="ctr"/>
          <a:lstStyle/>
          <a:p>
            <a:pPr algn="ctr" indent="0" marL="0">
              <a:buNone/>
            </a:pPr>
            <a:r>
              <a:rPr lang="en-US" sz="3000" b="1" dirty="0">
                <a:solidFill>
                  <a:srgbClr val="141C36"/>
                </a:solidFill>
                <a:latin typeface="Cambria" pitchFamily="34" charset="0"/>
                <a:ea typeface="Cambria" pitchFamily="34" charset="-122"/>
                <a:cs typeface="Cambria" pitchFamily="34" charset="-120"/>
              </a:rPr>
              <a:t>2</a:t>
            </a:r>
            <a:endParaRPr lang="en-US" sz="3000" dirty="0"/>
          </a:p>
        </p:txBody>
      </p:sp>
      <p:sp>
        <p:nvSpPr>
          <p:cNvPr id="4" name="Text 2"/>
          <p:cNvSpPr txBox="1"/>
          <p:nvPr/>
        </p:nvSpPr>
        <p:spPr>
          <a:xfrm>
            <a:off x="2011680" y="2286000"/>
            <a:ext cx="9814255"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MODULE TWO · 90 MIN · BOTH MODES</a:t>
            </a:r>
            <a:endParaRPr lang="en-US" sz="1000" dirty="0"/>
          </a:p>
        </p:txBody>
      </p:sp>
      <p:sp>
        <p:nvSpPr>
          <p:cNvPr id="5" name="Text 3"/>
          <p:cNvSpPr txBox="1"/>
          <p:nvPr/>
        </p:nvSpPr>
        <p:spPr>
          <a:xfrm>
            <a:off x="2011680" y="2615184"/>
            <a:ext cx="9631375" cy="1097280"/>
          </a:xfrm>
          <a:prstGeom prst="rect">
            <a:avLst/>
          </a:prstGeom>
          <a:noFill/>
          <a:ln/>
        </p:spPr>
        <p:txBody>
          <a:bodyPr wrap="square" lIns="0" tIns="0" rIns="0" bIns="0" rtlCol="0" anchor="ctr"/>
          <a:lstStyle/>
          <a:p>
            <a:pPr indent="0" marL="0">
              <a:buNone/>
            </a:pPr>
            <a:r>
              <a:rPr lang="en-US" sz="4000" b="1" dirty="0">
                <a:solidFill>
                  <a:srgbClr val="F2F4FA"/>
                </a:solidFill>
                <a:latin typeface="Cambria" pitchFamily="34" charset="0"/>
                <a:ea typeface="Cambria" pitchFamily="34" charset="-122"/>
                <a:cs typeface="Cambria" pitchFamily="34" charset="-120"/>
              </a:rPr>
              <a:t>The Platform</a:t>
            </a:r>
            <a:endParaRPr lang="en-US" sz="4000" dirty="0"/>
          </a:p>
        </p:txBody>
      </p:sp>
      <p:sp>
        <p:nvSpPr>
          <p:cNvPr id="6" name="Text 4"/>
          <p:cNvSpPr txBox="1"/>
          <p:nvPr/>
        </p:nvSpPr>
        <p:spPr>
          <a:xfrm>
            <a:off x="2011680" y="3703320"/>
            <a:ext cx="8778240" cy="822960"/>
          </a:xfrm>
          <a:prstGeom prst="rect">
            <a:avLst/>
          </a:prstGeom>
          <a:noFill/>
          <a:ln/>
        </p:spPr>
        <p:txBody>
          <a:bodyPr wrap="square" lIns="0" tIns="0" rIns="0" bIns="0" rtlCol="0" anchor="ctr"/>
          <a:lstStyle/>
          <a:p>
            <a:pPr indent="0" marL="0">
              <a:lnSpc>
                <a:spcPts val="2300"/>
              </a:lnSpc>
              <a:buNone/>
            </a:pPr>
            <a:r>
              <a:rPr lang="en-US" sz="1600" dirty="0">
                <a:solidFill>
                  <a:srgbClr val="A8B0C8"/>
                </a:solidFill>
                <a:latin typeface="Calibri" pitchFamily="34" charset="0"/>
                <a:ea typeface="Calibri" pitchFamily="34" charset="-122"/>
                <a:cs typeface="Calibri" pitchFamily="34" charset="-120"/>
              </a:rPr>
              <a:t>Funding, stablecoins, and the transfer where people lose money to carelessness rather than markets.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B4720F"/>
                </a:solidFill>
                <a:latin typeface="Calibri" pitchFamily="34" charset="0"/>
                <a:ea typeface="Calibri" pitchFamily="34" charset="-122"/>
                <a:cs typeface="Calibri" pitchFamily="34" charset="-120"/>
              </a:rPr>
              <a:t>TONIGHT THE MONEY IS REAL</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Pre-flight: verified, funded, installed.</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Coaches confirm pod by pod, out loud. Anyone who fails the gate leaves for the next cohort — warmly, and without staying “just to watch”. They will pull a coach away from their pod within twenty minutes.</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TEN STEPS</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The whole level on one screen</a:t>
            </a:r>
            <a:endParaRPr lang="en-US" sz="3400" dirty="0"/>
          </a:p>
        </p:txBody>
      </p:sp>
      <p:sp>
        <p:nvSpPr>
          <p:cNvPr id="4" name="Shape 2"/>
          <p:cNvSpPr/>
          <p:nvPr/>
        </p:nvSpPr>
        <p:spPr>
          <a:xfrm>
            <a:off x="685800" y="2057400"/>
            <a:ext cx="1909267" cy="2331720"/>
          </a:xfrm>
          <a:prstGeom prst="roundRect">
            <a:avLst>
              <a:gd name="adj" fmla="val 3831"/>
            </a:avLst>
          </a:prstGeom>
          <a:solidFill>
            <a:srgbClr val="EEF1F8"/>
          </a:solidFill>
          <a:ln w="9525">
            <a:solidFill>
              <a:srgbClr val="D8DDEA"/>
            </a:solidFill>
            <a:prstDash val="solid"/>
          </a:ln>
        </p:spPr>
      </p:sp>
      <p:sp>
        <p:nvSpPr>
          <p:cNvPr id="5" name="Shape 3"/>
          <p:cNvSpPr/>
          <p:nvPr/>
        </p:nvSpPr>
        <p:spPr>
          <a:xfrm>
            <a:off x="941832" y="2331720"/>
            <a:ext cx="384048" cy="384048"/>
          </a:xfrm>
          <a:prstGeom prst="ellipse">
            <a:avLst/>
          </a:prstGeom>
          <a:solidFill>
            <a:srgbClr val="C08829"/>
          </a:solidFill>
          <a:ln/>
        </p:spPr>
      </p:sp>
      <p:sp>
        <p:nvSpPr>
          <p:cNvPr id="6" name="Text 4"/>
          <p:cNvSpPr txBox="1"/>
          <p:nvPr/>
        </p:nvSpPr>
        <p:spPr>
          <a:xfrm>
            <a:off x="941832"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941832" y="2852928"/>
            <a:ext cx="1397203"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Fund</a:t>
            </a:r>
            <a:endParaRPr lang="en-US" sz="1500" dirty="0"/>
          </a:p>
        </p:txBody>
      </p:sp>
      <p:sp>
        <p:nvSpPr>
          <p:cNvPr id="8" name="Text 6"/>
          <p:cNvSpPr txBox="1"/>
          <p:nvPr/>
        </p:nvSpPr>
        <p:spPr>
          <a:xfrm>
            <a:off x="941832" y="3310128"/>
            <a:ext cx="1397203"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Local account → Coins.ph</a:t>
            </a:r>
            <a:endParaRPr lang="en-US" sz="1200" dirty="0"/>
          </a:p>
        </p:txBody>
      </p:sp>
      <p:sp>
        <p:nvSpPr>
          <p:cNvPr id="9" name="Shape 7"/>
          <p:cNvSpPr/>
          <p:nvPr/>
        </p:nvSpPr>
        <p:spPr>
          <a:xfrm>
            <a:off x="2905963" y="2057400"/>
            <a:ext cx="1909267" cy="2331720"/>
          </a:xfrm>
          <a:prstGeom prst="roundRect">
            <a:avLst>
              <a:gd name="adj" fmla="val 3831"/>
            </a:avLst>
          </a:prstGeom>
          <a:solidFill>
            <a:srgbClr val="EEF1F8"/>
          </a:solidFill>
          <a:ln w="9525">
            <a:solidFill>
              <a:srgbClr val="D8DDEA"/>
            </a:solidFill>
            <a:prstDash val="solid"/>
          </a:ln>
        </p:spPr>
      </p:sp>
      <p:sp>
        <p:nvSpPr>
          <p:cNvPr id="10" name="Shape 8"/>
          <p:cNvSpPr/>
          <p:nvPr/>
        </p:nvSpPr>
        <p:spPr>
          <a:xfrm>
            <a:off x="3161995" y="2331720"/>
            <a:ext cx="384048" cy="384048"/>
          </a:xfrm>
          <a:prstGeom prst="ellipse">
            <a:avLst/>
          </a:prstGeom>
          <a:solidFill>
            <a:srgbClr val="C08829"/>
          </a:solidFill>
          <a:ln/>
        </p:spPr>
      </p:sp>
      <p:sp>
        <p:nvSpPr>
          <p:cNvPr id="11" name="Text 9"/>
          <p:cNvSpPr txBox="1"/>
          <p:nvPr/>
        </p:nvSpPr>
        <p:spPr>
          <a:xfrm>
            <a:off x="3161995"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3161995" y="2852928"/>
            <a:ext cx="1397203"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Convert</a:t>
            </a:r>
            <a:endParaRPr lang="en-US" sz="1500" dirty="0"/>
          </a:p>
        </p:txBody>
      </p:sp>
      <p:sp>
        <p:nvSpPr>
          <p:cNvPr id="13" name="Text 11"/>
          <p:cNvSpPr txBox="1"/>
          <p:nvPr/>
        </p:nvSpPr>
        <p:spPr>
          <a:xfrm>
            <a:off x="3161995" y="3310128"/>
            <a:ext cx="1397203"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PHP → USDT/USDC</a:t>
            </a:r>
            <a:endParaRPr lang="en-US" sz="1200" dirty="0"/>
          </a:p>
        </p:txBody>
      </p:sp>
      <p:sp>
        <p:nvSpPr>
          <p:cNvPr id="14" name="Shape 12"/>
          <p:cNvSpPr/>
          <p:nvPr/>
        </p:nvSpPr>
        <p:spPr>
          <a:xfrm>
            <a:off x="5126126" y="2057400"/>
            <a:ext cx="1909267" cy="2331720"/>
          </a:xfrm>
          <a:prstGeom prst="roundRect">
            <a:avLst>
              <a:gd name="adj" fmla="val 3831"/>
            </a:avLst>
          </a:prstGeom>
          <a:solidFill>
            <a:srgbClr val="EEF1F8"/>
          </a:solidFill>
          <a:ln w="9525">
            <a:solidFill>
              <a:srgbClr val="D8DDEA"/>
            </a:solidFill>
            <a:prstDash val="solid"/>
          </a:ln>
        </p:spPr>
      </p:sp>
      <p:sp>
        <p:nvSpPr>
          <p:cNvPr id="15" name="Shape 13"/>
          <p:cNvSpPr/>
          <p:nvPr/>
        </p:nvSpPr>
        <p:spPr>
          <a:xfrm>
            <a:off x="5382158" y="2331720"/>
            <a:ext cx="384048" cy="384048"/>
          </a:xfrm>
          <a:prstGeom prst="ellipse">
            <a:avLst/>
          </a:prstGeom>
          <a:solidFill>
            <a:srgbClr val="C08829"/>
          </a:solidFill>
          <a:ln/>
        </p:spPr>
      </p:sp>
      <p:sp>
        <p:nvSpPr>
          <p:cNvPr id="16" name="Text 14"/>
          <p:cNvSpPr txBox="1"/>
          <p:nvPr/>
        </p:nvSpPr>
        <p:spPr>
          <a:xfrm>
            <a:off x="5382158"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5382158" y="2852928"/>
            <a:ext cx="1397203"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Transfer</a:t>
            </a:r>
            <a:endParaRPr lang="en-US" sz="1500" dirty="0"/>
          </a:p>
        </p:txBody>
      </p:sp>
      <p:sp>
        <p:nvSpPr>
          <p:cNvPr id="18" name="Text 16"/>
          <p:cNvSpPr txBox="1"/>
          <p:nvPr/>
        </p:nvSpPr>
        <p:spPr>
          <a:xfrm>
            <a:off x="5382158" y="3310128"/>
            <a:ext cx="1397203"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Coins.ph → Binance</a:t>
            </a:r>
            <a:endParaRPr lang="en-US" sz="1200" dirty="0"/>
          </a:p>
        </p:txBody>
      </p:sp>
      <p:sp>
        <p:nvSpPr>
          <p:cNvPr id="19" name="Shape 17"/>
          <p:cNvSpPr/>
          <p:nvPr/>
        </p:nvSpPr>
        <p:spPr>
          <a:xfrm>
            <a:off x="7346290" y="2057400"/>
            <a:ext cx="1909267" cy="2331720"/>
          </a:xfrm>
          <a:prstGeom prst="roundRect">
            <a:avLst>
              <a:gd name="adj" fmla="val 3831"/>
            </a:avLst>
          </a:prstGeom>
          <a:solidFill>
            <a:srgbClr val="EEF1F8"/>
          </a:solidFill>
          <a:ln w="9525">
            <a:solidFill>
              <a:srgbClr val="D8DDEA"/>
            </a:solidFill>
            <a:prstDash val="solid"/>
          </a:ln>
        </p:spPr>
      </p:sp>
      <p:sp>
        <p:nvSpPr>
          <p:cNvPr id="20" name="Shape 18"/>
          <p:cNvSpPr/>
          <p:nvPr/>
        </p:nvSpPr>
        <p:spPr>
          <a:xfrm>
            <a:off x="7602322" y="2331720"/>
            <a:ext cx="384048" cy="384048"/>
          </a:xfrm>
          <a:prstGeom prst="ellipse">
            <a:avLst/>
          </a:prstGeom>
          <a:solidFill>
            <a:srgbClr val="C08829"/>
          </a:solidFill>
          <a:ln/>
        </p:spPr>
      </p:sp>
      <p:sp>
        <p:nvSpPr>
          <p:cNvPr id="21" name="Text 19"/>
          <p:cNvSpPr txBox="1"/>
          <p:nvPr/>
        </p:nvSpPr>
        <p:spPr>
          <a:xfrm>
            <a:off x="7602322"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7602322" y="2852928"/>
            <a:ext cx="1397203"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Navigate</a:t>
            </a:r>
            <a:endParaRPr lang="en-US" sz="1500" dirty="0"/>
          </a:p>
        </p:txBody>
      </p:sp>
      <p:sp>
        <p:nvSpPr>
          <p:cNvPr id="23" name="Text 21"/>
          <p:cNvSpPr txBox="1"/>
          <p:nvPr/>
        </p:nvSpPr>
        <p:spPr>
          <a:xfrm>
            <a:off x="7602322" y="3310128"/>
            <a:ext cx="1397203"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Home → Trade → Assets</a:t>
            </a:r>
            <a:endParaRPr lang="en-US" sz="1200" dirty="0"/>
          </a:p>
        </p:txBody>
      </p:sp>
      <p:sp>
        <p:nvSpPr>
          <p:cNvPr id="24" name="Shape 22"/>
          <p:cNvSpPr/>
          <p:nvPr/>
        </p:nvSpPr>
        <p:spPr>
          <a:xfrm>
            <a:off x="9566453" y="2057400"/>
            <a:ext cx="1909267" cy="2331720"/>
          </a:xfrm>
          <a:prstGeom prst="roundRect">
            <a:avLst>
              <a:gd name="adj" fmla="val 3831"/>
            </a:avLst>
          </a:prstGeom>
          <a:solidFill>
            <a:srgbClr val="EEF1F8"/>
          </a:solidFill>
          <a:ln w="9525">
            <a:solidFill>
              <a:srgbClr val="D8DDEA"/>
            </a:solidFill>
            <a:prstDash val="solid"/>
          </a:ln>
        </p:spPr>
      </p:sp>
      <p:sp>
        <p:nvSpPr>
          <p:cNvPr id="25" name="Shape 23"/>
          <p:cNvSpPr/>
          <p:nvPr/>
        </p:nvSpPr>
        <p:spPr>
          <a:xfrm>
            <a:off x="9822485" y="2331720"/>
            <a:ext cx="384048" cy="384048"/>
          </a:xfrm>
          <a:prstGeom prst="ellipse">
            <a:avLst/>
          </a:prstGeom>
          <a:solidFill>
            <a:srgbClr val="C08829"/>
          </a:solidFill>
          <a:ln/>
        </p:spPr>
      </p:sp>
      <p:sp>
        <p:nvSpPr>
          <p:cNvPr id="26" name="Text 24"/>
          <p:cNvSpPr txBox="1"/>
          <p:nvPr/>
        </p:nvSpPr>
        <p:spPr>
          <a:xfrm>
            <a:off x="9822485"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9822485" y="2852928"/>
            <a:ext cx="1397203"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Acquire</a:t>
            </a:r>
            <a:endParaRPr lang="en-US" sz="1500" dirty="0"/>
          </a:p>
        </p:txBody>
      </p:sp>
      <p:sp>
        <p:nvSpPr>
          <p:cNvPr id="28" name="Text 26"/>
          <p:cNvSpPr txBox="1"/>
          <p:nvPr/>
        </p:nvSpPr>
        <p:spPr>
          <a:xfrm>
            <a:off x="9822485" y="3310128"/>
            <a:ext cx="1397203"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Stablecoin → asset</a:t>
            </a:r>
            <a:endParaRPr lang="en-US" sz="1200" dirty="0"/>
          </a:p>
        </p:txBody>
      </p:sp>
      <p:sp>
        <p:nvSpPr>
          <p:cNvPr id="29" name="Text 27"/>
          <p:cNvSpPr txBox="1"/>
          <p:nvPr/>
        </p:nvSpPr>
        <p:spPr>
          <a:xfrm>
            <a:off x="685800" y="4754880"/>
            <a:ext cx="10607040" cy="109728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Then: Collateralise · Borrow · Manage risk · Apply the principle · Execute. Return to this slide at every module transition — it is how eight pods stay together.</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THE CHECKLIST THAT GOES ON YOUR PHONE</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ASSET → ADDRESS → NETWORK → AMOUNT → FEE → CONFIRM</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5B6480"/>
                </a:solidFill>
                <a:latin typeface="Calibri" pitchFamily="34" charset="0"/>
                <a:ea typeface="Calibri" pitchFamily="34" charset="-122"/>
                <a:cs typeface="Calibri" pitchFamily="34" charset="-120"/>
              </a:rPr>
              <a:t>Six words. Say them with me. The one that ends people is NETWORK — if the asset is right and the address is right but the network is wrong, the money goes somewhere neither Coins.ph nor Binance can retrieve it from. There is no support ticket for that.</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SAY IT PLAINLY</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Wrong network = gone.</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Not recoverable by Coins.ph. Not recoverable by Binance. Not recoverable by support. The address and the network must match — both, every time, including the hundredth time when you are confident and not looking.</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WHY STABLECOINS AT ALL</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Not just another crypto you hold</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The unit you borrow in</a:t>
            </a:r>
            <a:endParaRPr lang="en-US" sz="1700" dirty="0"/>
          </a:p>
        </p:txBody>
      </p:sp>
      <p:sp>
        <p:nvSpPr>
          <p:cNvPr id="7" name="Shape 5"/>
          <p:cNvSpPr/>
          <p:nvPr/>
        </p:nvSpPr>
        <p:spPr>
          <a:xfrm>
            <a:off x="685800" y="3407664"/>
            <a:ext cx="420624" cy="420624"/>
          </a:xfrm>
          <a:prstGeom prst="ellipse">
            <a:avLst/>
          </a:prstGeom>
          <a:solidFill>
            <a:srgbClr val="C08829"/>
          </a:solidFill>
          <a:ln/>
        </p:spPr>
      </p:sp>
      <p:sp>
        <p:nvSpPr>
          <p:cNvPr id="8" name="Text 6"/>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The unit you earn in</a:t>
            </a:r>
            <a:endParaRPr lang="en-US" sz="1700" dirty="0"/>
          </a:p>
        </p:txBody>
      </p:sp>
      <p:sp>
        <p:nvSpPr>
          <p:cNvPr id="10" name="Shape 8"/>
          <p:cNvSpPr/>
          <p:nvPr/>
        </p:nvSpPr>
        <p:spPr>
          <a:xfrm>
            <a:off x="685800" y="4885944"/>
            <a:ext cx="420624" cy="420624"/>
          </a:xfrm>
          <a:prstGeom prst="ellipse">
            <a:avLst/>
          </a:prstGeom>
          <a:solidFill>
            <a:srgbClr val="25774F"/>
          </a:solidFill>
          <a:ln/>
        </p:spPr>
      </p:sp>
      <p:sp>
        <p:nvSpPr>
          <p:cNvPr id="11" name="Text 9"/>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The unit your LTV is measured in</a:t>
            </a:r>
            <a:endParaRPr lang="en-US" sz="1700" dirty="0"/>
          </a:p>
        </p:txBody>
      </p:sp>
      <p:sp>
        <p:nvSpPr>
          <p:cNvPr id="13" name="Text 11"/>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It is the ruler you measure everything else with. If it moved, none of the arithmetic from Level 1 would hold.</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ASSETS</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Four tabs. Only four.</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Overview</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Everything you hold and what it is worth.</a:t>
            </a:r>
            <a:endParaRPr lang="en-US" sz="1350" dirty="0"/>
          </a:p>
        </p:txBody>
      </p:sp>
      <p:sp>
        <p:nvSpPr>
          <p:cNvPr id="8" name="Shape 6"/>
          <p:cNvSpPr/>
          <p:nvPr/>
        </p:nvSpPr>
        <p:spPr>
          <a:xfrm>
            <a:off x="685800" y="3038094"/>
            <a:ext cx="420624" cy="420624"/>
          </a:xfrm>
          <a:prstGeom prst="ellipse">
            <a:avLst/>
          </a:prstGeom>
          <a:solidFill>
            <a:srgbClr val="25774F"/>
          </a:solidFill>
          <a:ln/>
        </p:spPr>
      </p:sp>
      <p:sp>
        <p:nvSpPr>
          <p:cNvPr id="9" name="Text 7"/>
          <p:cNvSpPr txBox="1"/>
          <p:nvPr/>
        </p:nvSpPr>
        <p:spPr>
          <a:xfrm>
            <a:off x="685800" y="303809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98323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Earn</a:t>
            </a:r>
            <a:endParaRPr lang="en-US" sz="1700" dirty="0"/>
          </a:p>
        </p:txBody>
      </p:sp>
      <p:sp>
        <p:nvSpPr>
          <p:cNvPr id="11" name="Text 9"/>
          <p:cNvSpPr txBox="1"/>
          <p:nvPr/>
        </p:nvSpPr>
        <p:spPr>
          <a:xfrm>
            <a:off x="1399032" y="334899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Where lending and borrowing live. The engine room.</a:t>
            </a:r>
            <a:endParaRPr lang="en-US" sz="1350" dirty="0"/>
          </a:p>
        </p:txBody>
      </p:sp>
      <p:sp>
        <p:nvSpPr>
          <p:cNvPr id="12" name="Shape 10"/>
          <p:cNvSpPr/>
          <p:nvPr/>
        </p:nvSpPr>
        <p:spPr>
          <a:xfrm>
            <a:off x="685800" y="4146804"/>
            <a:ext cx="420624" cy="420624"/>
          </a:xfrm>
          <a:prstGeom prst="ellipse">
            <a:avLst/>
          </a:prstGeom>
          <a:solidFill>
            <a:srgbClr val="C08829"/>
          </a:solidFill>
          <a:ln/>
        </p:spPr>
      </p:sp>
      <p:sp>
        <p:nvSpPr>
          <p:cNvPr id="13" name="Text 11"/>
          <p:cNvSpPr txBox="1"/>
          <p:nvPr/>
        </p:nvSpPr>
        <p:spPr>
          <a:xfrm>
            <a:off x="685800" y="41468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09194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Spot</a:t>
            </a:r>
            <a:endParaRPr lang="en-US" sz="1700" dirty="0"/>
          </a:p>
        </p:txBody>
      </p:sp>
      <p:sp>
        <p:nvSpPr>
          <p:cNvPr id="15" name="Text 13"/>
          <p:cNvSpPr txBox="1"/>
          <p:nvPr/>
        </p:nvSpPr>
        <p:spPr>
          <a:xfrm>
            <a:off x="1399032" y="445770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Your actual crypto holdings.</a:t>
            </a:r>
            <a:endParaRPr lang="en-US" sz="1350" dirty="0"/>
          </a:p>
        </p:txBody>
      </p:sp>
      <p:sp>
        <p:nvSpPr>
          <p:cNvPr id="16" name="Shape 14"/>
          <p:cNvSpPr/>
          <p:nvPr/>
        </p:nvSpPr>
        <p:spPr>
          <a:xfrm>
            <a:off x="685800" y="5255514"/>
            <a:ext cx="420624" cy="420624"/>
          </a:xfrm>
          <a:prstGeom prst="ellipse">
            <a:avLst/>
          </a:prstGeom>
          <a:solidFill>
            <a:srgbClr val="C08829"/>
          </a:solidFill>
          <a:ln/>
        </p:spPr>
      </p:sp>
      <p:sp>
        <p:nvSpPr>
          <p:cNvPr id="17" name="Text 15"/>
          <p:cNvSpPr txBox="1"/>
          <p:nvPr/>
        </p:nvSpPr>
        <p:spPr>
          <a:xfrm>
            <a:off x="685800" y="525551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399032" y="520065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Funding</a:t>
            </a:r>
            <a:endParaRPr lang="en-US" sz="1700" dirty="0"/>
          </a:p>
        </p:txBody>
      </p:sp>
      <p:sp>
        <p:nvSpPr>
          <p:cNvPr id="19" name="Text 17"/>
          <p:cNvSpPr txBox="1"/>
          <p:nvPr/>
        </p:nvSpPr>
        <p:spPr>
          <a:xfrm>
            <a:off x="1399032" y="556641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Your funding balance and movements in and out.</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C36"/>
        </a:solidFill>
      </p:bgPr>
    </p:bg>
    <p:spTree>
      <p:nvGrpSpPr>
        <p:cNvPr id="1" name=""/>
        <p:cNvGrpSpPr/>
        <p:nvPr/>
      </p:nvGrpSpPr>
      <p:grpSpPr>
        <a:xfrm>
          <a:off x="0" y="0"/>
          <a:ext cx="0" cy="0"/>
          <a:chOff x="0" y="0"/>
          <a:chExt cx="0" cy="0"/>
        </a:xfrm>
      </p:grpSpPr>
      <p:sp>
        <p:nvSpPr>
          <p:cNvPr id="2" name="Shape 0"/>
          <p:cNvSpPr/>
          <p:nvPr/>
        </p:nvSpPr>
        <p:spPr>
          <a:xfrm>
            <a:off x="685800" y="2331720"/>
            <a:ext cx="868680" cy="868680"/>
          </a:xfrm>
          <a:prstGeom prst="ellipse">
            <a:avLst/>
          </a:prstGeom>
          <a:solidFill>
            <a:srgbClr val="C08829"/>
          </a:solidFill>
          <a:ln/>
        </p:spPr>
      </p:sp>
      <p:sp>
        <p:nvSpPr>
          <p:cNvPr id="3" name="Text 1"/>
          <p:cNvSpPr txBox="1"/>
          <p:nvPr/>
        </p:nvSpPr>
        <p:spPr>
          <a:xfrm>
            <a:off x="685800" y="2331720"/>
            <a:ext cx="868680" cy="868680"/>
          </a:xfrm>
          <a:prstGeom prst="rect">
            <a:avLst/>
          </a:prstGeom>
          <a:noFill/>
          <a:ln/>
        </p:spPr>
        <p:txBody>
          <a:bodyPr wrap="square" lIns="0" tIns="0" rIns="0" bIns="0" rtlCol="0" anchor="ctr"/>
          <a:lstStyle/>
          <a:p>
            <a:pPr algn="ctr" indent="0" marL="0">
              <a:buNone/>
            </a:pPr>
            <a:r>
              <a:rPr lang="en-US" sz="3000" b="1" dirty="0">
                <a:solidFill>
                  <a:srgbClr val="141C36"/>
                </a:solidFill>
                <a:latin typeface="Cambria" pitchFamily="34" charset="0"/>
                <a:ea typeface="Cambria" pitchFamily="34" charset="-122"/>
                <a:cs typeface="Cambria" pitchFamily="34" charset="-120"/>
              </a:rPr>
              <a:t>3</a:t>
            </a:r>
            <a:endParaRPr lang="en-US" sz="3000" dirty="0"/>
          </a:p>
        </p:txBody>
      </p:sp>
      <p:sp>
        <p:nvSpPr>
          <p:cNvPr id="4" name="Text 2"/>
          <p:cNvSpPr txBox="1"/>
          <p:nvPr/>
        </p:nvSpPr>
        <p:spPr>
          <a:xfrm>
            <a:off x="2011680" y="2286000"/>
            <a:ext cx="9814255"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MODULE THREE · 90 MIN · BOTH MODES</a:t>
            </a:r>
            <a:endParaRPr lang="en-US" sz="1000" dirty="0"/>
          </a:p>
        </p:txBody>
      </p:sp>
      <p:sp>
        <p:nvSpPr>
          <p:cNvPr id="5" name="Text 3"/>
          <p:cNvSpPr txBox="1"/>
          <p:nvPr/>
        </p:nvSpPr>
        <p:spPr>
          <a:xfrm>
            <a:off x="2011680" y="2615184"/>
            <a:ext cx="9631375" cy="1097280"/>
          </a:xfrm>
          <a:prstGeom prst="rect">
            <a:avLst/>
          </a:prstGeom>
          <a:noFill/>
          <a:ln/>
        </p:spPr>
        <p:txBody>
          <a:bodyPr wrap="square" lIns="0" tIns="0" rIns="0" bIns="0" rtlCol="0" anchor="ctr"/>
          <a:lstStyle/>
          <a:p>
            <a:pPr indent="0" marL="0">
              <a:buNone/>
            </a:pPr>
            <a:r>
              <a:rPr lang="en-US" sz="4000" b="1" dirty="0">
                <a:solidFill>
                  <a:srgbClr val="F2F4FA"/>
                </a:solidFill>
                <a:latin typeface="Cambria" pitchFamily="34" charset="0"/>
                <a:ea typeface="Cambria" pitchFamily="34" charset="-122"/>
                <a:cs typeface="Cambria" pitchFamily="34" charset="-120"/>
              </a:rPr>
              <a:t>First Execution</a:t>
            </a:r>
            <a:endParaRPr lang="en-US" sz="4000" dirty="0"/>
          </a:p>
        </p:txBody>
      </p:sp>
      <p:sp>
        <p:nvSpPr>
          <p:cNvPr id="6" name="Text 4"/>
          <p:cNvSpPr txBox="1"/>
          <p:nvPr/>
        </p:nvSpPr>
        <p:spPr>
          <a:xfrm>
            <a:off x="2011680" y="3703320"/>
            <a:ext cx="8778240" cy="822960"/>
          </a:xfrm>
          <a:prstGeom prst="rect">
            <a:avLst/>
          </a:prstGeom>
          <a:noFill/>
          <a:ln/>
        </p:spPr>
        <p:txBody>
          <a:bodyPr wrap="square" lIns="0" tIns="0" rIns="0" bIns="0" rtlCol="0" anchor="ctr"/>
          <a:lstStyle/>
          <a:p>
            <a:pPr indent="0" marL="0">
              <a:lnSpc>
                <a:spcPts val="2300"/>
              </a:lnSpc>
              <a:buNone/>
            </a:pPr>
            <a:r>
              <a:rPr lang="en-US" sz="1600" dirty="0">
                <a:solidFill>
                  <a:srgbClr val="A8B0C8"/>
                </a:solidFill>
                <a:latin typeface="Calibri" pitchFamily="34" charset="0"/>
                <a:ea typeface="Calibri" pitchFamily="34" charset="-122"/>
                <a:cs typeface="Calibri" pitchFamily="34" charset="-120"/>
              </a:rPr>
              <a:t>Asset → collateral → borrow → adjust LTV → check liquidation price.</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POSTING COLLATERAL</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Pledged, not sold.</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5B6480"/>
                </a:solidFill>
                <a:latin typeface="Calibri" pitchFamily="34" charset="0"/>
                <a:ea typeface="Calibri" pitchFamily="34" charset="-122"/>
                <a:cs typeface="Calibri" pitchFamily="34" charset="-120"/>
              </a:rPr>
              <a:t>Nothing about your Bitcoin changed — you still own the same amount. What changed is that the platform now has a claim on it. Exactly like a title deposited with a bank, except it took four seconds instead of six weeks.</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B4720F"/>
                </a:solidFill>
                <a:latin typeface="Calibri" pitchFamily="34" charset="0"/>
                <a:ea typeface="Calibri" pitchFamily="34" charset="-122"/>
                <a:cs typeface="Calibri" pitchFamily="34" charset="-120"/>
              </a:rPr>
              <a:t>THE PLATFORM WILL OFFER YOU ITS MAXIMUM</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That is not advice.</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The platform earns on the loan. Its interests and yours are not the same, and there is no rule that says the number it offers is a number you should take. Level 1, drill one: 78% LTV, a 10% drop, margin call. This is the screen where that decision gets made.</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SET THE SLIDER TO 30%</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Not the platform’s max. Not 50. Thirty.</a:t>
            </a:r>
            <a:endParaRPr lang="en-US" sz="3400" dirty="0"/>
          </a:p>
        </p:txBody>
      </p:sp>
      <p:sp>
        <p:nvSpPr>
          <p:cNvPr id="4" name="Shape 2"/>
          <p:cNvSpPr/>
          <p:nvPr/>
        </p:nvSpPr>
        <p:spPr>
          <a:xfrm>
            <a:off x="685800" y="1965960"/>
            <a:ext cx="3352800" cy="2377440"/>
          </a:xfrm>
          <a:prstGeom prst="roundRect">
            <a:avLst>
              <a:gd name="adj" fmla="val 3077"/>
            </a:avLst>
          </a:prstGeom>
          <a:solidFill>
            <a:srgbClr val="EEF1F8"/>
          </a:solidFill>
          <a:ln w="9525">
            <a:solidFill>
              <a:srgbClr val="D8DDEA"/>
            </a:solidFill>
            <a:prstDash val="solid"/>
          </a:ln>
        </p:spPr>
      </p:sp>
      <p:sp>
        <p:nvSpPr>
          <p:cNvPr id="5" name="Text 3"/>
          <p:cNvSpPr txBox="1"/>
          <p:nvPr/>
        </p:nvSpPr>
        <p:spPr>
          <a:xfrm>
            <a:off x="868680" y="2267712"/>
            <a:ext cx="2987040" cy="1051560"/>
          </a:xfrm>
          <a:prstGeom prst="rect">
            <a:avLst/>
          </a:prstGeom>
          <a:noFill/>
          <a:ln/>
        </p:spPr>
        <p:txBody>
          <a:bodyPr wrap="square" lIns="0" tIns="0" rIns="0" bIns="0" rtlCol="0" anchor="ctr"/>
          <a:lstStyle/>
          <a:p>
            <a:pPr algn="ctr" indent="0" marL="0">
              <a:buNone/>
            </a:pPr>
            <a:r>
              <a:rPr lang="en-US" sz="4600" b="1" dirty="0">
                <a:solidFill>
                  <a:srgbClr val="25774F"/>
                </a:solidFill>
                <a:latin typeface="Cambria" pitchFamily="34" charset="0"/>
                <a:ea typeface="Cambria" pitchFamily="34" charset="-122"/>
                <a:cs typeface="Cambria" pitchFamily="34" charset="-120"/>
              </a:rPr>
              <a:t>30%</a:t>
            </a:r>
            <a:endParaRPr lang="en-US" sz="4600" dirty="0"/>
          </a:p>
        </p:txBody>
      </p:sp>
      <p:sp>
        <p:nvSpPr>
          <p:cNvPr id="6" name="Text 4"/>
          <p:cNvSpPr txBox="1"/>
          <p:nvPr/>
        </p:nvSpPr>
        <p:spPr>
          <a:xfrm>
            <a:off x="86868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survives a 67% drawdown</a:t>
            </a:r>
            <a:endParaRPr lang="en-US" sz="1300" dirty="0"/>
          </a:p>
        </p:txBody>
      </p:sp>
      <p:sp>
        <p:nvSpPr>
          <p:cNvPr id="7" name="Shape 5"/>
          <p:cNvSpPr/>
          <p:nvPr/>
        </p:nvSpPr>
        <p:spPr>
          <a:xfrm>
            <a:off x="4404360" y="1965960"/>
            <a:ext cx="3352800" cy="2377440"/>
          </a:xfrm>
          <a:prstGeom prst="roundRect">
            <a:avLst>
              <a:gd name="adj" fmla="val 3077"/>
            </a:avLst>
          </a:prstGeom>
          <a:solidFill>
            <a:srgbClr val="EEF1F8"/>
          </a:solidFill>
          <a:ln w="9525">
            <a:solidFill>
              <a:srgbClr val="D8DDEA"/>
            </a:solidFill>
            <a:prstDash val="solid"/>
          </a:ln>
        </p:spPr>
      </p:sp>
      <p:sp>
        <p:nvSpPr>
          <p:cNvPr id="8" name="Text 6"/>
          <p:cNvSpPr txBox="1"/>
          <p:nvPr/>
        </p:nvSpPr>
        <p:spPr>
          <a:xfrm>
            <a:off x="4587240" y="2267712"/>
            <a:ext cx="2987040" cy="1051560"/>
          </a:xfrm>
          <a:prstGeom prst="rect">
            <a:avLst/>
          </a:prstGeom>
          <a:noFill/>
          <a:ln/>
        </p:spPr>
        <p:txBody>
          <a:bodyPr wrap="square" lIns="0" tIns="0" rIns="0" bIns="0" rtlCol="0" anchor="ctr"/>
          <a:lstStyle/>
          <a:p>
            <a:pPr algn="ctr" indent="0" marL="0">
              <a:buNone/>
            </a:pPr>
            <a:r>
              <a:rPr lang="en-US" sz="4600" b="1" dirty="0">
                <a:solidFill>
                  <a:srgbClr val="B4720F"/>
                </a:solidFill>
                <a:latin typeface="Cambria" pitchFamily="34" charset="0"/>
                <a:ea typeface="Cambria" pitchFamily="34" charset="-122"/>
                <a:cs typeface="Cambria" pitchFamily="34" charset="-120"/>
              </a:rPr>
              <a:t>50%</a:t>
            </a:r>
            <a:endParaRPr lang="en-US" sz="4600" dirty="0"/>
          </a:p>
        </p:txBody>
      </p:sp>
      <p:sp>
        <p:nvSpPr>
          <p:cNvPr id="9" name="Text 7"/>
          <p:cNvSpPr txBox="1"/>
          <p:nvPr/>
        </p:nvSpPr>
        <p:spPr>
          <a:xfrm>
            <a:off x="458724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survives 45%</a:t>
            </a:r>
            <a:endParaRPr lang="en-US" sz="1300" dirty="0"/>
          </a:p>
        </p:txBody>
      </p:sp>
      <p:sp>
        <p:nvSpPr>
          <p:cNvPr id="10" name="Shape 8"/>
          <p:cNvSpPr/>
          <p:nvPr/>
        </p:nvSpPr>
        <p:spPr>
          <a:xfrm>
            <a:off x="8122920" y="1965960"/>
            <a:ext cx="3352800" cy="2377440"/>
          </a:xfrm>
          <a:prstGeom prst="roundRect">
            <a:avLst>
              <a:gd name="adj" fmla="val 3077"/>
            </a:avLst>
          </a:prstGeom>
          <a:solidFill>
            <a:srgbClr val="EEF1F8"/>
          </a:solidFill>
          <a:ln w="9525">
            <a:solidFill>
              <a:srgbClr val="D8DDEA"/>
            </a:solidFill>
            <a:prstDash val="solid"/>
          </a:ln>
        </p:spPr>
      </p:sp>
      <p:sp>
        <p:nvSpPr>
          <p:cNvPr id="11" name="Text 9"/>
          <p:cNvSpPr txBox="1"/>
          <p:nvPr/>
        </p:nvSpPr>
        <p:spPr>
          <a:xfrm>
            <a:off x="8305800" y="2267712"/>
            <a:ext cx="2987040" cy="1051560"/>
          </a:xfrm>
          <a:prstGeom prst="rect">
            <a:avLst/>
          </a:prstGeom>
          <a:noFill/>
          <a:ln/>
        </p:spPr>
        <p:txBody>
          <a:bodyPr wrap="square" lIns="0" tIns="0" rIns="0" bIns="0" rtlCol="0" anchor="ctr"/>
          <a:lstStyle/>
          <a:p>
            <a:pPr algn="ctr" indent="0" marL="0">
              <a:buNone/>
            </a:pPr>
            <a:r>
              <a:rPr lang="en-US" sz="4600" b="1" dirty="0">
                <a:solidFill>
                  <a:srgbClr val="A82F26"/>
                </a:solidFill>
                <a:latin typeface="Cambria" pitchFamily="34" charset="0"/>
                <a:ea typeface="Cambria" pitchFamily="34" charset="-122"/>
                <a:cs typeface="Cambria" pitchFamily="34" charset="-120"/>
              </a:rPr>
              <a:t>78%</a:t>
            </a:r>
            <a:endParaRPr lang="en-US" sz="4600" dirty="0"/>
          </a:p>
        </p:txBody>
      </p:sp>
      <p:sp>
        <p:nvSpPr>
          <p:cNvPr id="12" name="Text 10"/>
          <p:cNvSpPr txBox="1"/>
          <p:nvPr/>
        </p:nvSpPr>
        <p:spPr>
          <a:xfrm>
            <a:off x="830580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survives 14%</a:t>
            </a:r>
            <a:endParaRPr lang="en-US" sz="1300" dirty="0"/>
          </a:p>
        </p:txBody>
      </p:sp>
      <p:sp>
        <p:nvSpPr>
          <p:cNvPr id="13" name="Text 11"/>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Bitcoin has fallen more than 45% three times in the last eight years. Thirty is not caution — it is the number that survives the actual history of this asset.</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FORMULA</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Liquidation price = entry × (LTV ÷ 0.91)</a:t>
            </a:r>
            <a:endParaRPr lang="en-US" sz="3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789920" cy="914400"/>
        </p:xfrm>
        <a:graphic>
          <a:graphicData uri="http://schemas.openxmlformats.org/drawingml/2006/table">
            <a:tbl>
              <a:tblPr/>
              <a:tblGrid>
                <a:gridCol w="2194560"/>
                <a:gridCol w="2011680"/>
                <a:gridCol w="3291840"/>
                <a:gridCol w="3291840"/>
              </a:tblGrid>
              <a:tr h="384048">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Your LTV</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Multiplier</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If you entered at $100,000</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150" b="1" dirty="0">
                          <a:solidFill>
                            <a:srgbClr val="8A92A8"/>
                          </a:solidFill>
                          <a:latin typeface="Calibri" pitchFamily="34" charset="0"/>
                          <a:ea typeface="Calibri" pitchFamily="34" charset="-122"/>
                          <a:cs typeface="Calibri" pitchFamily="34" charset="-120"/>
                        </a:rPr>
                        <a:t>Distance from entry</a:t>
                      </a:r>
                      <a:endParaRPr lang="en-US" sz="115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 0.33</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25774F"/>
                          </a:solidFill>
                          <a:latin typeface="Calibri" pitchFamily="34" charset="0"/>
                          <a:ea typeface="Calibri" pitchFamily="34" charset="-122"/>
                          <a:cs typeface="Calibri" pitchFamily="34" charset="-120"/>
                        </a:rPr>
                        <a:t>$32,967</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25774F"/>
                          </a:solidFill>
                          <a:latin typeface="Calibri" pitchFamily="34" charset="0"/>
                          <a:ea typeface="Calibri" pitchFamily="34" charset="-122"/>
                          <a:cs typeface="Calibri" pitchFamily="34" charset="-120"/>
                        </a:rPr>
                        <a:t>−67%</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 0.55</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$54,945</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B4720F"/>
                          </a:solidFill>
                          <a:latin typeface="Calibri" pitchFamily="34" charset="0"/>
                          <a:ea typeface="Calibri" pitchFamily="34" charset="-122"/>
                          <a:cs typeface="Calibri" pitchFamily="34" charset="-120"/>
                        </a:rPr>
                        <a:t>−45%</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78%</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1A2340"/>
                          </a:solidFill>
                          <a:latin typeface="Calibri" pitchFamily="34" charset="0"/>
                          <a:ea typeface="Calibri" pitchFamily="34" charset="-122"/>
                          <a:cs typeface="Calibri" pitchFamily="34" charset="-120"/>
                        </a:rPr>
                        <a:t>× 0.857</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b="1" dirty="0">
                          <a:solidFill>
                            <a:srgbClr val="A82F26"/>
                          </a:solidFill>
                          <a:latin typeface="Calibri" pitchFamily="34" charset="0"/>
                          <a:ea typeface="Calibri" pitchFamily="34" charset="-122"/>
                          <a:cs typeface="Calibri" pitchFamily="34" charset="-120"/>
                        </a:rPr>
                        <a:t>$85,714</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c>
                  <a:txBody>
                    <a:bodyPr/>
                    <a:lstStyle/>
                    <a:p>
                      <a:pPr indent="0" marL="0">
                        <a:buNone/>
                      </a:pPr>
                      <a:r>
                        <a:rPr lang="en-US" sz="1300" dirty="0">
                          <a:solidFill>
                            <a:srgbClr val="A82F26"/>
                          </a:solidFill>
                          <a:latin typeface="Calibri" pitchFamily="34" charset="0"/>
                          <a:ea typeface="Calibri" pitchFamily="34" charset="-122"/>
                          <a:cs typeface="Calibri" pitchFamily="34" charset="-120"/>
                        </a:rPr>
                        <a:t>−14%, a bad week away</a:t>
                      </a:r>
                      <a:endParaRPr lang="en-US" sz="1300" dirty="0">
                        <a:latin typeface="Calibri" charset="0"/>
                        <a:ea typeface="Calibri" charset="0"/>
                        <a:cs typeface="Calibri" charset="0"/>
                      </a:endParaRPr>
                    </a:p>
                  </a:txBody>
                  <a:tcPr marL="127000" marR="127000" marT="76200" marB="762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9525" cap="flat" cmpd="sng" algn="ctr">
                      <a:solidFill>
                        <a:srgbClr val="D8D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5715000"/>
            <a:ext cx="10607040" cy="731520"/>
          </a:xfrm>
          <a:prstGeom prst="rect">
            <a:avLst/>
          </a:prstGeom>
          <a:noFill/>
          <a:ln/>
        </p:spPr>
        <p:txBody>
          <a:bodyPr wrap="square" lIns="0" tIns="0" rIns="0" bIns="0" rtlCol="0" anchor="ctr"/>
          <a:lstStyle/>
          <a:p>
            <a:pPr indent="0" marL="0">
              <a:lnSpc>
                <a:spcPts val="1900"/>
              </a:lnSpc>
              <a:buNone/>
            </a:pPr>
            <a:r>
              <a:rPr lang="en-US" sz="1300" i="1" dirty="0">
                <a:solidFill>
                  <a:srgbClr val="5B6480"/>
                </a:solidFill>
                <a:latin typeface="Calibri" pitchFamily="34" charset="0"/>
                <a:ea typeface="Calibri" pitchFamily="34" charset="-122"/>
                <a:cs typeface="Calibri" pitchFamily="34" charset="-120"/>
              </a:rPr>
              <a:t>Same asset. Same money. One slider.</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B4720F"/>
                </a:solidFill>
                <a:latin typeface="Calibri" pitchFamily="34" charset="0"/>
                <a:ea typeface="Calibri" pitchFamily="34" charset="-122"/>
                <a:cs typeface="Calibri" pitchFamily="34" charset="-120"/>
              </a:rPr>
              <a:t>GATE</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Write it on paper. Not a screenshot.</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5B6480"/>
                </a:solidFill>
                <a:latin typeface="Calibri" pitchFamily="34" charset="0"/>
                <a:ea typeface="Calibri" pitchFamily="34" charset="-122"/>
                <a:cs typeface="Calibri" pitchFamily="34" charset="-120"/>
              </a:rPr>
              <a:t>“If Bitcoin reaches ________, I have already lost the position.” In your own handwriting. Coaches — every person, every pod. Nobody moves to the execution phases without it.</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HANDS ON</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Three phases — you do it, coaches watch</a:t>
            </a:r>
            <a:endParaRPr lang="en-US" sz="3400" dirty="0"/>
          </a:p>
        </p:txBody>
      </p:sp>
      <p:sp>
        <p:nvSpPr>
          <p:cNvPr id="4" name="Shape 2"/>
          <p:cNvSpPr/>
          <p:nvPr/>
        </p:nvSpPr>
        <p:spPr>
          <a:xfrm>
            <a:off x="685800" y="2057400"/>
            <a:ext cx="3389376" cy="2331720"/>
          </a:xfrm>
          <a:prstGeom prst="roundRect">
            <a:avLst>
              <a:gd name="adj" fmla="val 3137"/>
            </a:avLst>
          </a:prstGeom>
          <a:solidFill>
            <a:srgbClr val="EEF1F8"/>
          </a:solidFill>
          <a:ln w="9525">
            <a:solidFill>
              <a:srgbClr val="D8DDEA"/>
            </a:solidFill>
            <a:prstDash val="solid"/>
          </a:ln>
        </p:spPr>
      </p:sp>
      <p:sp>
        <p:nvSpPr>
          <p:cNvPr id="5" name="Shape 3"/>
          <p:cNvSpPr/>
          <p:nvPr/>
        </p:nvSpPr>
        <p:spPr>
          <a:xfrm>
            <a:off x="941832" y="2331720"/>
            <a:ext cx="384048" cy="384048"/>
          </a:xfrm>
          <a:prstGeom prst="ellipse">
            <a:avLst/>
          </a:prstGeom>
          <a:solidFill>
            <a:srgbClr val="C08829"/>
          </a:solidFill>
          <a:ln/>
        </p:spPr>
      </p:sp>
      <p:sp>
        <p:nvSpPr>
          <p:cNvPr id="6" name="Text 4"/>
          <p:cNvSpPr txBox="1"/>
          <p:nvPr/>
        </p:nvSpPr>
        <p:spPr>
          <a:xfrm>
            <a:off x="941832"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941832" y="2852928"/>
            <a:ext cx="2877312"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Phase A · Coins.ph</a:t>
            </a:r>
            <a:endParaRPr lang="en-US" sz="1500" dirty="0"/>
          </a:p>
        </p:txBody>
      </p:sp>
      <p:sp>
        <p:nvSpPr>
          <p:cNvPr id="8" name="Text 6"/>
          <p:cNvSpPr txBox="1"/>
          <p:nvPr/>
        </p:nvSpPr>
        <p:spPr>
          <a:xfrm>
            <a:off x="941832" y="3310128"/>
            <a:ext cx="2877312"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Fund → buy stablecoin → prepare transfer. The six-word checklist read aloud before anyone sends.</a:t>
            </a:r>
            <a:endParaRPr lang="en-US" sz="1200" dirty="0"/>
          </a:p>
        </p:txBody>
      </p:sp>
      <p:sp>
        <p:nvSpPr>
          <p:cNvPr id="9" name="Shape 7"/>
          <p:cNvSpPr/>
          <p:nvPr/>
        </p:nvSpPr>
        <p:spPr>
          <a:xfrm>
            <a:off x="4386072" y="2057400"/>
            <a:ext cx="3389376" cy="2331720"/>
          </a:xfrm>
          <a:prstGeom prst="roundRect">
            <a:avLst>
              <a:gd name="adj" fmla="val 3137"/>
            </a:avLst>
          </a:prstGeom>
          <a:solidFill>
            <a:srgbClr val="EEF1F8"/>
          </a:solidFill>
          <a:ln w="9525">
            <a:solidFill>
              <a:srgbClr val="D8DDEA"/>
            </a:solidFill>
            <a:prstDash val="solid"/>
          </a:ln>
        </p:spPr>
      </p:sp>
      <p:sp>
        <p:nvSpPr>
          <p:cNvPr id="10" name="Shape 8"/>
          <p:cNvSpPr/>
          <p:nvPr/>
        </p:nvSpPr>
        <p:spPr>
          <a:xfrm>
            <a:off x="4642104" y="2331720"/>
            <a:ext cx="384048" cy="384048"/>
          </a:xfrm>
          <a:prstGeom prst="ellipse">
            <a:avLst/>
          </a:prstGeom>
          <a:solidFill>
            <a:srgbClr val="C08829"/>
          </a:solidFill>
          <a:ln/>
        </p:spPr>
      </p:sp>
      <p:sp>
        <p:nvSpPr>
          <p:cNvPr id="11" name="Text 9"/>
          <p:cNvSpPr txBox="1"/>
          <p:nvPr/>
        </p:nvSpPr>
        <p:spPr>
          <a:xfrm>
            <a:off x="4642104"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4642104" y="2852928"/>
            <a:ext cx="2877312"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Phase B · Binance</a:t>
            </a:r>
            <a:endParaRPr lang="en-US" sz="1500" dirty="0"/>
          </a:p>
        </p:txBody>
      </p:sp>
      <p:sp>
        <p:nvSpPr>
          <p:cNvPr id="13" name="Text 11"/>
          <p:cNvSpPr txBox="1"/>
          <p:nvPr/>
        </p:nvSpPr>
        <p:spPr>
          <a:xfrm>
            <a:off x="4642104" y="3310128"/>
            <a:ext cx="2877312"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Receive → verify asset → trade. Do not trade until you have SEEN the arrival.</a:t>
            </a:r>
            <a:endParaRPr lang="en-US" sz="1200" dirty="0"/>
          </a:p>
        </p:txBody>
      </p:sp>
      <p:sp>
        <p:nvSpPr>
          <p:cNvPr id="14" name="Shape 12"/>
          <p:cNvSpPr/>
          <p:nvPr/>
        </p:nvSpPr>
        <p:spPr>
          <a:xfrm>
            <a:off x="8086344" y="2057400"/>
            <a:ext cx="3389376" cy="2331720"/>
          </a:xfrm>
          <a:prstGeom prst="roundRect">
            <a:avLst>
              <a:gd name="adj" fmla="val 3137"/>
            </a:avLst>
          </a:prstGeom>
          <a:solidFill>
            <a:srgbClr val="EEF1F8"/>
          </a:solidFill>
          <a:ln w="9525">
            <a:solidFill>
              <a:srgbClr val="D8DDEA"/>
            </a:solidFill>
            <a:prstDash val="solid"/>
          </a:ln>
        </p:spPr>
      </p:sp>
      <p:sp>
        <p:nvSpPr>
          <p:cNvPr id="15" name="Shape 13"/>
          <p:cNvSpPr/>
          <p:nvPr/>
        </p:nvSpPr>
        <p:spPr>
          <a:xfrm>
            <a:off x="8342376" y="2331720"/>
            <a:ext cx="384048" cy="384048"/>
          </a:xfrm>
          <a:prstGeom prst="ellipse">
            <a:avLst/>
          </a:prstGeom>
          <a:solidFill>
            <a:srgbClr val="25774F"/>
          </a:solidFill>
          <a:ln/>
        </p:spPr>
      </p:sp>
      <p:sp>
        <p:nvSpPr>
          <p:cNvPr id="16" name="Text 14"/>
          <p:cNvSpPr txBox="1"/>
          <p:nvPr/>
        </p:nvSpPr>
        <p:spPr>
          <a:xfrm>
            <a:off x="8342376" y="2331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8342376" y="2852928"/>
            <a:ext cx="2877312" cy="457200"/>
          </a:xfrm>
          <a:prstGeom prst="rect">
            <a:avLst/>
          </a:prstGeom>
          <a:noFill/>
          <a:ln/>
        </p:spPr>
        <p:txBody>
          <a:bodyPr wrap="square" lIns="0" tIns="0" rIns="0" bIns="0" rtlCol="0" anchor="ctr"/>
          <a:lstStyle/>
          <a:p>
            <a:pPr indent="0" marL="0">
              <a:buNone/>
            </a:pPr>
            <a:r>
              <a:rPr lang="en-US" sz="1500" b="1" dirty="0">
                <a:solidFill>
                  <a:srgbClr val="1A2340"/>
                </a:solidFill>
                <a:latin typeface="Calibri" pitchFamily="34" charset="0"/>
                <a:ea typeface="Calibri" pitchFamily="34" charset="-122"/>
                <a:cs typeface="Calibri" pitchFamily="34" charset="-120"/>
              </a:rPr>
              <a:t>Phase C · The strategy</a:t>
            </a:r>
            <a:endParaRPr lang="en-US" sz="1500" dirty="0"/>
          </a:p>
        </p:txBody>
      </p:sp>
      <p:sp>
        <p:nvSpPr>
          <p:cNvPr id="18" name="Text 16"/>
          <p:cNvSpPr txBox="1"/>
          <p:nvPr/>
        </p:nvSpPr>
        <p:spPr>
          <a:xfrm>
            <a:off x="8342376" y="3310128"/>
            <a:ext cx="2877312" cy="914400"/>
          </a:xfrm>
          <a:prstGeom prst="rect">
            <a:avLst/>
          </a:prstGeom>
          <a:noFill/>
          <a:ln/>
        </p:spPr>
        <p:txBody>
          <a:bodyPr wrap="square" lIns="0" tIns="0" rIns="0" bIns="0" rtlCol="0" anchor="ctr"/>
          <a:lstStyle/>
          <a:p>
            <a:pPr indent="0" marL="0">
              <a:lnSpc>
                <a:spcPts val="1600"/>
              </a:lnSpc>
              <a:buNone/>
            </a:pPr>
            <a:r>
              <a:rPr lang="en-US" sz="1200" dirty="0">
                <a:solidFill>
                  <a:srgbClr val="5B6480"/>
                </a:solidFill>
                <a:latin typeface="Calibri" pitchFamily="34" charset="0"/>
                <a:ea typeface="Calibri" pitchFamily="34" charset="-122"/>
                <a:cs typeface="Calibri" pitchFamily="34" charset="-120"/>
              </a:rPr>
              <a:t>Asset → collateral → borrow → adjust LTV to ≤30% → check liquidation price.</a:t>
            </a:r>
            <a:endParaRPr lang="en-US" sz="1200" dirty="0"/>
          </a:p>
        </p:txBody>
      </p:sp>
      <p:sp>
        <p:nvSpPr>
          <p:cNvPr id="19" name="Text 17"/>
          <p:cNvSpPr txBox="1"/>
          <p:nvPr/>
        </p:nvSpPr>
        <p:spPr>
          <a:xfrm>
            <a:off x="685800" y="4754880"/>
            <a:ext cx="10607040" cy="109728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The lead narrates phase transitions only. Coaches troubleshoot inside pods — the lead never stops for one person’s app.</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PASS GATE</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Your Position Card</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Entry price and amount deployed</a:t>
            </a:r>
            <a:endParaRPr lang="en-US" sz="1700" dirty="0"/>
          </a:p>
        </p:txBody>
      </p:sp>
      <p:sp>
        <p:nvSpPr>
          <p:cNvPr id="7" name="Shape 5"/>
          <p:cNvSpPr/>
          <p:nvPr/>
        </p:nvSpPr>
        <p:spPr>
          <a:xfrm>
            <a:off x="685800" y="2816352"/>
            <a:ext cx="420624" cy="420624"/>
          </a:xfrm>
          <a:prstGeom prst="ellipse">
            <a:avLst/>
          </a:prstGeom>
          <a:solidFill>
            <a:srgbClr val="C08829"/>
          </a:solidFill>
          <a:ln/>
        </p:spPr>
      </p:sp>
      <p:sp>
        <p:nvSpPr>
          <p:cNvPr id="8" name="Text 6"/>
          <p:cNvSpPr txBox="1"/>
          <p:nvPr/>
        </p:nvSpPr>
        <p:spPr>
          <a:xfrm>
            <a:off x="685800" y="28163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399032" y="2761488"/>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Borrowed, and your position LTV</a:t>
            </a:r>
            <a:endParaRPr lang="en-US" sz="1700" dirty="0"/>
          </a:p>
        </p:txBody>
      </p:sp>
      <p:sp>
        <p:nvSpPr>
          <p:cNvPr id="10" name="Text 8"/>
          <p:cNvSpPr txBox="1"/>
          <p:nvPr/>
        </p:nvSpPr>
        <p:spPr>
          <a:xfrm>
            <a:off x="1399032" y="3127248"/>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Must be ≤ 30%.</a:t>
            </a:r>
            <a:endParaRPr lang="en-US" sz="1350" dirty="0"/>
          </a:p>
        </p:txBody>
      </p:sp>
      <p:sp>
        <p:nvSpPr>
          <p:cNvPr id="11" name="Shape 9"/>
          <p:cNvSpPr/>
          <p:nvPr/>
        </p:nvSpPr>
        <p:spPr>
          <a:xfrm>
            <a:off x="685800" y="3703320"/>
            <a:ext cx="420624" cy="420624"/>
          </a:xfrm>
          <a:prstGeom prst="ellipse">
            <a:avLst/>
          </a:prstGeom>
          <a:solidFill>
            <a:srgbClr val="B4720F"/>
          </a:solidFill>
          <a:ln/>
        </p:spPr>
      </p:sp>
      <p:sp>
        <p:nvSpPr>
          <p:cNvPr id="12" name="Text 10"/>
          <p:cNvSpPr txBox="1"/>
          <p:nvPr/>
        </p:nvSpPr>
        <p:spPr>
          <a:xfrm>
            <a:off x="685800" y="37033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399032" y="3648456"/>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liquidation price</a:t>
            </a:r>
            <a:endParaRPr lang="en-US" sz="1700" dirty="0"/>
          </a:p>
        </p:txBody>
      </p:sp>
      <p:sp>
        <p:nvSpPr>
          <p:cNvPr id="14" name="Text 12"/>
          <p:cNvSpPr txBox="1"/>
          <p:nvPr/>
        </p:nvSpPr>
        <p:spPr>
          <a:xfrm>
            <a:off x="1399032" y="4014216"/>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Written by hand.</a:t>
            </a:r>
            <a:endParaRPr lang="en-US" sz="1350" dirty="0"/>
          </a:p>
        </p:txBody>
      </p:sp>
      <p:sp>
        <p:nvSpPr>
          <p:cNvPr id="15" name="Shape 13"/>
          <p:cNvSpPr/>
          <p:nvPr/>
        </p:nvSpPr>
        <p:spPr>
          <a:xfrm>
            <a:off x="685800" y="4590288"/>
            <a:ext cx="420624" cy="420624"/>
          </a:xfrm>
          <a:prstGeom prst="ellipse">
            <a:avLst/>
          </a:prstGeom>
          <a:solidFill>
            <a:srgbClr val="C08829"/>
          </a:solidFill>
          <a:ln/>
        </p:spPr>
      </p:sp>
      <p:sp>
        <p:nvSpPr>
          <p:cNvPr id="16" name="Text 14"/>
          <p:cNvSpPr txBox="1"/>
          <p:nvPr/>
        </p:nvSpPr>
        <p:spPr>
          <a:xfrm>
            <a:off x="685800" y="45902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399032" y="4535424"/>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reserve amount</a:t>
            </a:r>
            <a:endParaRPr lang="en-US" sz="1700" dirty="0"/>
          </a:p>
        </p:txBody>
      </p:sp>
      <p:sp>
        <p:nvSpPr>
          <p:cNvPr id="18" name="Shape 16"/>
          <p:cNvSpPr/>
          <p:nvPr/>
        </p:nvSpPr>
        <p:spPr>
          <a:xfrm>
            <a:off x="685800" y="5477256"/>
            <a:ext cx="420624" cy="420624"/>
          </a:xfrm>
          <a:prstGeom prst="ellipse">
            <a:avLst/>
          </a:prstGeom>
          <a:solidFill>
            <a:srgbClr val="25774F"/>
          </a:solidFill>
          <a:ln/>
        </p:spPr>
      </p:sp>
      <p:sp>
        <p:nvSpPr>
          <p:cNvPr id="19" name="Text 17"/>
          <p:cNvSpPr txBox="1"/>
          <p:nvPr/>
        </p:nvSpPr>
        <p:spPr>
          <a:xfrm>
            <a:off x="685800" y="54772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399032" y="5422392"/>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Said out loud to your coach</a:t>
            </a:r>
            <a:endParaRPr lang="en-US" sz="1700" dirty="0"/>
          </a:p>
        </p:txBody>
      </p:sp>
      <p:sp>
        <p:nvSpPr>
          <p:cNvPr id="21" name="Text 19"/>
          <p:cNvSpPr txBox="1"/>
          <p:nvPr/>
        </p:nvSpPr>
        <p:spPr>
          <a:xfrm>
            <a:off x="1399032" y="5788152"/>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“My LTV is ___. I am liquidated at ___. My reserve is ___.”</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BEFORE THE NEXT MODULE</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What you may and may not do</a:t>
            </a:r>
            <a:endParaRPr lang="en-US" sz="3400" dirty="0"/>
          </a:p>
        </p:txBody>
      </p:sp>
      <p:sp>
        <p:nvSpPr>
          <p:cNvPr id="4" name="Shape 2"/>
          <p:cNvSpPr/>
          <p:nvPr/>
        </p:nvSpPr>
        <p:spPr>
          <a:xfrm>
            <a:off x="685800" y="1847088"/>
            <a:ext cx="5138928" cy="4160520"/>
          </a:xfrm>
          <a:prstGeom prst="roundRect">
            <a:avLst>
              <a:gd name="adj" fmla="val 1758"/>
            </a:avLst>
          </a:prstGeom>
          <a:solidFill>
            <a:srgbClr val="EEF1F8"/>
          </a:solidFill>
          <a:ln w="9525">
            <a:solidFill>
              <a:srgbClr val="D8DDEA"/>
            </a:solidFill>
            <a:prstDash val="solid"/>
          </a:ln>
        </p:spPr>
      </p:sp>
      <p:sp>
        <p:nvSpPr>
          <p:cNvPr id="5" name="Text 3"/>
          <p:cNvSpPr txBox="1"/>
          <p:nvPr/>
        </p:nvSpPr>
        <p:spPr>
          <a:xfrm>
            <a:off x="1069848" y="2157984"/>
            <a:ext cx="4370832" cy="548640"/>
          </a:xfrm>
          <a:prstGeom prst="rect">
            <a:avLst/>
          </a:prstGeom>
          <a:noFill/>
          <a:ln/>
        </p:spPr>
        <p:txBody>
          <a:bodyPr wrap="square" lIns="0" tIns="0" rIns="0" bIns="0" rtlCol="0" anchor="ctr"/>
          <a:lstStyle/>
          <a:p>
            <a:pPr indent="0" marL="0">
              <a:buNone/>
            </a:pPr>
            <a:r>
              <a:rPr lang="en-US" sz="2100" b="1" dirty="0">
                <a:solidFill>
                  <a:srgbClr val="25774F"/>
                </a:solidFill>
                <a:latin typeface="Cambria" pitchFamily="34" charset="0"/>
                <a:ea typeface="Cambria" pitchFamily="34" charset="-122"/>
                <a:cs typeface="Cambria" pitchFamily="34" charset="-120"/>
              </a:rPr>
              <a:t>Do</a:t>
            </a:r>
            <a:endParaRPr lang="en-US" sz="2100" dirty="0"/>
          </a:p>
        </p:txBody>
      </p:sp>
      <p:sp>
        <p:nvSpPr>
          <p:cNvPr id="6" name="Text 4"/>
          <p:cNvSpPr txBox="1"/>
          <p:nvPr/>
        </p:nvSpPr>
        <p:spPr>
          <a:xfrm>
            <a:off x="1069848" y="279806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Check your LTV once a day — not ten times</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Put your borrowed stablecoin into Earn. Carry only.</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Message your coach if LTV moves toward 40%</a:t>
            </a:r>
            <a:endParaRPr lang="en-US" sz="1400" dirty="0"/>
          </a:p>
        </p:txBody>
      </p:sp>
      <p:sp>
        <p:nvSpPr>
          <p:cNvPr id="7" name="Shape 5"/>
          <p:cNvSpPr/>
          <p:nvPr/>
        </p:nvSpPr>
        <p:spPr>
          <a:xfrm>
            <a:off x="6336792" y="1847088"/>
            <a:ext cx="5138928" cy="4160520"/>
          </a:xfrm>
          <a:prstGeom prst="roundRect">
            <a:avLst>
              <a:gd name="adj" fmla="val 1758"/>
            </a:avLst>
          </a:prstGeom>
          <a:solidFill>
            <a:srgbClr val="EEF1F8"/>
          </a:solidFill>
          <a:ln w="9525">
            <a:solidFill>
              <a:srgbClr val="D8DDEA"/>
            </a:solidFill>
            <a:prstDash val="solid"/>
          </a:ln>
        </p:spPr>
      </p:sp>
      <p:sp>
        <p:nvSpPr>
          <p:cNvPr id="8" name="Text 6"/>
          <p:cNvSpPr txBox="1"/>
          <p:nvPr/>
        </p:nvSpPr>
        <p:spPr>
          <a:xfrm>
            <a:off x="6720840" y="2157984"/>
            <a:ext cx="4370832" cy="548640"/>
          </a:xfrm>
          <a:prstGeom prst="rect">
            <a:avLst/>
          </a:prstGeom>
          <a:noFill/>
          <a:ln/>
        </p:spPr>
        <p:txBody>
          <a:bodyPr wrap="square" lIns="0" tIns="0" rIns="0" bIns="0" rtlCol="0" anchor="ctr"/>
          <a:lstStyle/>
          <a:p>
            <a:pPr indent="0" marL="0">
              <a:buNone/>
            </a:pPr>
            <a:r>
              <a:rPr lang="en-US" sz="2100" b="1" dirty="0">
                <a:solidFill>
                  <a:srgbClr val="A82F26"/>
                </a:solidFill>
                <a:latin typeface="Cambria" pitchFamily="34" charset="0"/>
                <a:ea typeface="Cambria" pitchFamily="34" charset="-122"/>
                <a:cs typeface="Cambria" pitchFamily="34" charset="-120"/>
              </a:rPr>
              <a:t>Do not</a:t>
            </a:r>
            <a:endParaRPr lang="en-US" sz="2100" dirty="0"/>
          </a:p>
        </p:txBody>
      </p:sp>
      <p:sp>
        <p:nvSpPr>
          <p:cNvPr id="9" name="Text 7"/>
          <p:cNvSpPr txBox="1"/>
          <p:nvPr/>
        </p:nvSpPr>
        <p:spPr>
          <a:xfrm>
            <a:off x="6720840" y="279806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Raise your LTV. Not for any reason, not for any dip.</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Buy a dip with borrowed capital yet — that needs a written plan you do not have</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Add a second asset</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Improvise at midnight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Buy Borrow Thrive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BBT Level 2/3 — Modules 1–3</dc:title>
  <dc:subject>Chart Structure, The Platform, First Execution</dc:subject>
  <dc:creator>Thrive Blueprint Education Corp.</dc:creator>
  <cp:lastModifiedBy>Thrive Blueprint Education Corp.</cp:lastModifiedBy>
  <cp:revision>1</cp:revision>
  <dcterms:created xsi:type="dcterms:W3CDTF">2026-09-03T07:49:02Z</dcterms:created>
  <dcterms:modified xsi:type="dcterms:W3CDTF">2026-09-03T07:49:02Z</dcterms:modified>
</cp:coreProperties>
</file>