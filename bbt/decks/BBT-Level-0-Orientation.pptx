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Welcome, 3 min. Thank them for choosing to be here. State plainly: tonight is free and stays free, no build-up to a pitch. One idea taught properly, then what comes next and who should not take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House rules, 2 min. Wait for the chat to fill before moving on. The typed check is how a silent Zoom becomes a room that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Disclosure, 3 min. Read _shared/risk-disclosure.md §1 VERBATIM. Do not paraphrase, do not soften, no joke at the end. Then: “I read that at the top of every session we run, including the free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B, 25 min. This is the sequence the whole programme is built on. Do not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4 min. Wait for the Yes. Then: “You just bought a hectare in BGC. Congratulations.”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continued. Give the room its moment here — the celebration is what makes the next question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5 min. Never correct anyone in front of the room — acknowledge, then add. Ask who knows the word “refinancing”, and who has used property as collateral.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10 min total across this build. Step A–C: you go to the bank, you fill up forms, this is an asset-backed loan.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Let each step land before advancing. The room should feel the accumulation of friction.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“And you have to get approved — and you might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The calculator moment. Wait for the chat. Answer: ₱1,600,000. Banks cap at 80% because they make sure they always come out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close. Wait for the chat, thank them. The friction is the point — it sets up how different the digital version feels.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payoff. This is the pivot from friction to principle. Say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 6 min. THE most important beat in Level 0. Ask first: “what is the only thing that takes the land away from you?” Take answers, steer to foreclosure. Tell them to write this sentence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C,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5 min. You can own a fraction. Same platform to buy it and to borrow against it. Keep it factual — the honest trade-off is the next slide and it must not be softened.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7 min. Correction C1 — this is where we separate from hype sellers. Smaller ticket, but bigger swings and a far faster forced sale. Land on: “so the question from the land story becomes urgent — at what price does this get taken away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D, 20 min. Verify every figure on the next slide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 8 min. VERIFY THESE FIGURES against a live chart before presenting, and add the current cycle. A wrong number here destroys the credibility of everything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 8 min. Run those rules through every drawdown of the last seven years and the position is never force-sold. Not once. It is boring, which is why it works and why it does not sell well. No numbers yet — the arithmetic is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D3, 4 min. NEVER SKIP THIS BEAT. It is the credibility of the whole programme. We are not promising you will not see red — we are teaching you how to still be holding when it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 and E2, 15 min. Deliver the right-hand column SLOWLY and give it equal weight. Some people should leave tonight. “If you are in that second list — genuinely, no hard feelings, and please do not come to Level 1. You would be paying us to be frustrated.”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beat 1, from _shared/ascension.md. A fact about a capability, stated flatly. Never a compliment.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beat 2 — the gap. It must be real and demonstrable. Pause after the headline before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beat 3. State it ONCE. No scarcity language unless the seat cap is literally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beat 4 — MANDATORY. This is the beat that makes the other four credible. The people who should not buy, do not — which is the entire point of capital preservation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beat 5. One step, not three. Then STOP TALKING. Final line: “whatever you decide — a drop is not a loss until you are forced to sell. Take that one home even if you never pay us a peso.”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37160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LEVEL 0 · ORIENTATION · 90 MINUTES</a:t>
            </a:r>
            <a:endParaRPr lang="en-US" sz="1000" dirty="0"/>
          </a:p>
        </p:txBody>
      </p:sp>
      <p:sp>
        <p:nvSpPr>
          <p:cNvPr id="3" name="Text 1"/>
          <p:cNvSpPr txBox="1"/>
          <p:nvPr/>
        </p:nvSpPr>
        <p:spPr>
          <a:xfrm>
            <a:off x="685800" y="1783080"/>
            <a:ext cx="9692640" cy="2596896"/>
          </a:xfrm>
          <a:prstGeom prst="rect">
            <a:avLst/>
          </a:prstGeom>
          <a:noFill/>
          <a:ln/>
        </p:spPr>
        <p:txBody>
          <a:bodyPr wrap="square" lIns="0" tIns="0" rIns="0" bIns="0" rtlCol="0" anchor="ctr"/>
          <a:lstStyle/>
          <a:p>
            <a:pPr indent="0" marL="0">
              <a:lnSpc>
                <a:spcPts val="5800"/>
              </a:lnSpc>
              <a:buNone/>
            </a:pPr>
            <a:r>
              <a:rPr lang="en-US" sz="5400" b="1" dirty="0">
                <a:solidFill>
                  <a:srgbClr val="F2F4FA"/>
                </a:solidFill>
                <a:latin typeface="Cambria" pitchFamily="34" charset="0"/>
                <a:ea typeface="Cambria" pitchFamily="34" charset="-122"/>
                <a:cs typeface="Cambria" pitchFamily="34" charset="-120"/>
              </a:rPr>
              <a:t>The wealthy</a:t>
            </a:r>
            <a:endParaRPr lang="en-US" sz="5400" dirty="0"/>
          </a:p>
          <a:p>
            <a:pPr indent="0" marL="0">
              <a:lnSpc>
                <a:spcPts val="5800"/>
              </a:lnSpc>
              <a:buNone/>
            </a:pPr>
            <a:r>
              <a:rPr lang="en-US" sz="5400" b="1" dirty="0">
                <a:solidFill>
                  <a:srgbClr val="F2F4FA"/>
                </a:solidFill>
                <a:latin typeface="Cambria" pitchFamily="34" charset="0"/>
                <a:ea typeface="Cambria" pitchFamily="34" charset="-122"/>
                <a:cs typeface="Cambria" pitchFamily="34" charset="-120"/>
              </a:rPr>
              <a:t>never sell.</a:t>
            </a:r>
            <a:endParaRPr lang="en-US" sz="5400" dirty="0"/>
          </a:p>
          <a:p>
            <a:pPr indent="0" marL="0">
              <a:lnSpc>
                <a:spcPts val="5800"/>
              </a:lnSpc>
              <a:buNone/>
            </a:pPr>
            <a:r>
              <a:rPr lang="en-US" sz="5400" b="1" dirty="0">
                <a:solidFill>
                  <a:srgbClr val="F2F4FA"/>
                </a:solidFill>
                <a:latin typeface="Cambria" pitchFamily="34" charset="0"/>
                <a:ea typeface="Cambria" pitchFamily="34" charset="-122"/>
                <a:cs typeface="Cambria" pitchFamily="34" charset="-120"/>
              </a:rPr>
              <a:t>They borrow.</a:t>
            </a:r>
            <a:endParaRPr lang="en-US" sz="5400" dirty="0"/>
          </a:p>
        </p:txBody>
      </p:sp>
      <p:sp>
        <p:nvSpPr>
          <p:cNvPr id="4" name="Text 2"/>
          <p:cNvSpPr txBox="1"/>
          <p:nvPr/>
        </p:nvSpPr>
        <p:spPr>
          <a:xfrm>
            <a:off x="685800" y="4581144"/>
            <a:ext cx="8595360" cy="868680"/>
          </a:xfrm>
          <a:prstGeom prst="rect">
            <a:avLst/>
          </a:prstGeom>
          <a:noFill/>
          <a:ln/>
        </p:spPr>
        <p:txBody>
          <a:bodyPr wrap="square" lIns="0" tIns="0" rIns="0" bIns="0" rtlCol="0" anchor="ctr"/>
          <a:lstStyle/>
          <a:p>
            <a:pPr indent="0" marL="0">
              <a:lnSpc>
                <a:spcPts val="2600"/>
              </a:lnSpc>
              <a:buNone/>
            </a:pPr>
            <a:r>
              <a:rPr lang="en-US" sz="1800" dirty="0">
                <a:solidFill>
                  <a:srgbClr val="A8B0C8"/>
                </a:solidFill>
                <a:latin typeface="Calibri" pitchFamily="34" charset="0"/>
                <a:ea typeface="Calibri" pitchFamily="34" charset="-122"/>
                <a:cs typeface="Calibri" pitchFamily="34" charset="-120"/>
              </a:rPr>
              <a:t>How the buy-and-borrow strategy works — and whether it fits your situation.</a:t>
            </a:r>
            <a:endParaRPr lang="en-US" sz="1800" dirty="0"/>
          </a:p>
        </p:txBody>
      </p:sp>
      <p:sp>
        <p:nvSpPr>
          <p:cNvPr id="5" name="Text 3"/>
          <p:cNvSpPr txBox="1"/>
          <p:nvPr/>
        </p:nvSpPr>
        <p:spPr>
          <a:xfrm>
            <a:off x="685800" y="5806440"/>
            <a:ext cx="10789920" cy="365760"/>
          </a:xfrm>
          <a:prstGeom prst="rect">
            <a:avLst/>
          </a:prstGeom>
          <a:noFill/>
          <a:ln/>
        </p:spPr>
        <p:txBody>
          <a:bodyPr wrap="square" lIns="0" tIns="0" rIns="0" bIns="0" rtlCol="0" anchor="ctr"/>
          <a:lstStyle/>
          <a:p>
            <a:pPr indent="0" marL="0">
              <a:buNone/>
            </a:pPr>
            <a:r>
              <a:rPr lang="en-US" sz="1200" dirty="0">
                <a:solidFill>
                  <a:srgbClr val="A8B0C8"/>
                </a:solidFill>
                <a:latin typeface="Calibri" pitchFamily="34" charset="0"/>
                <a:ea typeface="Calibri" pitchFamily="34" charset="-122"/>
                <a:cs typeface="Calibri" pitchFamily="34" charset="-120"/>
              </a:rPr>
              <a:t>Buy Borrow Thrive · The Confident Investor’s Blueprint   ·   Education only · No fund management · No hype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HOUSE RULES</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Five things before we start</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Mic off, camera on</a:t>
            </a:r>
            <a:endParaRPr lang="en-US" sz="1700" dirty="0"/>
          </a:p>
        </p:txBody>
      </p:sp>
      <p:sp>
        <p:nvSpPr>
          <p:cNvPr id="7" name="Text 5"/>
          <p:cNvSpPr txBox="1"/>
          <p:nvPr/>
        </p:nvSpPr>
        <p:spPr>
          <a:xfrm>
            <a:off x="1399032" y="2240280"/>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So we can see your beautiful faces.</a:t>
            </a:r>
            <a:endParaRPr lang="en-US" sz="1350" dirty="0"/>
          </a:p>
        </p:txBody>
      </p:sp>
      <p:sp>
        <p:nvSpPr>
          <p:cNvPr id="8" name="Shape 6"/>
          <p:cNvSpPr/>
          <p:nvPr/>
        </p:nvSpPr>
        <p:spPr>
          <a:xfrm>
            <a:off x="685800" y="2816352"/>
            <a:ext cx="420624" cy="420624"/>
          </a:xfrm>
          <a:prstGeom prst="ellipse">
            <a:avLst/>
          </a:prstGeom>
          <a:solidFill>
            <a:srgbClr val="C08829"/>
          </a:solidFill>
          <a:ln/>
        </p:spPr>
      </p:sp>
      <p:sp>
        <p:nvSpPr>
          <p:cNvPr id="9" name="Text 7"/>
          <p:cNvSpPr txBox="1"/>
          <p:nvPr/>
        </p:nvSpPr>
        <p:spPr>
          <a:xfrm>
            <a:off x="685800" y="28163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761488"/>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Questions in the chat</a:t>
            </a:r>
            <a:endParaRPr lang="en-US" sz="1700" dirty="0"/>
          </a:p>
        </p:txBody>
      </p:sp>
      <p:sp>
        <p:nvSpPr>
          <p:cNvPr id="11" name="Text 9"/>
          <p:cNvSpPr txBox="1"/>
          <p:nvPr/>
        </p:nvSpPr>
        <p:spPr>
          <a:xfrm>
            <a:off x="1399032" y="3127248"/>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Answered at the end of each part.</a:t>
            </a:r>
            <a:endParaRPr lang="en-US" sz="1350" dirty="0"/>
          </a:p>
        </p:txBody>
      </p:sp>
      <p:sp>
        <p:nvSpPr>
          <p:cNvPr id="12" name="Shape 10"/>
          <p:cNvSpPr/>
          <p:nvPr/>
        </p:nvSpPr>
        <p:spPr>
          <a:xfrm>
            <a:off x="685800" y="3703320"/>
            <a:ext cx="420624" cy="420624"/>
          </a:xfrm>
          <a:prstGeom prst="ellipse">
            <a:avLst/>
          </a:prstGeom>
          <a:solidFill>
            <a:srgbClr val="C08829"/>
          </a:solidFill>
          <a:ln/>
        </p:spPr>
      </p:sp>
      <p:sp>
        <p:nvSpPr>
          <p:cNvPr id="13" name="Text 11"/>
          <p:cNvSpPr txBox="1"/>
          <p:nvPr/>
        </p:nvSpPr>
        <p:spPr>
          <a:xfrm>
            <a:off x="685800" y="37033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3648456"/>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Give it your 100%</a:t>
            </a:r>
            <a:endParaRPr lang="en-US" sz="1700" dirty="0"/>
          </a:p>
        </p:txBody>
      </p:sp>
      <p:sp>
        <p:nvSpPr>
          <p:cNvPr id="15" name="Text 13"/>
          <p:cNvSpPr txBox="1"/>
          <p:nvPr/>
        </p:nvSpPr>
        <p:spPr>
          <a:xfrm>
            <a:off x="1399032" y="4014216"/>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Learning needs positive energy.</a:t>
            </a:r>
            <a:endParaRPr lang="en-US" sz="1350" dirty="0"/>
          </a:p>
        </p:txBody>
      </p:sp>
      <p:sp>
        <p:nvSpPr>
          <p:cNvPr id="16" name="Shape 14"/>
          <p:cNvSpPr/>
          <p:nvPr/>
        </p:nvSpPr>
        <p:spPr>
          <a:xfrm>
            <a:off x="685800" y="4590288"/>
            <a:ext cx="420624" cy="420624"/>
          </a:xfrm>
          <a:prstGeom prst="ellipse">
            <a:avLst/>
          </a:prstGeom>
          <a:solidFill>
            <a:srgbClr val="C08829"/>
          </a:solidFill>
          <a:ln/>
        </p:spPr>
      </p:sp>
      <p:sp>
        <p:nvSpPr>
          <p:cNvPr id="17" name="Text 15"/>
          <p:cNvSpPr txBox="1"/>
          <p:nvPr/>
        </p:nvSpPr>
        <p:spPr>
          <a:xfrm>
            <a:off x="685800" y="45902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4535424"/>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Get a calculator</a:t>
            </a:r>
            <a:endParaRPr lang="en-US" sz="1700" dirty="0"/>
          </a:p>
        </p:txBody>
      </p:sp>
      <p:sp>
        <p:nvSpPr>
          <p:cNvPr id="19" name="Text 17"/>
          <p:cNvSpPr txBox="1"/>
          <p:nvPr/>
        </p:nvSpPr>
        <p:spPr>
          <a:xfrm>
            <a:off x="1399032" y="4901184"/>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We love Math because we make Money.</a:t>
            </a:r>
            <a:endParaRPr lang="en-US" sz="1350" dirty="0"/>
          </a:p>
        </p:txBody>
      </p:sp>
      <p:sp>
        <p:nvSpPr>
          <p:cNvPr id="20" name="Shape 18"/>
          <p:cNvSpPr/>
          <p:nvPr/>
        </p:nvSpPr>
        <p:spPr>
          <a:xfrm>
            <a:off x="685800" y="5477256"/>
            <a:ext cx="420624" cy="420624"/>
          </a:xfrm>
          <a:prstGeom prst="ellipse">
            <a:avLst/>
          </a:prstGeom>
          <a:solidFill>
            <a:srgbClr val="C08829"/>
          </a:solidFill>
          <a:ln/>
        </p:spPr>
      </p:sp>
      <p:sp>
        <p:nvSpPr>
          <p:cNvPr id="21" name="Text 19"/>
          <p:cNvSpPr txBox="1"/>
          <p:nvPr/>
        </p:nvSpPr>
        <p:spPr>
          <a:xfrm>
            <a:off x="685800" y="54772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399032" y="5422392"/>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Type “ready” when you are</a:t>
            </a:r>
            <a:endParaRPr lang="en-US" sz="1700" dirty="0"/>
          </a:p>
        </p:txBody>
      </p:sp>
      <p:sp>
        <p:nvSpPr>
          <p:cNvPr id="23" name="Text 21"/>
          <p:cNvSpPr txBox="1"/>
          <p:nvPr/>
        </p:nvSpPr>
        <p:spPr>
          <a:xfrm>
            <a:off x="1399032" y="5788152"/>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Then here we go.</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BEFORE WE BEGIN</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This strategy uses borrowed money against a volatile asset.</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If a programme will not tell you how it fails, do not give them money.</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1</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ONE</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The land</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A hectare in BGC, a bank, and the only thing that can take it away from you.</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2021</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You are offered a hectare in BGC, 30% below market</a:t>
            </a:r>
            <a:endParaRPr lang="en-US" sz="2700" dirty="0"/>
          </a:p>
        </p:txBody>
      </p:sp>
      <p:sp>
        <p:nvSpPr>
          <p:cNvPr id="4" name="Shape 2"/>
          <p:cNvSpPr/>
          <p:nvPr/>
        </p:nvSpPr>
        <p:spPr>
          <a:xfrm>
            <a:off x="685800" y="1965960"/>
            <a:ext cx="521208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4846320" cy="1051560"/>
          </a:xfrm>
          <a:prstGeom prst="rect">
            <a:avLst/>
          </a:prstGeom>
          <a:noFill/>
          <a:ln/>
        </p:spPr>
        <p:txBody>
          <a:bodyPr wrap="square" lIns="0" tIns="0" rIns="0" bIns="0" rtlCol="0" anchor="ctr"/>
          <a:lstStyle/>
          <a:p>
            <a:pPr algn="ctr" indent="0" marL="0">
              <a:buNone/>
            </a:pPr>
            <a:r>
              <a:rPr lang="en-US" sz="3400" b="1" dirty="0">
                <a:solidFill>
                  <a:srgbClr val="1A2340"/>
                </a:solidFill>
                <a:latin typeface="Cambria" pitchFamily="34" charset="0"/>
                <a:ea typeface="Cambria" pitchFamily="34" charset="-122"/>
                <a:cs typeface="Cambria" pitchFamily="34" charset="-120"/>
              </a:rPr>
              <a:t>₱1,000,000</a:t>
            </a:r>
            <a:endParaRPr lang="en-US" sz="3400" dirty="0"/>
          </a:p>
        </p:txBody>
      </p:sp>
      <p:sp>
        <p:nvSpPr>
          <p:cNvPr id="6" name="Text 4"/>
          <p:cNvSpPr txBox="1"/>
          <p:nvPr/>
        </p:nvSpPr>
        <p:spPr>
          <a:xfrm>
            <a:off x="868680" y="3364992"/>
            <a:ext cx="484632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what you have in 2021</a:t>
            </a:r>
            <a:endParaRPr lang="en-US" sz="1300" dirty="0"/>
          </a:p>
        </p:txBody>
      </p:sp>
      <p:sp>
        <p:nvSpPr>
          <p:cNvPr id="7" name="Shape 5"/>
          <p:cNvSpPr/>
          <p:nvPr/>
        </p:nvSpPr>
        <p:spPr>
          <a:xfrm>
            <a:off x="6263640" y="1965960"/>
            <a:ext cx="521208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6446520" y="2267712"/>
            <a:ext cx="4846320" cy="1051560"/>
          </a:xfrm>
          <a:prstGeom prst="rect">
            <a:avLst/>
          </a:prstGeom>
          <a:noFill/>
          <a:ln/>
        </p:spPr>
        <p:txBody>
          <a:bodyPr wrap="square" lIns="0" tIns="0" rIns="0" bIns="0" rtlCol="0" anchor="ctr"/>
          <a:lstStyle/>
          <a:p>
            <a:pPr algn="ctr" indent="0" marL="0">
              <a:buNone/>
            </a:pPr>
            <a:r>
              <a:rPr lang="en-US" sz="3400" b="1" dirty="0">
                <a:solidFill>
                  <a:srgbClr val="1A2340"/>
                </a:solidFill>
                <a:latin typeface="Cambria" pitchFamily="34" charset="0"/>
                <a:ea typeface="Cambria" pitchFamily="34" charset="-122"/>
                <a:cs typeface="Cambria" pitchFamily="34" charset="-120"/>
              </a:rPr>
              <a:t>1 hectare</a:t>
            </a:r>
            <a:endParaRPr lang="en-US" sz="3400" dirty="0"/>
          </a:p>
        </p:txBody>
      </p:sp>
      <p:sp>
        <p:nvSpPr>
          <p:cNvPr id="9" name="Text 7"/>
          <p:cNvSpPr txBox="1"/>
          <p:nvPr/>
        </p:nvSpPr>
        <p:spPr>
          <a:xfrm>
            <a:off x="6446520" y="3364992"/>
            <a:ext cx="484632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BGC, 30% below market value</a:t>
            </a:r>
            <a:endParaRPr lang="en-US" sz="1300" dirty="0"/>
          </a:p>
        </p:txBody>
      </p:sp>
      <p:sp>
        <p:nvSpPr>
          <p:cNvPr id="10" name="Text 8"/>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Would you buy this land? Type “Yes” in the chatbox.</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FIVE YEARS LATER · 2026</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The same hectare</a:t>
            </a:r>
            <a:endParaRPr lang="en-US" sz="3400" dirty="0"/>
          </a:p>
        </p:txBody>
      </p:sp>
      <p:sp>
        <p:nvSpPr>
          <p:cNvPr id="4" name="Shape 2"/>
          <p:cNvSpPr/>
          <p:nvPr/>
        </p:nvSpPr>
        <p:spPr>
          <a:xfrm>
            <a:off x="685800" y="1965960"/>
            <a:ext cx="521208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4846320" cy="1051560"/>
          </a:xfrm>
          <a:prstGeom prst="rect">
            <a:avLst/>
          </a:prstGeom>
          <a:noFill/>
          <a:ln/>
        </p:spPr>
        <p:txBody>
          <a:bodyPr wrap="square" lIns="0" tIns="0" rIns="0" bIns="0" rtlCol="0" anchor="ctr"/>
          <a:lstStyle/>
          <a:p>
            <a:pPr algn="ctr" indent="0" marL="0">
              <a:buNone/>
            </a:pPr>
            <a:r>
              <a:rPr lang="en-US" sz="3400" b="1" dirty="0">
                <a:solidFill>
                  <a:srgbClr val="1A2340"/>
                </a:solidFill>
                <a:latin typeface="Cambria" pitchFamily="34" charset="0"/>
                <a:ea typeface="Cambria" pitchFamily="34" charset="-122"/>
                <a:cs typeface="Cambria" pitchFamily="34" charset="-120"/>
              </a:rPr>
              <a:t>₱1,000,000</a:t>
            </a:r>
            <a:endParaRPr lang="en-US" sz="3400" dirty="0"/>
          </a:p>
        </p:txBody>
      </p:sp>
      <p:sp>
        <p:nvSpPr>
          <p:cNvPr id="6" name="Text 4"/>
          <p:cNvSpPr txBox="1"/>
          <p:nvPr/>
        </p:nvSpPr>
        <p:spPr>
          <a:xfrm>
            <a:off x="868680" y="3364992"/>
            <a:ext cx="484632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what you paid in 2021</a:t>
            </a:r>
            <a:endParaRPr lang="en-US" sz="1300" dirty="0"/>
          </a:p>
        </p:txBody>
      </p:sp>
      <p:sp>
        <p:nvSpPr>
          <p:cNvPr id="7" name="Shape 5"/>
          <p:cNvSpPr/>
          <p:nvPr/>
        </p:nvSpPr>
        <p:spPr>
          <a:xfrm>
            <a:off x="6263640" y="1965960"/>
            <a:ext cx="521208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6446520" y="2267712"/>
            <a:ext cx="4846320" cy="1051560"/>
          </a:xfrm>
          <a:prstGeom prst="rect">
            <a:avLst/>
          </a:prstGeom>
          <a:noFill/>
          <a:ln/>
        </p:spPr>
        <p:txBody>
          <a:bodyPr wrap="square" lIns="0" tIns="0" rIns="0" bIns="0" rtlCol="0" anchor="ctr"/>
          <a:lstStyle/>
          <a:p>
            <a:pPr algn="ctr" indent="0" marL="0">
              <a:buNone/>
            </a:pPr>
            <a:r>
              <a:rPr lang="en-US" sz="3400" b="1" dirty="0">
                <a:solidFill>
                  <a:srgbClr val="25774F"/>
                </a:solidFill>
                <a:latin typeface="Cambria" pitchFamily="34" charset="0"/>
                <a:ea typeface="Cambria" pitchFamily="34" charset="-122"/>
                <a:cs typeface="Cambria" pitchFamily="34" charset="-120"/>
              </a:rPr>
              <a:t>₱2,000,000</a:t>
            </a:r>
            <a:endParaRPr lang="en-US" sz="3400" dirty="0"/>
          </a:p>
        </p:txBody>
      </p:sp>
      <p:sp>
        <p:nvSpPr>
          <p:cNvPr id="9" name="Text 7"/>
          <p:cNvSpPr txBox="1"/>
          <p:nvPr/>
        </p:nvSpPr>
        <p:spPr>
          <a:xfrm>
            <a:off x="6446520" y="3364992"/>
            <a:ext cx="484632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what it is worth now</a:t>
            </a:r>
            <a:endParaRPr lang="en-US" sz="1300" dirty="0"/>
          </a:p>
        </p:txBody>
      </p:sp>
      <p:sp>
        <p:nvSpPr>
          <p:cNvPr id="10" name="Text 8"/>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Let them celebrate. Do not move on too quickly.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685800" y="137160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QUESTION</a:t>
            </a:r>
            <a:endParaRPr lang="en-US" sz="1000" dirty="0"/>
          </a:p>
        </p:txBody>
      </p:sp>
      <p:sp>
        <p:nvSpPr>
          <p:cNvPr id="3" name="Text 1"/>
          <p:cNvSpPr txBox="1"/>
          <p:nvPr/>
        </p:nvSpPr>
        <p:spPr>
          <a:xfrm>
            <a:off x="685800" y="1828800"/>
            <a:ext cx="10607040" cy="1554480"/>
          </a:xfrm>
          <a:prstGeom prst="rect">
            <a:avLst/>
          </a:prstGeom>
          <a:noFill/>
          <a:ln/>
        </p:spPr>
        <p:txBody>
          <a:bodyPr wrap="square" lIns="0" tIns="0" rIns="0" bIns="0" rtlCol="0" anchor="ctr"/>
          <a:lstStyle/>
          <a:p>
            <a:pPr indent="0" marL="0">
              <a:lnSpc>
                <a:spcPts val="4600"/>
              </a:lnSpc>
              <a:buNone/>
            </a:pPr>
            <a:r>
              <a:rPr lang="en-US" sz="3800" b="1" dirty="0">
                <a:solidFill>
                  <a:srgbClr val="1A2340"/>
                </a:solidFill>
                <a:latin typeface="Cambria" pitchFamily="34" charset="0"/>
                <a:ea typeface="Cambria" pitchFamily="34" charset="-122"/>
                <a:cs typeface="Cambria" pitchFamily="34" charset="-120"/>
              </a:rPr>
              <a:t>You want money out of that land.</a:t>
            </a:r>
            <a:endParaRPr lang="en-US" sz="3800" dirty="0"/>
          </a:p>
          <a:p>
            <a:pPr indent="0" marL="0">
              <a:lnSpc>
                <a:spcPts val="4600"/>
              </a:lnSpc>
              <a:buNone/>
            </a:pPr>
            <a:r>
              <a:rPr lang="en-US" sz="3800" b="1" dirty="0">
                <a:solidFill>
                  <a:srgbClr val="1A2340"/>
                </a:solidFill>
                <a:latin typeface="Cambria" pitchFamily="34" charset="0"/>
                <a:ea typeface="Cambria" pitchFamily="34" charset="-122"/>
                <a:cs typeface="Cambria" pitchFamily="34" charset="-120"/>
              </a:rPr>
              <a:t>You do not want to sell it.</a:t>
            </a:r>
            <a:endParaRPr lang="en-US" sz="3800" dirty="0"/>
          </a:p>
        </p:txBody>
      </p:sp>
      <p:sp>
        <p:nvSpPr>
          <p:cNvPr id="4" name="Text 2"/>
          <p:cNvSpPr txBox="1"/>
          <p:nvPr/>
        </p:nvSpPr>
        <p:spPr>
          <a:xfrm>
            <a:off x="685800" y="3611880"/>
            <a:ext cx="10607040" cy="777240"/>
          </a:xfrm>
          <a:prstGeom prst="rect">
            <a:avLst/>
          </a:prstGeom>
          <a:noFill/>
          <a:ln/>
        </p:spPr>
        <p:txBody>
          <a:bodyPr wrap="square" lIns="0" tIns="0" rIns="0" bIns="0" rtlCol="0" anchor="ctr"/>
          <a:lstStyle/>
          <a:p>
            <a:pPr indent="0" marL="0">
              <a:buNone/>
            </a:pPr>
            <a:r>
              <a:rPr lang="en-US" sz="2400" b="1" dirty="0">
                <a:solidFill>
                  <a:srgbClr val="C08829"/>
                </a:solidFill>
                <a:latin typeface="Calibri" pitchFamily="34" charset="0"/>
                <a:ea typeface="Calibri" pitchFamily="34" charset="-122"/>
                <a:cs typeface="Calibri" pitchFamily="34" charset="-120"/>
              </a:rPr>
              <a:t>What are your options?</a:t>
            </a:r>
            <a:endParaRPr lang="en-US" sz="2400" dirty="0"/>
          </a:p>
        </p:txBody>
      </p:sp>
      <p:sp>
        <p:nvSpPr>
          <p:cNvPr id="5" name="Text 3"/>
          <p:cNvSpPr txBox="1"/>
          <p:nvPr/>
        </p:nvSpPr>
        <p:spPr>
          <a:xfrm>
            <a:off x="685800" y="4526280"/>
            <a:ext cx="9509760" cy="1097280"/>
          </a:xfrm>
          <a:prstGeom prst="rect">
            <a:avLst/>
          </a:prstGeom>
          <a:noFill/>
          <a:ln/>
        </p:spPr>
        <p:txBody>
          <a:bodyPr wrap="square" lIns="0" tIns="0" rIns="0" bIns="0" rtlCol="0" anchor="ctr"/>
          <a:lstStyle/>
          <a:p>
            <a:pPr indent="0" marL="0">
              <a:lnSpc>
                <a:spcPts val="2400"/>
              </a:lnSpc>
              <a:buNone/>
            </a:pPr>
            <a:r>
              <a:rPr lang="en-US" sz="1600" dirty="0">
                <a:solidFill>
                  <a:srgbClr val="5B6480"/>
                </a:solidFill>
                <a:latin typeface="Calibri" pitchFamily="34" charset="0"/>
                <a:ea typeface="Calibri" pitchFamily="34" charset="-122"/>
                <a:cs typeface="Calibri" pitchFamily="34" charset="-120"/>
              </a:rPr>
              <a:t>Raise your hand. Take two or three real answers. Thank each one. If nobody says “borrow against it”, filter to it.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BORROWING AGAINST IT · THE BANK</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What it actually takes</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Appraised</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bank assesses the value — and you pay the appraisal fee.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BORROWING AGAINST IT · THE BANK</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What it actually takes</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Appraised</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bank assesses the value — and you pay the appraisal fee.</a:t>
            </a:r>
            <a:endParaRPr lang="en-US" sz="1350" dirty="0"/>
          </a:p>
        </p:txBody>
      </p:sp>
      <p:sp>
        <p:nvSpPr>
          <p:cNvPr id="8" name="Shape 6"/>
          <p:cNvSpPr/>
          <p:nvPr/>
        </p:nvSpPr>
        <p:spPr>
          <a:xfrm>
            <a:off x="685800" y="4146804"/>
            <a:ext cx="420624" cy="420624"/>
          </a:xfrm>
          <a:prstGeom prst="ellipse">
            <a:avLst/>
          </a:prstGeom>
          <a:solidFill>
            <a:srgbClr val="C08829"/>
          </a:solidFill>
          <a:ln/>
        </p:spPr>
      </p:sp>
      <p:sp>
        <p:nvSpPr>
          <p:cNvPr id="9" name="Text 7"/>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Title</a:t>
            </a:r>
            <a:endParaRPr lang="en-US" sz="1700" dirty="0"/>
          </a:p>
        </p:txBody>
      </p:sp>
      <p:sp>
        <p:nvSpPr>
          <p:cNvPr id="11" name="Text 9"/>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Due diligence. Is it really yours? Are your real estate taxes current?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BORROWING AGAINST IT · THE BANK</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What it actually takes</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Appraised</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bank assesses the value — and you pay the appraisal fee.</a:t>
            </a:r>
            <a:endParaRPr lang="en-US" sz="1350" dirty="0"/>
          </a:p>
        </p:txBody>
      </p:sp>
      <p:sp>
        <p:nvSpPr>
          <p:cNvPr id="8" name="Shape 6"/>
          <p:cNvSpPr/>
          <p:nvPr/>
        </p:nvSpPr>
        <p:spPr>
          <a:xfrm>
            <a:off x="685800" y="3407664"/>
            <a:ext cx="420624" cy="420624"/>
          </a:xfrm>
          <a:prstGeom prst="ellipse">
            <a:avLst/>
          </a:prstGeom>
          <a:solidFill>
            <a:srgbClr val="C08829"/>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Title</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Due diligence. Is it really yours? Are your real estate taxes current?</a:t>
            </a:r>
            <a:endParaRPr lang="en-US" sz="1350" dirty="0"/>
          </a:p>
        </p:txBody>
      </p:sp>
      <p:sp>
        <p:nvSpPr>
          <p:cNvPr id="12" name="Shape 10"/>
          <p:cNvSpPr/>
          <p:nvPr/>
        </p:nvSpPr>
        <p:spPr>
          <a:xfrm>
            <a:off x="685800" y="4885944"/>
            <a:ext cx="420624" cy="420624"/>
          </a:xfrm>
          <a:prstGeom prst="ellipse">
            <a:avLst/>
          </a:prstGeom>
          <a:solidFill>
            <a:srgbClr val="C08829"/>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Approved</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And you might not be.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BORROWING AGAINST IT · THE BANK</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What it actually takes</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Appraised</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bank assesses the value — and you pay the appraisal fee.</a:t>
            </a:r>
            <a:endParaRPr lang="en-US" sz="1350" dirty="0"/>
          </a:p>
        </p:txBody>
      </p:sp>
      <p:sp>
        <p:nvSpPr>
          <p:cNvPr id="8" name="Shape 6"/>
          <p:cNvSpPr/>
          <p:nvPr/>
        </p:nvSpPr>
        <p:spPr>
          <a:xfrm>
            <a:off x="685800" y="3038094"/>
            <a:ext cx="420624" cy="420624"/>
          </a:xfrm>
          <a:prstGeom prst="ellipse">
            <a:avLst/>
          </a:prstGeom>
          <a:solidFill>
            <a:srgbClr val="C08829"/>
          </a:solidFill>
          <a:ln/>
        </p:spPr>
      </p:sp>
      <p:sp>
        <p:nvSpPr>
          <p:cNvPr id="9" name="Text 7"/>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Title</a:t>
            </a:r>
            <a:endParaRPr lang="en-US" sz="1700" dirty="0"/>
          </a:p>
        </p:txBody>
      </p:sp>
      <p:sp>
        <p:nvSpPr>
          <p:cNvPr id="11" name="Text 9"/>
          <p:cNvSpPr txBox="1"/>
          <p:nvPr/>
        </p:nvSpPr>
        <p:spPr>
          <a:xfrm>
            <a:off x="1399032" y="334899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Due diligence. Is it really yours? Are your real estate taxes current?</a:t>
            </a:r>
            <a:endParaRPr lang="en-US" sz="1350" dirty="0"/>
          </a:p>
        </p:txBody>
      </p:sp>
      <p:sp>
        <p:nvSpPr>
          <p:cNvPr id="12" name="Shape 10"/>
          <p:cNvSpPr/>
          <p:nvPr/>
        </p:nvSpPr>
        <p:spPr>
          <a:xfrm>
            <a:off x="685800" y="4146804"/>
            <a:ext cx="420624" cy="420624"/>
          </a:xfrm>
          <a:prstGeom prst="ellipse">
            <a:avLst/>
          </a:prstGeom>
          <a:solidFill>
            <a:srgbClr val="C08829"/>
          </a:solidFill>
          <a:ln/>
        </p:spPr>
      </p:sp>
      <p:sp>
        <p:nvSpPr>
          <p:cNvPr id="13" name="Text 11"/>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Approved</a:t>
            </a:r>
            <a:endParaRPr lang="en-US" sz="1700" dirty="0"/>
          </a:p>
        </p:txBody>
      </p:sp>
      <p:sp>
        <p:nvSpPr>
          <p:cNvPr id="15" name="Text 13"/>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And you might not be.</a:t>
            </a:r>
            <a:endParaRPr lang="en-US" sz="1350" dirty="0"/>
          </a:p>
        </p:txBody>
      </p:sp>
      <p:sp>
        <p:nvSpPr>
          <p:cNvPr id="16" name="Shape 14"/>
          <p:cNvSpPr/>
          <p:nvPr/>
        </p:nvSpPr>
        <p:spPr>
          <a:xfrm>
            <a:off x="685800" y="5255514"/>
            <a:ext cx="420624" cy="420624"/>
          </a:xfrm>
          <a:prstGeom prst="ellipse">
            <a:avLst/>
          </a:prstGeom>
          <a:solidFill>
            <a:srgbClr val="C08829"/>
          </a:solidFill>
          <a:ln/>
        </p:spPr>
      </p:sp>
      <p:sp>
        <p:nvSpPr>
          <p:cNvPr id="17" name="Text 15"/>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80% loan-to-value</a:t>
            </a:r>
            <a:endParaRPr lang="en-US" sz="1700" dirty="0"/>
          </a:p>
        </p:txBody>
      </p:sp>
      <p:sp>
        <p:nvSpPr>
          <p:cNvPr id="19" name="Text 17"/>
          <p:cNvSpPr txBox="1"/>
          <p:nvPr/>
        </p:nvSpPr>
        <p:spPr>
          <a:xfrm>
            <a:off x="1399032" y="556641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Calculators out. What is 80% of ₱2,000,000?</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AND THEN THE DEDUCTIONS</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Do you receive the full ₱1,600,000?</a:t>
            </a:r>
            <a:endParaRPr lang="en-US" sz="3400" dirty="0"/>
          </a:p>
        </p:txBody>
      </p:sp>
      <p:sp>
        <p:nvSpPr>
          <p:cNvPr id="4" name="Shape 2"/>
          <p:cNvSpPr/>
          <p:nvPr/>
        </p:nvSpPr>
        <p:spPr>
          <a:xfrm>
            <a:off x="685800" y="1965960"/>
            <a:ext cx="242316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205740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₱1.6M</a:t>
            </a:r>
            <a:endParaRPr lang="en-US" sz="4600" dirty="0"/>
          </a:p>
        </p:txBody>
      </p:sp>
      <p:sp>
        <p:nvSpPr>
          <p:cNvPr id="6" name="Text 4"/>
          <p:cNvSpPr txBox="1"/>
          <p:nvPr/>
        </p:nvSpPr>
        <p:spPr>
          <a:xfrm>
            <a:off x="868680" y="3364992"/>
            <a:ext cx="205740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approved</a:t>
            </a:r>
            <a:endParaRPr lang="en-US" sz="1300" dirty="0"/>
          </a:p>
        </p:txBody>
      </p:sp>
      <p:sp>
        <p:nvSpPr>
          <p:cNvPr id="7" name="Shape 5"/>
          <p:cNvSpPr/>
          <p:nvPr/>
        </p:nvSpPr>
        <p:spPr>
          <a:xfrm>
            <a:off x="3474720" y="1965960"/>
            <a:ext cx="242316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3657600" y="2267712"/>
            <a:ext cx="2057400"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less</a:t>
            </a:r>
            <a:endParaRPr lang="en-US" sz="4600" dirty="0"/>
          </a:p>
        </p:txBody>
      </p:sp>
      <p:sp>
        <p:nvSpPr>
          <p:cNvPr id="9" name="Text 7"/>
          <p:cNvSpPr txBox="1"/>
          <p:nvPr/>
        </p:nvSpPr>
        <p:spPr>
          <a:xfrm>
            <a:off x="3657600" y="3364992"/>
            <a:ext cx="205740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insurance</a:t>
            </a:r>
            <a:endParaRPr lang="en-US" sz="1300" dirty="0"/>
          </a:p>
        </p:txBody>
      </p:sp>
      <p:sp>
        <p:nvSpPr>
          <p:cNvPr id="10" name="Shape 8"/>
          <p:cNvSpPr/>
          <p:nvPr/>
        </p:nvSpPr>
        <p:spPr>
          <a:xfrm>
            <a:off x="6263640" y="1965960"/>
            <a:ext cx="2423160" cy="2377440"/>
          </a:xfrm>
          <a:prstGeom prst="roundRect">
            <a:avLst>
              <a:gd name="adj" fmla="val 3077"/>
            </a:avLst>
          </a:prstGeom>
          <a:solidFill>
            <a:srgbClr val="EEF1F8"/>
          </a:solidFill>
          <a:ln w="9525">
            <a:solidFill>
              <a:srgbClr val="D8DDEA"/>
            </a:solidFill>
            <a:prstDash val="solid"/>
          </a:ln>
        </p:spPr>
      </p:sp>
      <p:sp>
        <p:nvSpPr>
          <p:cNvPr id="11" name="Text 9"/>
          <p:cNvSpPr txBox="1"/>
          <p:nvPr/>
        </p:nvSpPr>
        <p:spPr>
          <a:xfrm>
            <a:off x="6446520" y="2267712"/>
            <a:ext cx="2057400"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less</a:t>
            </a:r>
            <a:endParaRPr lang="en-US" sz="4600" dirty="0"/>
          </a:p>
        </p:txBody>
      </p:sp>
      <p:sp>
        <p:nvSpPr>
          <p:cNvPr id="12" name="Text 10"/>
          <p:cNvSpPr txBox="1"/>
          <p:nvPr/>
        </p:nvSpPr>
        <p:spPr>
          <a:xfrm>
            <a:off x="6446520" y="3364992"/>
            <a:ext cx="205740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amortisation</a:t>
            </a:r>
            <a:endParaRPr lang="en-US" sz="1300" dirty="0"/>
          </a:p>
        </p:txBody>
      </p:sp>
      <p:sp>
        <p:nvSpPr>
          <p:cNvPr id="13" name="Shape 11"/>
          <p:cNvSpPr/>
          <p:nvPr/>
        </p:nvSpPr>
        <p:spPr>
          <a:xfrm>
            <a:off x="9052560" y="1965960"/>
            <a:ext cx="2423160" cy="2377440"/>
          </a:xfrm>
          <a:prstGeom prst="roundRect">
            <a:avLst>
              <a:gd name="adj" fmla="val 3077"/>
            </a:avLst>
          </a:prstGeom>
          <a:solidFill>
            <a:srgbClr val="EEF1F8"/>
          </a:solidFill>
          <a:ln w="9525">
            <a:solidFill>
              <a:srgbClr val="D8DDEA"/>
            </a:solidFill>
            <a:prstDash val="solid"/>
          </a:ln>
        </p:spPr>
      </p:sp>
      <p:sp>
        <p:nvSpPr>
          <p:cNvPr id="14" name="Text 12"/>
          <p:cNvSpPr txBox="1"/>
          <p:nvPr/>
        </p:nvSpPr>
        <p:spPr>
          <a:xfrm>
            <a:off x="9235440" y="2267712"/>
            <a:ext cx="2057400"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less</a:t>
            </a:r>
            <a:endParaRPr lang="en-US" sz="4600" dirty="0"/>
          </a:p>
        </p:txBody>
      </p:sp>
      <p:sp>
        <p:nvSpPr>
          <p:cNvPr id="15" name="Text 13"/>
          <p:cNvSpPr txBox="1"/>
          <p:nvPr/>
        </p:nvSpPr>
        <p:spPr>
          <a:xfrm>
            <a:off x="9235440" y="3364992"/>
            <a:ext cx="205740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credit loan protection</a:t>
            </a:r>
            <a:endParaRPr lang="en-US" sz="1300" dirty="0"/>
          </a:p>
        </p:txBody>
      </p:sp>
      <p:sp>
        <p:nvSpPr>
          <p:cNvPr id="16" name="Text 14"/>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May mga bawas pa yan. Do you feel the hassle? Type “hassle” in the chatbox.</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AND NOTICE THIS</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You never sold the land.</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You got liquidity out of an asset you kept. That is the whole idea, and it is centuries old.</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SENTENCE EVERYTHING RESTS ON</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A drop is not a loss until you are forced to sell.</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You would not lose the land because the market fell, or because you were wrong about BGC. You would lose it to foreclosure — forced to sell at a moment you did not choose. Everything we teach is about removing the force.</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2</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TWO</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Digital real estate</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The same shape, on a platform — and the one difference that matters.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SAME MECHANIC</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Land and Bitcoin do the same job</a:t>
            </a:r>
            <a:endParaRPr lang="en-US" sz="3400" dirty="0"/>
          </a:p>
        </p:txBody>
      </p:sp>
      <p:sp>
        <p:nvSpPr>
          <p:cNvPr id="4" name="Shape 2"/>
          <p:cNvSpPr/>
          <p:nvPr/>
        </p:nvSpPr>
        <p:spPr>
          <a:xfrm>
            <a:off x="685800" y="1847088"/>
            <a:ext cx="5138928" cy="4160520"/>
          </a:xfrm>
          <a:prstGeom prst="roundRect">
            <a:avLst>
              <a:gd name="adj" fmla="val 1758"/>
            </a:avLst>
          </a:prstGeom>
          <a:solidFill>
            <a:srgbClr val="EEF1F8"/>
          </a:solidFill>
          <a:ln w="9525">
            <a:solidFill>
              <a:srgbClr val="D8DDEA"/>
            </a:solidFill>
            <a:prstDash val="solid"/>
          </a:ln>
        </p:spPr>
      </p:sp>
      <p:sp>
        <p:nvSpPr>
          <p:cNvPr id="5" name="Text 3"/>
          <p:cNvSpPr txBox="1"/>
          <p:nvPr/>
        </p:nvSpPr>
        <p:spPr>
          <a:xfrm>
            <a:off x="1069848" y="2157984"/>
            <a:ext cx="4370832" cy="548640"/>
          </a:xfrm>
          <a:prstGeom prst="rect">
            <a:avLst/>
          </a:prstGeom>
          <a:noFill/>
          <a:ln/>
        </p:spPr>
        <p:txBody>
          <a:bodyPr wrap="square" lIns="0" tIns="0" rIns="0" bIns="0" rtlCol="0" anchor="ctr"/>
          <a:lstStyle/>
          <a:p>
            <a:pPr indent="0" marL="0">
              <a:buNone/>
            </a:pPr>
            <a:r>
              <a:rPr lang="en-US" sz="2100" b="1" dirty="0">
                <a:solidFill>
                  <a:srgbClr val="C08829"/>
                </a:solidFill>
                <a:latin typeface="Cambria" pitchFamily="34" charset="0"/>
                <a:ea typeface="Cambria" pitchFamily="34" charset="-122"/>
                <a:cs typeface="Cambria" pitchFamily="34" charset="-120"/>
              </a:rPr>
              <a:t>Physical real estate</a:t>
            </a:r>
            <a:endParaRPr lang="en-US" sz="2100" dirty="0"/>
          </a:p>
        </p:txBody>
      </p:sp>
      <p:sp>
        <p:nvSpPr>
          <p:cNvPr id="6" name="Text 4"/>
          <p:cNvSpPr txBox="1"/>
          <p:nvPr/>
        </p:nvSpPr>
        <p:spPr>
          <a:xfrm>
            <a:off x="1069848" y="2688336"/>
            <a:ext cx="4370832" cy="320040"/>
          </a:xfrm>
          <a:prstGeom prst="rect">
            <a:avLst/>
          </a:prstGeom>
          <a:noFill/>
          <a:ln/>
        </p:spPr>
        <p:txBody>
          <a:bodyPr wrap="square" lIns="0" tIns="0" rIns="0" bIns="0" rtlCol="0" anchor="ctr"/>
          <a:lstStyle/>
          <a:p>
            <a:pPr indent="0" marL="0">
              <a:buNone/>
            </a:pPr>
            <a:r>
              <a:rPr lang="en-US" sz="1200" dirty="0">
                <a:solidFill>
                  <a:srgbClr val="8A92A8"/>
                </a:solidFill>
                <a:latin typeface="Calibri" pitchFamily="34" charset="0"/>
                <a:ea typeface="Calibri" pitchFamily="34" charset="-122"/>
                <a:cs typeface="Calibri" pitchFamily="34" charset="-120"/>
              </a:rPr>
              <a:t>A hectare in BGC</a:t>
            </a:r>
            <a:endParaRPr lang="en-US" sz="1200" dirty="0"/>
          </a:p>
        </p:txBody>
      </p:sp>
      <p:sp>
        <p:nvSpPr>
          <p:cNvPr id="7" name="Text 5"/>
          <p:cNvSpPr txBox="1"/>
          <p:nvPr/>
        </p:nvSpPr>
        <p:spPr>
          <a:xfrm>
            <a:off x="1069848" y="307238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An asset that appreciates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can borrow against it</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keep it while you borrow</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Forms, appraisal, due diligence, approval</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Fees and insurance come out of your loan</a:t>
            </a:r>
            <a:endParaRPr lang="en-US" sz="1400" dirty="0"/>
          </a:p>
        </p:txBody>
      </p:sp>
      <p:sp>
        <p:nvSpPr>
          <p:cNvPr id="8" name="Shape 6"/>
          <p:cNvSpPr/>
          <p:nvPr/>
        </p:nvSpPr>
        <p:spPr>
          <a:xfrm>
            <a:off x="6336792" y="1847088"/>
            <a:ext cx="5138928" cy="4160520"/>
          </a:xfrm>
          <a:prstGeom prst="roundRect">
            <a:avLst>
              <a:gd name="adj" fmla="val 1758"/>
            </a:avLst>
          </a:prstGeom>
          <a:solidFill>
            <a:srgbClr val="EEF1F8"/>
          </a:solidFill>
          <a:ln w="9525">
            <a:solidFill>
              <a:srgbClr val="D8DDEA"/>
            </a:solidFill>
            <a:prstDash val="solid"/>
          </a:ln>
        </p:spPr>
      </p:sp>
      <p:sp>
        <p:nvSpPr>
          <p:cNvPr id="9" name="Text 7"/>
          <p:cNvSpPr txBox="1"/>
          <p:nvPr/>
        </p:nvSpPr>
        <p:spPr>
          <a:xfrm>
            <a:off x="6720840" y="2157984"/>
            <a:ext cx="4370832" cy="548640"/>
          </a:xfrm>
          <a:prstGeom prst="rect">
            <a:avLst/>
          </a:prstGeom>
          <a:noFill/>
          <a:ln/>
        </p:spPr>
        <p:txBody>
          <a:bodyPr wrap="square" lIns="0" tIns="0" rIns="0" bIns="0" rtlCol="0" anchor="ctr"/>
          <a:lstStyle/>
          <a:p>
            <a:pPr indent="0" marL="0">
              <a:buNone/>
            </a:pPr>
            <a:r>
              <a:rPr lang="en-US" sz="2100" b="1" dirty="0">
                <a:solidFill>
                  <a:srgbClr val="25774F"/>
                </a:solidFill>
                <a:latin typeface="Cambria" pitchFamily="34" charset="0"/>
                <a:ea typeface="Cambria" pitchFamily="34" charset="-122"/>
                <a:cs typeface="Cambria" pitchFamily="34" charset="-120"/>
              </a:rPr>
              <a:t>Digital real estate</a:t>
            </a:r>
            <a:endParaRPr lang="en-US" sz="2100" dirty="0"/>
          </a:p>
        </p:txBody>
      </p:sp>
      <p:sp>
        <p:nvSpPr>
          <p:cNvPr id="10" name="Text 8"/>
          <p:cNvSpPr txBox="1"/>
          <p:nvPr/>
        </p:nvSpPr>
        <p:spPr>
          <a:xfrm>
            <a:off x="6720840" y="2688336"/>
            <a:ext cx="4370832" cy="320040"/>
          </a:xfrm>
          <a:prstGeom prst="rect">
            <a:avLst/>
          </a:prstGeom>
          <a:noFill/>
          <a:ln/>
        </p:spPr>
        <p:txBody>
          <a:bodyPr wrap="square" lIns="0" tIns="0" rIns="0" bIns="0" rtlCol="0" anchor="ctr"/>
          <a:lstStyle/>
          <a:p>
            <a:pPr indent="0" marL="0">
              <a:buNone/>
            </a:pPr>
            <a:r>
              <a:rPr lang="en-US" sz="1200" dirty="0">
                <a:solidFill>
                  <a:srgbClr val="8A92A8"/>
                </a:solidFill>
                <a:latin typeface="Calibri" pitchFamily="34" charset="0"/>
                <a:ea typeface="Calibri" pitchFamily="34" charset="-122"/>
                <a:cs typeface="Calibri" pitchFamily="34" charset="-120"/>
              </a:rPr>
              <a:t>Bitcoin</a:t>
            </a:r>
            <a:endParaRPr lang="en-US" sz="1200" dirty="0"/>
          </a:p>
        </p:txBody>
      </p:sp>
      <p:sp>
        <p:nvSpPr>
          <p:cNvPr id="11" name="Text 9"/>
          <p:cNvSpPr txBox="1"/>
          <p:nvPr/>
        </p:nvSpPr>
        <p:spPr>
          <a:xfrm>
            <a:off x="6720840" y="307238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An asset that appreciates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can borrow against it</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keep it while you borrow</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No forms, no bank visit, no rejection</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receive the whole amount you borrow</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AND NOW THE HONEST PART</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The difference that will cost you money</a:t>
            </a:r>
            <a:endParaRPr lang="en-US" sz="3400" dirty="0"/>
          </a:p>
        </p:txBody>
      </p:sp>
      <p:sp>
        <p:nvSpPr>
          <p:cNvPr id="4" name="Shape 2"/>
          <p:cNvSpPr/>
          <p:nvPr/>
        </p:nvSpPr>
        <p:spPr>
          <a:xfrm>
            <a:off x="685800" y="1847088"/>
            <a:ext cx="5138928" cy="4160520"/>
          </a:xfrm>
          <a:prstGeom prst="roundRect">
            <a:avLst>
              <a:gd name="adj" fmla="val 1758"/>
            </a:avLst>
          </a:prstGeom>
          <a:solidFill>
            <a:srgbClr val="EEF1F8"/>
          </a:solidFill>
          <a:ln w="9525">
            <a:solidFill>
              <a:srgbClr val="D8DDEA"/>
            </a:solidFill>
            <a:prstDash val="solid"/>
          </a:ln>
        </p:spPr>
      </p:sp>
      <p:sp>
        <p:nvSpPr>
          <p:cNvPr id="5" name="Text 3"/>
          <p:cNvSpPr txBox="1"/>
          <p:nvPr/>
        </p:nvSpPr>
        <p:spPr>
          <a:xfrm>
            <a:off x="1069848" y="2157984"/>
            <a:ext cx="4370832" cy="548640"/>
          </a:xfrm>
          <a:prstGeom prst="rect">
            <a:avLst/>
          </a:prstGeom>
          <a:noFill/>
          <a:ln/>
        </p:spPr>
        <p:txBody>
          <a:bodyPr wrap="square" lIns="0" tIns="0" rIns="0" bIns="0" rtlCol="0" anchor="ctr"/>
          <a:lstStyle/>
          <a:p>
            <a:pPr indent="0" marL="0">
              <a:buNone/>
            </a:pPr>
            <a:r>
              <a:rPr lang="en-US" sz="2100" b="1" dirty="0">
                <a:solidFill>
                  <a:srgbClr val="B4720F"/>
                </a:solidFill>
                <a:latin typeface="Cambria" pitchFamily="34" charset="0"/>
                <a:ea typeface="Cambria" pitchFamily="34" charset="-122"/>
                <a:cs typeface="Cambria" pitchFamily="34" charset="-120"/>
              </a:rPr>
              <a:t>A bank forecloses</a:t>
            </a:r>
            <a:endParaRPr lang="en-US" sz="2100" dirty="0"/>
          </a:p>
        </p:txBody>
      </p:sp>
      <p:sp>
        <p:nvSpPr>
          <p:cNvPr id="6" name="Text 4"/>
          <p:cNvSpPr txBox="1"/>
          <p:nvPr/>
        </p:nvSpPr>
        <p:spPr>
          <a:xfrm>
            <a:off x="1069848" y="2688336"/>
            <a:ext cx="4370832" cy="320040"/>
          </a:xfrm>
          <a:prstGeom prst="rect">
            <a:avLst/>
          </a:prstGeom>
          <a:noFill/>
          <a:ln/>
        </p:spPr>
        <p:txBody>
          <a:bodyPr wrap="square" lIns="0" tIns="0" rIns="0" bIns="0" rtlCol="0" anchor="ctr"/>
          <a:lstStyle/>
          <a:p>
            <a:pPr indent="0" marL="0">
              <a:buNone/>
            </a:pPr>
            <a:r>
              <a:rPr lang="en-US" sz="1200" dirty="0">
                <a:solidFill>
                  <a:srgbClr val="8A92A8"/>
                </a:solidFill>
                <a:latin typeface="Calibri" pitchFamily="34" charset="0"/>
                <a:ea typeface="Calibri" pitchFamily="34" charset="-122"/>
                <a:cs typeface="Calibri" pitchFamily="34" charset="-120"/>
              </a:rPr>
              <a:t>Physical real estate</a:t>
            </a:r>
            <a:endParaRPr lang="en-US" sz="1200" dirty="0"/>
          </a:p>
        </p:txBody>
      </p:sp>
      <p:sp>
        <p:nvSpPr>
          <p:cNvPr id="7" name="Text 5"/>
          <p:cNvSpPr txBox="1"/>
          <p:nvPr/>
        </p:nvSpPr>
        <p:spPr>
          <a:xfrm>
            <a:off x="1069848" y="307238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miss payments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Notices arrive</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Letters, then more letters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Chances to fix it</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MONTHS</a:t>
            </a:r>
            <a:endParaRPr lang="en-US" sz="1400" dirty="0"/>
          </a:p>
        </p:txBody>
      </p:sp>
      <p:sp>
        <p:nvSpPr>
          <p:cNvPr id="8" name="Shape 6"/>
          <p:cNvSpPr/>
          <p:nvPr/>
        </p:nvSpPr>
        <p:spPr>
          <a:xfrm>
            <a:off x="6336792" y="1847088"/>
            <a:ext cx="5138928" cy="4160520"/>
          </a:xfrm>
          <a:prstGeom prst="roundRect">
            <a:avLst>
              <a:gd name="adj" fmla="val 1758"/>
            </a:avLst>
          </a:prstGeom>
          <a:solidFill>
            <a:srgbClr val="EEF1F8"/>
          </a:solidFill>
          <a:ln w="9525">
            <a:solidFill>
              <a:srgbClr val="D8DDEA"/>
            </a:solidFill>
            <a:prstDash val="solid"/>
          </a:ln>
        </p:spPr>
      </p:sp>
      <p:sp>
        <p:nvSpPr>
          <p:cNvPr id="9" name="Text 7"/>
          <p:cNvSpPr txBox="1"/>
          <p:nvPr/>
        </p:nvSpPr>
        <p:spPr>
          <a:xfrm>
            <a:off x="6720840" y="2157984"/>
            <a:ext cx="4370832" cy="548640"/>
          </a:xfrm>
          <a:prstGeom prst="rect">
            <a:avLst/>
          </a:prstGeom>
          <a:noFill/>
          <a:ln/>
        </p:spPr>
        <p:txBody>
          <a:bodyPr wrap="square" lIns="0" tIns="0" rIns="0" bIns="0" rtlCol="0" anchor="ctr"/>
          <a:lstStyle/>
          <a:p>
            <a:pPr indent="0" marL="0">
              <a:buNone/>
            </a:pPr>
            <a:r>
              <a:rPr lang="en-US" sz="2100" b="1" dirty="0">
                <a:solidFill>
                  <a:srgbClr val="A82F26"/>
                </a:solidFill>
                <a:latin typeface="Cambria" pitchFamily="34" charset="0"/>
                <a:ea typeface="Cambria" pitchFamily="34" charset="-122"/>
                <a:cs typeface="Cambria" pitchFamily="34" charset="-120"/>
              </a:rPr>
              <a:t>A platform just sells</a:t>
            </a:r>
            <a:endParaRPr lang="en-US" sz="2100" dirty="0"/>
          </a:p>
        </p:txBody>
      </p:sp>
      <p:sp>
        <p:nvSpPr>
          <p:cNvPr id="10" name="Text 8"/>
          <p:cNvSpPr txBox="1"/>
          <p:nvPr/>
        </p:nvSpPr>
        <p:spPr>
          <a:xfrm>
            <a:off x="6720840" y="2688336"/>
            <a:ext cx="4370832" cy="320040"/>
          </a:xfrm>
          <a:prstGeom prst="rect">
            <a:avLst/>
          </a:prstGeom>
          <a:noFill/>
          <a:ln/>
        </p:spPr>
        <p:txBody>
          <a:bodyPr wrap="square" lIns="0" tIns="0" rIns="0" bIns="0" rtlCol="0" anchor="ctr"/>
          <a:lstStyle/>
          <a:p>
            <a:pPr indent="0" marL="0">
              <a:buNone/>
            </a:pPr>
            <a:r>
              <a:rPr lang="en-US" sz="1200" dirty="0">
                <a:solidFill>
                  <a:srgbClr val="8A92A8"/>
                </a:solidFill>
                <a:latin typeface="Calibri" pitchFamily="34" charset="0"/>
                <a:ea typeface="Calibri" pitchFamily="34" charset="-122"/>
                <a:cs typeface="Calibri" pitchFamily="34" charset="-120"/>
              </a:rPr>
              <a:t>Digital real estate</a:t>
            </a:r>
            <a:endParaRPr lang="en-US" sz="1200" dirty="0"/>
          </a:p>
        </p:txBody>
      </p:sp>
      <p:sp>
        <p:nvSpPr>
          <p:cNvPr id="11" name="Text 9"/>
          <p:cNvSpPr txBox="1"/>
          <p:nvPr/>
        </p:nvSpPr>
        <p:spPr>
          <a:xfrm>
            <a:off x="6720840" y="307238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The price hits a number</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No notice</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No letter</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Nobody calls you</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SECONDS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3</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THREE</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Capital preservation</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What this asset actually does, and how anyone is still holding it.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SEVEN YEARS OF WEATHER</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Roughly once a year, for seven years</a:t>
            </a:r>
            <a:endParaRPr lang="en-US" sz="3400" dirty="0"/>
          </a:p>
        </p:txBody>
      </p:sp>
      <p:sp>
        <p:nvSpPr>
          <p:cNvPr id="4" name="Shape 2"/>
          <p:cNvSpPr/>
          <p:nvPr/>
        </p:nvSpPr>
        <p:spPr>
          <a:xfrm>
            <a:off x="685800" y="1965960"/>
            <a:ext cx="1865376" cy="2377440"/>
          </a:xfrm>
          <a:prstGeom prst="roundRect">
            <a:avLst>
              <a:gd name="adj" fmla="val 3922"/>
            </a:avLst>
          </a:prstGeom>
          <a:solidFill>
            <a:srgbClr val="EEF1F8"/>
          </a:solidFill>
          <a:ln w="9525">
            <a:solidFill>
              <a:srgbClr val="D8DDEA"/>
            </a:solidFill>
            <a:prstDash val="solid"/>
          </a:ln>
        </p:spPr>
      </p:sp>
      <p:sp>
        <p:nvSpPr>
          <p:cNvPr id="5" name="Text 3"/>
          <p:cNvSpPr txBox="1"/>
          <p:nvPr/>
        </p:nvSpPr>
        <p:spPr>
          <a:xfrm>
            <a:off x="868680" y="2267712"/>
            <a:ext cx="1499616"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−54%</a:t>
            </a:r>
            <a:endParaRPr lang="en-US" sz="4600" dirty="0"/>
          </a:p>
        </p:txBody>
      </p:sp>
      <p:sp>
        <p:nvSpPr>
          <p:cNvPr id="6" name="Text 4"/>
          <p:cNvSpPr txBox="1"/>
          <p:nvPr/>
        </p:nvSpPr>
        <p:spPr>
          <a:xfrm>
            <a:off x="868680" y="3364992"/>
            <a:ext cx="1499616"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2019</a:t>
            </a:r>
            <a:endParaRPr lang="en-US" sz="1300" dirty="0"/>
          </a:p>
        </p:txBody>
      </p:sp>
      <p:sp>
        <p:nvSpPr>
          <p:cNvPr id="7" name="Shape 5"/>
          <p:cNvSpPr/>
          <p:nvPr/>
        </p:nvSpPr>
        <p:spPr>
          <a:xfrm>
            <a:off x="2916936" y="1965960"/>
            <a:ext cx="1865376" cy="2377440"/>
          </a:xfrm>
          <a:prstGeom prst="roundRect">
            <a:avLst>
              <a:gd name="adj" fmla="val 3922"/>
            </a:avLst>
          </a:prstGeom>
          <a:solidFill>
            <a:srgbClr val="EEF1F8"/>
          </a:solidFill>
          <a:ln w="9525">
            <a:solidFill>
              <a:srgbClr val="D8DDEA"/>
            </a:solidFill>
            <a:prstDash val="solid"/>
          </a:ln>
        </p:spPr>
      </p:sp>
      <p:sp>
        <p:nvSpPr>
          <p:cNvPr id="8" name="Text 6"/>
          <p:cNvSpPr txBox="1"/>
          <p:nvPr/>
        </p:nvSpPr>
        <p:spPr>
          <a:xfrm>
            <a:off x="3099816" y="2267712"/>
            <a:ext cx="1499616"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−63%</a:t>
            </a:r>
            <a:endParaRPr lang="en-US" sz="4600" dirty="0"/>
          </a:p>
        </p:txBody>
      </p:sp>
      <p:sp>
        <p:nvSpPr>
          <p:cNvPr id="9" name="Text 7"/>
          <p:cNvSpPr txBox="1"/>
          <p:nvPr/>
        </p:nvSpPr>
        <p:spPr>
          <a:xfrm>
            <a:off x="3099816" y="3364992"/>
            <a:ext cx="1499616"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2020 · COVID</a:t>
            </a:r>
            <a:endParaRPr lang="en-US" sz="1300" dirty="0"/>
          </a:p>
        </p:txBody>
      </p:sp>
      <p:sp>
        <p:nvSpPr>
          <p:cNvPr id="10" name="Shape 8"/>
          <p:cNvSpPr/>
          <p:nvPr/>
        </p:nvSpPr>
        <p:spPr>
          <a:xfrm>
            <a:off x="5148072" y="1965960"/>
            <a:ext cx="1865376" cy="2377440"/>
          </a:xfrm>
          <a:prstGeom prst="roundRect">
            <a:avLst>
              <a:gd name="adj" fmla="val 3922"/>
            </a:avLst>
          </a:prstGeom>
          <a:solidFill>
            <a:srgbClr val="EEF1F8"/>
          </a:solidFill>
          <a:ln w="9525">
            <a:solidFill>
              <a:srgbClr val="D8DDEA"/>
            </a:solidFill>
            <a:prstDash val="solid"/>
          </a:ln>
        </p:spPr>
      </p:sp>
      <p:sp>
        <p:nvSpPr>
          <p:cNvPr id="11" name="Text 9"/>
          <p:cNvSpPr txBox="1"/>
          <p:nvPr/>
        </p:nvSpPr>
        <p:spPr>
          <a:xfrm>
            <a:off x="5330952" y="2267712"/>
            <a:ext cx="1499616"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−54%</a:t>
            </a:r>
            <a:endParaRPr lang="en-US" sz="4600" dirty="0"/>
          </a:p>
        </p:txBody>
      </p:sp>
      <p:sp>
        <p:nvSpPr>
          <p:cNvPr id="12" name="Text 10"/>
          <p:cNvSpPr txBox="1"/>
          <p:nvPr/>
        </p:nvSpPr>
        <p:spPr>
          <a:xfrm>
            <a:off x="5330952" y="3364992"/>
            <a:ext cx="1499616"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2021</a:t>
            </a:r>
            <a:endParaRPr lang="en-US" sz="1300" dirty="0"/>
          </a:p>
        </p:txBody>
      </p:sp>
      <p:sp>
        <p:nvSpPr>
          <p:cNvPr id="13" name="Shape 11"/>
          <p:cNvSpPr/>
          <p:nvPr/>
        </p:nvSpPr>
        <p:spPr>
          <a:xfrm>
            <a:off x="7379208" y="1965960"/>
            <a:ext cx="1865376" cy="2377440"/>
          </a:xfrm>
          <a:prstGeom prst="roundRect">
            <a:avLst>
              <a:gd name="adj" fmla="val 3922"/>
            </a:avLst>
          </a:prstGeom>
          <a:solidFill>
            <a:srgbClr val="EEF1F8"/>
          </a:solidFill>
          <a:ln w="9525">
            <a:solidFill>
              <a:srgbClr val="D8DDEA"/>
            </a:solidFill>
            <a:prstDash val="solid"/>
          </a:ln>
        </p:spPr>
      </p:sp>
      <p:sp>
        <p:nvSpPr>
          <p:cNvPr id="14" name="Text 12"/>
          <p:cNvSpPr txBox="1"/>
          <p:nvPr/>
        </p:nvSpPr>
        <p:spPr>
          <a:xfrm>
            <a:off x="7562088" y="2267712"/>
            <a:ext cx="1499616" cy="1051560"/>
          </a:xfrm>
          <a:prstGeom prst="rect">
            <a:avLst/>
          </a:prstGeom>
          <a:noFill/>
          <a:ln/>
        </p:spPr>
        <p:txBody>
          <a:bodyPr wrap="square" lIns="0" tIns="0" rIns="0" bIns="0" rtlCol="0" anchor="ctr"/>
          <a:lstStyle/>
          <a:p>
            <a:pPr algn="ctr" indent="0" marL="0">
              <a:buNone/>
            </a:pPr>
            <a:r>
              <a:rPr lang="en-US" sz="4600" b="1" dirty="0">
                <a:solidFill>
                  <a:srgbClr val="A82F26"/>
                </a:solidFill>
                <a:latin typeface="Cambria" pitchFamily="34" charset="0"/>
                <a:ea typeface="Cambria" pitchFamily="34" charset="-122"/>
                <a:cs typeface="Cambria" pitchFamily="34" charset="-120"/>
              </a:rPr>
              <a:t>−77%</a:t>
            </a:r>
            <a:endParaRPr lang="en-US" sz="4600" dirty="0"/>
          </a:p>
        </p:txBody>
      </p:sp>
      <p:sp>
        <p:nvSpPr>
          <p:cNvPr id="15" name="Text 13"/>
          <p:cNvSpPr txBox="1"/>
          <p:nvPr/>
        </p:nvSpPr>
        <p:spPr>
          <a:xfrm>
            <a:off x="7562088" y="3364992"/>
            <a:ext cx="1499616"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2022</a:t>
            </a:r>
            <a:endParaRPr lang="en-US" sz="1300" dirty="0"/>
          </a:p>
        </p:txBody>
      </p:sp>
      <p:sp>
        <p:nvSpPr>
          <p:cNvPr id="16" name="Shape 14"/>
          <p:cNvSpPr/>
          <p:nvPr/>
        </p:nvSpPr>
        <p:spPr>
          <a:xfrm>
            <a:off x="9610344" y="1965960"/>
            <a:ext cx="1865376" cy="2377440"/>
          </a:xfrm>
          <a:prstGeom prst="roundRect">
            <a:avLst>
              <a:gd name="adj" fmla="val 3922"/>
            </a:avLst>
          </a:prstGeom>
          <a:solidFill>
            <a:srgbClr val="EEF1F8"/>
          </a:solidFill>
          <a:ln w="9525">
            <a:solidFill>
              <a:srgbClr val="D8DDEA"/>
            </a:solidFill>
            <a:prstDash val="solid"/>
          </a:ln>
        </p:spPr>
      </p:sp>
      <p:sp>
        <p:nvSpPr>
          <p:cNvPr id="17" name="Text 15"/>
          <p:cNvSpPr txBox="1"/>
          <p:nvPr/>
        </p:nvSpPr>
        <p:spPr>
          <a:xfrm>
            <a:off x="9793224" y="2267712"/>
            <a:ext cx="1499616"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−33%</a:t>
            </a:r>
            <a:endParaRPr lang="en-US" sz="4600" dirty="0"/>
          </a:p>
        </p:txBody>
      </p:sp>
      <p:sp>
        <p:nvSpPr>
          <p:cNvPr id="18" name="Text 16"/>
          <p:cNvSpPr txBox="1"/>
          <p:nvPr/>
        </p:nvSpPr>
        <p:spPr>
          <a:xfrm>
            <a:off x="9793224" y="3364992"/>
            <a:ext cx="1499616"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2024</a:t>
            </a:r>
            <a:endParaRPr lang="en-US" sz="1300" dirty="0"/>
          </a:p>
        </p:txBody>
      </p:sp>
      <p:sp>
        <p:nvSpPr>
          <p:cNvPr id="19" name="Text 17"/>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Anyone who tells you this is unusual is lying or has not looked. It is the weather.</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SO HOW IS ANYONE STILL HOLDING?</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Not by predicting it. Nobody predicted it.</a:t>
            </a:r>
            <a:endParaRPr lang="en-US" sz="3400" dirty="0"/>
          </a:p>
        </p:txBody>
      </p:sp>
      <p:sp>
        <p:nvSpPr>
          <p:cNvPr id="4" name="Shape 2"/>
          <p:cNvSpPr/>
          <p:nvPr/>
        </p:nvSpPr>
        <p:spPr>
          <a:xfrm>
            <a:off x="685800" y="1929384"/>
            <a:ext cx="420624" cy="420624"/>
          </a:xfrm>
          <a:prstGeom prst="ellipse">
            <a:avLst/>
          </a:prstGeom>
          <a:solidFill>
            <a:srgbClr val="25774F"/>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Borrow so little that the forced sale never reaches you</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A ceiling on how much you borrow against what you own.</a:t>
            </a:r>
            <a:endParaRPr lang="en-US" sz="1350" dirty="0"/>
          </a:p>
        </p:txBody>
      </p:sp>
      <p:sp>
        <p:nvSpPr>
          <p:cNvPr id="8" name="Shape 6"/>
          <p:cNvSpPr/>
          <p:nvPr/>
        </p:nvSpPr>
        <p:spPr>
          <a:xfrm>
            <a:off x="685800" y="3407664"/>
            <a:ext cx="420624" cy="420624"/>
          </a:xfrm>
          <a:prstGeom prst="ellipse">
            <a:avLst/>
          </a:prstGeom>
          <a:solidFill>
            <a:srgbClr val="25774F"/>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Keep money back that you never touch</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A reserve that exists only to defend the position.</a:t>
            </a:r>
            <a:endParaRPr lang="en-US" sz="1350" dirty="0"/>
          </a:p>
        </p:txBody>
      </p:sp>
      <p:sp>
        <p:nvSpPr>
          <p:cNvPr id="12" name="Shape 10"/>
          <p:cNvSpPr/>
          <p:nvPr/>
        </p:nvSpPr>
        <p:spPr>
          <a:xfrm>
            <a:off x="685800" y="4885944"/>
            <a:ext cx="420624" cy="420624"/>
          </a:xfrm>
          <a:prstGeom prst="ellipse">
            <a:avLst/>
          </a:prstGeom>
          <a:solidFill>
            <a:srgbClr val="25774F"/>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Write down what you will do before the price falls</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Four alarms, each with an instruction attached. Decided while nothing is wrong.</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B4720F"/>
                </a:solidFill>
                <a:latin typeface="Calibri" pitchFamily="34" charset="0"/>
                <a:ea typeface="Calibri" pitchFamily="34" charset="-122"/>
                <a:cs typeface="Calibri" pitchFamily="34" charset="-120"/>
              </a:rPr>
              <a:t>AND NOW THE HONEST HALF</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You still take the drawdown.</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At the bottom of 2022 your Bitcoin was worth about 23 centavos on the peso. Our rules did not stop that and nothing can. What they did was make sure you still owned all of it — so when it turned, it turned in your hands. We preserve the asset. That is what lets you choose your own timing.</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FIT CHECK</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Straight from our prospectus</a:t>
            </a:r>
            <a:endParaRPr lang="en-US" sz="3400" dirty="0"/>
          </a:p>
        </p:txBody>
      </p:sp>
      <p:sp>
        <p:nvSpPr>
          <p:cNvPr id="4" name="Shape 2"/>
          <p:cNvSpPr/>
          <p:nvPr/>
        </p:nvSpPr>
        <p:spPr>
          <a:xfrm>
            <a:off x="685800" y="1847088"/>
            <a:ext cx="5138928" cy="4160520"/>
          </a:xfrm>
          <a:prstGeom prst="roundRect">
            <a:avLst>
              <a:gd name="adj" fmla="val 1758"/>
            </a:avLst>
          </a:prstGeom>
          <a:solidFill>
            <a:srgbClr val="EEF1F8"/>
          </a:solidFill>
          <a:ln w="9525">
            <a:solidFill>
              <a:srgbClr val="D8DDEA"/>
            </a:solidFill>
            <a:prstDash val="solid"/>
          </a:ln>
        </p:spPr>
      </p:sp>
      <p:sp>
        <p:nvSpPr>
          <p:cNvPr id="5" name="Text 3"/>
          <p:cNvSpPr txBox="1"/>
          <p:nvPr/>
        </p:nvSpPr>
        <p:spPr>
          <a:xfrm>
            <a:off x="1069848" y="2157984"/>
            <a:ext cx="4370832" cy="548640"/>
          </a:xfrm>
          <a:prstGeom prst="rect">
            <a:avLst/>
          </a:prstGeom>
          <a:noFill/>
          <a:ln/>
        </p:spPr>
        <p:txBody>
          <a:bodyPr wrap="square" lIns="0" tIns="0" rIns="0" bIns="0" rtlCol="0" anchor="ctr"/>
          <a:lstStyle/>
          <a:p>
            <a:pPr indent="0" marL="0">
              <a:buNone/>
            </a:pPr>
            <a:r>
              <a:rPr lang="en-US" sz="2100" b="1" dirty="0">
                <a:solidFill>
                  <a:srgbClr val="25774F"/>
                </a:solidFill>
                <a:latin typeface="Cambria" pitchFamily="34" charset="0"/>
                <a:ea typeface="Cambria" pitchFamily="34" charset="-122"/>
                <a:cs typeface="Cambria" pitchFamily="34" charset="-120"/>
              </a:rPr>
              <a:t>This is for you if</a:t>
            </a:r>
            <a:endParaRPr lang="en-US" sz="2100" dirty="0"/>
          </a:p>
        </p:txBody>
      </p:sp>
      <p:sp>
        <p:nvSpPr>
          <p:cNvPr id="6" name="Text 4"/>
          <p:cNvSpPr txBox="1"/>
          <p:nvPr/>
        </p:nvSpPr>
        <p:spPr>
          <a:xfrm>
            <a:off x="1069848" y="279806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already earn or invest, and want a rules-based strategy instead of guessing</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want to understand collateralised borrowing before you ever touch it</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value capital preservation first, growth second</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want mentors who show real charts, real levels, real risk math</a:t>
            </a:r>
            <a:endParaRPr lang="en-US" sz="1400" dirty="0"/>
          </a:p>
        </p:txBody>
      </p:sp>
      <p:sp>
        <p:nvSpPr>
          <p:cNvPr id="7" name="Shape 5"/>
          <p:cNvSpPr/>
          <p:nvPr/>
        </p:nvSpPr>
        <p:spPr>
          <a:xfrm>
            <a:off x="6336792" y="1847088"/>
            <a:ext cx="5138928" cy="4160520"/>
          </a:xfrm>
          <a:prstGeom prst="roundRect">
            <a:avLst>
              <a:gd name="adj" fmla="val 1758"/>
            </a:avLst>
          </a:prstGeom>
          <a:solidFill>
            <a:srgbClr val="EEF1F8"/>
          </a:solidFill>
          <a:ln w="9525">
            <a:solidFill>
              <a:srgbClr val="D8DDEA"/>
            </a:solidFill>
            <a:prstDash val="solid"/>
          </a:ln>
        </p:spPr>
      </p:sp>
      <p:sp>
        <p:nvSpPr>
          <p:cNvPr id="8" name="Text 6"/>
          <p:cNvSpPr txBox="1"/>
          <p:nvPr/>
        </p:nvSpPr>
        <p:spPr>
          <a:xfrm>
            <a:off x="6720840" y="2157984"/>
            <a:ext cx="4370832" cy="548640"/>
          </a:xfrm>
          <a:prstGeom prst="rect">
            <a:avLst/>
          </a:prstGeom>
          <a:noFill/>
          <a:ln/>
        </p:spPr>
        <p:txBody>
          <a:bodyPr wrap="square" lIns="0" tIns="0" rIns="0" bIns="0" rtlCol="0" anchor="ctr"/>
          <a:lstStyle/>
          <a:p>
            <a:pPr indent="0" marL="0">
              <a:buNone/>
            </a:pPr>
            <a:r>
              <a:rPr lang="en-US" sz="2100" b="1" dirty="0">
                <a:solidFill>
                  <a:srgbClr val="A82F26"/>
                </a:solidFill>
                <a:latin typeface="Cambria" pitchFamily="34" charset="0"/>
                <a:ea typeface="Cambria" pitchFamily="34" charset="-122"/>
                <a:cs typeface="Cambria" pitchFamily="34" charset="-120"/>
              </a:rPr>
              <a:t>This is NOT for you if</a:t>
            </a:r>
            <a:endParaRPr lang="en-US" sz="2100" dirty="0"/>
          </a:p>
        </p:txBody>
      </p:sp>
      <p:sp>
        <p:nvSpPr>
          <p:cNvPr id="9" name="Text 7"/>
          <p:cNvSpPr txBox="1"/>
          <p:nvPr/>
        </p:nvSpPr>
        <p:spPr>
          <a:xfrm>
            <a:off x="6720840" y="279806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are looking for guaranteed returns or a get-rich-quick scheme</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want someone to trade or manage money for you</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would invest money you cannot afford to hold through volatility</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 skip risk management because “this time is different”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WHAT YOU CAN NOW DO</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You can explain this to somebody else.</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Ninety minutes ago, borrowing against your assets was something rich people did that had nothing to do with you. You can now walk another person through the land, the loan, the foreclosure — and why forced selling is the only real loss.</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WHAT YOU STILL CANNOT DO</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5000"/>
              </a:lnSpc>
              <a:buNone/>
            </a:pPr>
            <a:r>
              <a:rPr lang="en-US" sz="4000" b="1" dirty="0">
                <a:solidFill>
                  <a:srgbClr val="F2F4FA"/>
                </a:solidFill>
                <a:latin typeface="Cambria" pitchFamily="34" charset="0"/>
                <a:ea typeface="Cambria" pitchFamily="34" charset="-122"/>
                <a:cs typeface="Cambria" pitchFamily="34" charset="-120"/>
              </a:rPr>
              <a:t>You cannot name the price at which this gets taken away from you.</a:t>
            </a:r>
            <a:endParaRPr lang="en-US" sz="4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Not roughly — exactly, to the peso. There is a formula and it takes about a minute to learn. If you opened a position tomorrow you would not know the number. And the night that number matters, you will be reading it off a phone at 3am with everything red. That is not the night to learn arithmetic.</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WHAT COMES NEXT</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Level 1 — the BBT Masterclass</a:t>
            </a:r>
            <a:endParaRPr lang="en-US" sz="3400" dirty="0"/>
          </a:p>
        </p:txBody>
      </p:sp>
      <p:sp>
        <p:nvSpPr>
          <p:cNvPr id="4" name="Shape 2"/>
          <p:cNvSpPr/>
          <p:nvPr/>
        </p:nvSpPr>
        <p:spPr>
          <a:xfrm>
            <a:off x="685800" y="1965960"/>
            <a:ext cx="335280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2987040" cy="1051560"/>
          </a:xfrm>
          <a:prstGeom prst="rect">
            <a:avLst/>
          </a:prstGeom>
          <a:noFill/>
          <a:ln/>
        </p:spPr>
        <p:txBody>
          <a:bodyPr wrap="square" lIns="0" tIns="0" rIns="0" bIns="0" rtlCol="0" anchor="ctr"/>
          <a:lstStyle/>
          <a:p>
            <a:pPr algn="ctr" indent="0" marL="0">
              <a:buNone/>
            </a:pPr>
            <a:r>
              <a:rPr lang="en-US" sz="4600" b="1" dirty="0">
                <a:solidFill>
                  <a:srgbClr val="25774F"/>
                </a:solidFill>
                <a:latin typeface="Cambria" pitchFamily="34" charset="0"/>
                <a:ea typeface="Cambria" pitchFamily="34" charset="-122"/>
                <a:cs typeface="Cambria" pitchFamily="34" charset="-120"/>
              </a:rPr>
              <a:t>₱1,999</a:t>
            </a:r>
            <a:endParaRPr lang="en-US" sz="4600" dirty="0"/>
          </a:p>
        </p:txBody>
      </p:sp>
      <p:sp>
        <p:nvSpPr>
          <p:cNvPr id="6" name="Text 4"/>
          <p:cNvSpPr txBox="1"/>
          <p:nvPr/>
        </p:nvSpPr>
        <p:spPr>
          <a:xfrm>
            <a:off x="86868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the complete framework</a:t>
            </a:r>
            <a:endParaRPr lang="en-US" sz="1300" dirty="0"/>
          </a:p>
        </p:txBody>
      </p:sp>
      <p:sp>
        <p:nvSpPr>
          <p:cNvPr id="7" name="Shape 5"/>
          <p:cNvSpPr/>
          <p:nvPr/>
        </p:nvSpPr>
        <p:spPr>
          <a:xfrm>
            <a:off x="4404360" y="1965960"/>
            <a:ext cx="335280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458724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4 hours</a:t>
            </a:r>
            <a:endParaRPr lang="en-US" sz="4600" dirty="0"/>
          </a:p>
        </p:txBody>
      </p:sp>
      <p:sp>
        <p:nvSpPr>
          <p:cNvPr id="9" name="Text 7"/>
          <p:cNvSpPr txBox="1"/>
          <p:nvPr/>
        </p:nvSpPr>
        <p:spPr>
          <a:xfrm>
            <a:off x="458724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live on Zoom</a:t>
            </a:r>
            <a:endParaRPr lang="en-US" sz="1300" dirty="0"/>
          </a:p>
        </p:txBody>
      </p:sp>
      <p:sp>
        <p:nvSpPr>
          <p:cNvPr id="10" name="Shape 8"/>
          <p:cNvSpPr/>
          <p:nvPr/>
        </p:nvSpPr>
        <p:spPr>
          <a:xfrm>
            <a:off x="8122920" y="1965960"/>
            <a:ext cx="3352800" cy="2377440"/>
          </a:xfrm>
          <a:prstGeom prst="roundRect">
            <a:avLst>
              <a:gd name="adj" fmla="val 3077"/>
            </a:avLst>
          </a:prstGeom>
          <a:solidFill>
            <a:srgbClr val="EEF1F8"/>
          </a:solidFill>
          <a:ln w="9525">
            <a:solidFill>
              <a:srgbClr val="D8DDEA"/>
            </a:solidFill>
            <a:prstDash val="solid"/>
          </a:ln>
        </p:spPr>
      </p:sp>
      <p:sp>
        <p:nvSpPr>
          <p:cNvPr id="11" name="Text 9"/>
          <p:cNvSpPr txBox="1"/>
          <p:nvPr/>
        </p:nvSpPr>
        <p:spPr>
          <a:xfrm>
            <a:off x="830580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3×</a:t>
            </a:r>
            <a:endParaRPr lang="en-US" sz="4600" dirty="0"/>
          </a:p>
        </p:txBody>
      </p:sp>
      <p:sp>
        <p:nvSpPr>
          <p:cNvPr id="12" name="Text 10"/>
          <p:cNvSpPr txBox="1"/>
          <p:nvPr/>
        </p:nvSpPr>
        <p:spPr>
          <a:xfrm>
            <a:off x="830580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you compute that number yourself</a:t>
            </a:r>
            <a:endParaRPr lang="en-US" sz="1300" dirty="0"/>
          </a:p>
        </p:txBody>
      </p:sp>
      <p:sp>
        <p:nvSpPr>
          <p:cNvPr id="13" name="Text 11"/>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Asset selection, buying zones, prudent borrowing mechanics, and the risk rules that protect you.</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AND WHO SHOULD NOT TAKE IT</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Do not book Level 1 if</a:t>
            </a:r>
            <a:endParaRPr lang="en-US" sz="3400" dirty="0"/>
          </a:p>
        </p:txBody>
      </p:sp>
      <p:sp>
        <p:nvSpPr>
          <p:cNvPr id="4" name="Shape 2"/>
          <p:cNvSpPr/>
          <p:nvPr/>
        </p:nvSpPr>
        <p:spPr>
          <a:xfrm>
            <a:off x="685800" y="1929384"/>
            <a:ext cx="420624" cy="420624"/>
          </a:xfrm>
          <a:prstGeom prst="ellipse">
            <a:avLst/>
          </a:prstGeom>
          <a:solidFill>
            <a:srgbClr val="A82F26"/>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 do not yet have money you could hold for five years</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Come back when you do. Nothing here expires.</a:t>
            </a:r>
            <a:endParaRPr lang="en-US" sz="1350" dirty="0"/>
          </a:p>
        </p:txBody>
      </p:sp>
      <p:sp>
        <p:nvSpPr>
          <p:cNvPr id="8" name="Shape 6"/>
          <p:cNvSpPr/>
          <p:nvPr/>
        </p:nvSpPr>
        <p:spPr>
          <a:xfrm>
            <a:off x="685800" y="3407664"/>
            <a:ext cx="420624" cy="420624"/>
          </a:xfrm>
          <a:prstGeom prst="ellipse">
            <a:avLst/>
          </a:prstGeom>
          <a:solidFill>
            <a:srgbClr val="A82F26"/>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Tonight made you excited rather than careful</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Sit with it a week. Excitement is the thing that gets people liquidated. I would rather you arrive calm.</a:t>
            </a:r>
            <a:endParaRPr lang="en-US" sz="1350" dirty="0"/>
          </a:p>
        </p:txBody>
      </p:sp>
      <p:sp>
        <p:nvSpPr>
          <p:cNvPr id="12" name="Shape 10"/>
          <p:cNvSpPr/>
          <p:nvPr/>
        </p:nvSpPr>
        <p:spPr>
          <a:xfrm>
            <a:off x="685800" y="4885944"/>
            <a:ext cx="420624" cy="420624"/>
          </a:xfrm>
          <a:prstGeom prst="ellipse">
            <a:avLst/>
          </a:prstGeom>
          <a:solidFill>
            <a:srgbClr val="A82F26"/>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 are hoping for a signal to follow</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Level 1 does not give you one. Keep your ₱1,999.</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ONE STEP</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Registration is in the chat.</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Next cohort {{level_1_date}}. If you are unsure, message {{ops_lead}} and say you are unsure — that is a real answer and you will get a real one back. Thank you for tonight.</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Buy Borrow Thrive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BBT Level 0 — Orientation</dc:title>
  <dc:subject>Buy Borrow Thrive Orientation</dc:subject>
  <dc:creator>Thrive Blueprint Education Corp.</dc:creator>
  <cp:lastModifiedBy>Thrive Blueprint Education Corp.</cp:lastModifiedBy>
  <cp:revision>1</cp:revision>
  <dcterms:created xsi:type="dcterms:W3CDTF">2026-09-03T07:47:52Z</dcterms:created>
  <dcterms:modified xsi:type="dcterms:W3CDTF">2026-09-03T07:47:52Z</dcterms:modified>
</cp:coreProperties>
</file>