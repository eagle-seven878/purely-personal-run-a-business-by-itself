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day in the programme. A drawdown is when people are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Cards out. Read me your liquidation price, one per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8 min. That honesty is what makes the reserve rule land. The ceiling alone is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6 min. That is what the rest of this module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C1–C4, 20 min. Reserve is not “money I have not invested yet”. It is a funded position in doing nothing, and it has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5 min. The old deck used one word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8 min. Demonstrate live, then every pod sets all four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 5 min. Worked from a $100,000 entry at 30% LTV.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7 min. The last branch is the most important thing in the module — give it visual weight and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Coaches score individually. No notes for the final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E2, 10 min. Let pods work it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E3, 10 min. THE teaching round. The lesson is not “top up until the reserve is gone”. There is a point where the right move is to close the loan and keep the asset. That is the whole programme in one drill.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E4, 7 min. GATE. That is not a penalty — Module 6 hands them a bigger position than Module 4 taught them to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check first — funded 1:1, pod by pod. Anyone short observes and writes their plan, but does not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B1–B2, 14 min. The mistake almost everyone makes is holding it all as carry — because carry feels productive and cash feels lazy — then watching the best entry in eighteen months arrive with nothing to buy it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11 min. Write all three amounts on the plan tonight,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12 min. Compute with tonight’s levels. Coaches check the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C2b, 4 min. The accumulated Bitcoin is the POINT of the exercise — it is not working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D1–D2, 18 min. Keep this deliberately anticlimactic. It kills the compounding fantasy.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gate, 15 min. Coaches sign every plan before anyone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37160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LEVEL 2 · DEEP DIVE  ·  LEVEL 3 · IMMERSION</a:t>
            </a:r>
            <a:endParaRPr lang="en-US" sz="1000" dirty="0"/>
          </a:p>
        </p:txBody>
      </p:sp>
      <p:sp>
        <p:nvSpPr>
          <p:cNvPr id="3" name="Text 1"/>
          <p:cNvSpPr txBox="1"/>
          <p:nvPr/>
        </p:nvSpPr>
        <p:spPr>
          <a:xfrm>
            <a:off x="685800" y="1783080"/>
            <a:ext cx="9692640" cy="1078992"/>
          </a:xfrm>
          <a:prstGeom prst="rect">
            <a:avLst/>
          </a:prstGeom>
          <a:noFill/>
          <a:ln/>
        </p:spPr>
        <p:txBody>
          <a:bodyPr wrap="square" lIns="0" tIns="0" rIns="0" bIns="0" rtlCol="0" anchor="ctr"/>
          <a:lstStyle/>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Modules 4–6</a:t>
            </a:r>
            <a:endParaRPr lang="en-US" sz="5400" dirty="0"/>
          </a:p>
        </p:txBody>
      </p:sp>
      <p:sp>
        <p:nvSpPr>
          <p:cNvPr id="4" name="Text 2"/>
          <p:cNvSpPr txBox="1"/>
          <p:nvPr/>
        </p:nvSpPr>
        <p:spPr>
          <a:xfrm>
            <a:off x="685800" y="3063240"/>
            <a:ext cx="8595360" cy="868680"/>
          </a:xfrm>
          <a:prstGeom prst="rect">
            <a:avLst/>
          </a:prstGeom>
          <a:noFill/>
          <a:ln/>
        </p:spPr>
        <p:txBody>
          <a:bodyPr wrap="square" lIns="0" tIns="0" rIns="0" bIns="0" rtlCol="0" anchor="ctr"/>
          <a:lstStyle/>
          <a:p>
            <a:pPr indent="0" marL="0">
              <a:lnSpc>
                <a:spcPts val="2600"/>
              </a:lnSpc>
              <a:buNone/>
            </a:pPr>
            <a:r>
              <a:rPr lang="en-US" sz="1800" dirty="0">
                <a:solidFill>
                  <a:srgbClr val="A8B0C8"/>
                </a:solidFill>
                <a:latin typeface="Calibri" pitchFamily="34" charset="0"/>
                <a:ea typeface="Calibri" pitchFamily="34" charset="-122"/>
                <a:cs typeface="Calibri" pitchFamily="34" charset="-120"/>
              </a:rPr>
              <a:t>LTV discipline and the defense · scenario planning · the accumulation system.</a:t>
            </a:r>
            <a:endParaRPr lang="en-US" sz="1800" dirty="0"/>
          </a:p>
        </p:txBody>
      </p:sp>
      <p:sp>
        <p:nvSpPr>
          <p:cNvPr id="5" name="Text 3"/>
          <p:cNvSpPr txBox="1"/>
          <p:nvPr/>
        </p:nvSpPr>
        <p:spPr>
          <a:xfrm>
            <a:off x="685800" y="5806440"/>
            <a:ext cx="10789920" cy="365760"/>
          </a:xfrm>
          <a:prstGeom prst="rect">
            <a:avLst/>
          </a:prstGeom>
          <a:noFill/>
          <a:ln/>
        </p:spPr>
        <p:txBody>
          <a:bodyPr wrap="square" lIns="0" tIns="0" rIns="0" bIns="0" rtlCol="0" anchor="ctr"/>
          <a:lstStyle/>
          <a:p>
            <a:pPr indent="0" marL="0">
              <a:buNone/>
            </a:pPr>
            <a:r>
              <a:rPr lang="en-US" sz="1200" dirty="0">
                <a:solidFill>
                  <a:srgbClr val="A8B0C8"/>
                </a:solidFill>
                <a:latin typeface="Calibri" pitchFamily="34" charset="0"/>
                <a:ea typeface="Calibri" pitchFamily="34" charset="-122"/>
                <a:cs typeface="Calibri" pitchFamily="34" charset="-120"/>
              </a:rPr>
              <a:t>Buy Borrow Thrive   ·   Day 3   ·   The drill is a gate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4</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FOUR · 85 MIN · BOTH MODES</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LTV Discipline &amp; The Defense</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Anyone can open a position — the platform makes it four taps. This is how you still hold it in two years.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THREE NUMBERS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Two belong to the platform. One belongs to you.</a:t>
            </a:r>
            <a:endParaRPr lang="en-US" sz="2700" dirty="0"/>
          </a:p>
        </p:txBody>
      </p:sp>
      <p:sp>
        <p:nvSpPr>
          <p:cNvPr id="4" name="Shape 2"/>
          <p:cNvSpPr/>
          <p:nvPr/>
        </p:nvSpPr>
        <p:spPr>
          <a:xfrm>
            <a:off x="685800" y="1965960"/>
            <a:ext cx="335280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987040"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85%</a:t>
            </a:r>
            <a:endParaRPr lang="en-US" sz="4600" dirty="0"/>
          </a:p>
        </p:txBody>
      </p:sp>
      <p:sp>
        <p:nvSpPr>
          <p:cNvPr id="6" name="Text 4"/>
          <p:cNvSpPr txBox="1"/>
          <p:nvPr/>
        </p:nvSpPr>
        <p:spPr>
          <a:xfrm>
            <a:off x="86868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margin call — the platform’s warning line</a:t>
            </a:r>
            <a:endParaRPr lang="en-US" sz="1300" dirty="0"/>
          </a:p>
        </p:txBody>
      </p:sp>
      <p:sp>
        <p:nvSpPr>
          <p:cNvPr id="7" name="Shape 5"/>
          <p:cNvSpPr/>
          <p:nvPr/>
        </p:nvSpPr>
        <p:spPr>
          <a:xfrm>
            <a:off x="4404360" y="1965960"/>
            <a:ext cx="335280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4587240" y="2267712"/>
            <a:ext cx="2987040" cy="1051560"/>
          </a:xfrm>
          <a:prstGeom prst="rect">
            <a:avLst/>
          </a:prstGeom>
          <a:noFill/>
          <a:ln/>
        </p:spPr>
        <p:txBody>
          <a:bodyPr wrap="square" lIns="0" tIns="0" rIns="0" bIns="0" rtlCol="0" anchor="ctr"/>
          <a:lstStyle/>
          <a:p>
            <a:pPr algn="ctr" indent="0" marL="0">
              <a:buNone/>
            </a:pPr>
            <a:r>
              <a:rPr lang="en-US" sz="4600" b="1" dirty="0">
                <a:solidFill>
                  <a:srgbClr val="A82F26"/>
                </a:solidFill>
                <a:latin typeface="Cambria" pitchFamily="34" charset="0"/>
                <a:ea typeface="Cambria" pitchFamily="34" charset="-122"/>
                <a:cs typeface="Cambria" pitchFamily="34" charset="-120"/>
              </a:rPr>
              <a:t>91%</a:t>
            </a:r>
            <a:endParaRPr lang="en-US" sz="4600" dirty="0"/>
          </a:p>
        </p:txBody>
      </p:sp>
      <p:sp>
        <p:nvSpPr>
          <p:cNvPr id="9" name="Text 7"/>
          <p:cNvSpPr txBox="1"/>
          <p:nvPr/>
        </p:nvSpPr>
        <p:spPr>
          <a:xfrm>
            <a:off x="458724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liquidation — the platform’s action line</a:t>
            </a:r>
            <a:endParaRPr lang="en-US" sz="1300" dirty="0"/>
          </a:p>
        </p:txBody>
      </p:sp>
      <p:sp>
        <p:nvSpPr>
          <p:cNvPr id="10" name="Shape 8"/>
          <p:cNvSpPr/>
          <p:nvPr/>
        </p:nvSpPr>
        <p:spPr>
          <a:xfrm>
            <a:off x="8122920" y="1965960"/>
            <a:ext cx="335280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8305800" y="2267712"/>
            <a:ext cx="2987040" cy="1051560"/>
          </a:xfrm>
          <a:prstGeom prst="rect">
            <a:avLst/>
          </a:prstGeom>
          <a:noFill/>
          <a:ln/>
        </p:spPr>
        <p:txBody>
          <a:bodyPr wrap="square" lIns="0" tIns="0" rIns="0" bIns="0" rtlCol="0" anchor="ctr"/>
          <a:lstStyle/>
          <a:p>
            <a:pPr algn="ctr" indent="0" marL="0">
              <a:buNone/>
            </a:pPr>
            <a:r>
              <a:rPr lang="en-US" sz="4600" b="1" dirty="0">
                <a:solidFill>
                  <a:srgbClr val="25774F"/>
                </a:solidFill>
                <a:latin typeface="Cambria" pitchFamily="34" charset="0"/>
                <a:ea typeface="Cambria" pitchFamily="34" charset="-122"/>
                <a:cs typeface="Cambria" pitchFamily="34" charset="-120"/>
              </a:rPr>
              <a:t>30%</a:t>
            </a:r>
            <a:endParaRPr lang="en-US" sz="4600" dirty="0"/>
          </a:p>
        </p:txBody>
      </p:sp>
      <p:sp>
        <p:nvSpPr>
          <p:cNvPr id="12" name="Text 10"/>
          <p:cNvSpPr txBox="1"/>
          <p:nvPr/>
        </p:nvSpPr>
        <p:spPr>
          <a:xfrm>
            <a:off x="830580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your ceiling — nobody enforces it but you</a:t>
            </a:r>
            <a:endParaRPr lang="en-US" sz="1300" dirty="0"/>
          </a:p>
        </p:txBody>
      </p:sp>
      <p:sp>
        <p:nvSpPr>
          <p:cNvPr id="13" name="Text 11"/>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The gap between 30 and 85 is not wasted capacity. That gap is the entire product — it is what you are buying with the discipline.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SURVIVABLE DRAWDOWN</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Compute your own row</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377440"/>
                <a:gridCol w="2011680"/>
                <a:gridCol w="2011680"/>
                <a:gridCol w="2194560"/>
                <a:gridCol w="219456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Opening LTV</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Margin call</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Liquidated</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Survives 2021 −53%?</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Survives 2022 −77%?</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−14.3%</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−41.2%</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−45.1%</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−64.7%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−67.0%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−76.5%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−78.0%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25774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B4720F"/>
                          </a:solidFill>
                          <a:latin typeface="Calibri" pitchFamily="34" charset="0"/>
                          <a:ea typeface="Calibri" pitchFamily="34" charset="-122"/>
                          <a:cs typeface="Calibri" pitchFamily="34" charset="-120"/>
                        </a:rPr>
                        <a:t>Barely</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drawdown to liquidation = 1 − (LTV ÷ 0.91). Look at the 30% row honestly — it does not survive 2022. Your ceiling is a much better bet than 50%, and it is still a bet.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WHAT NOBODY WARNS YOU ABOUT</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It arrives at 3am.</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During a week when everything is red and every feed says it is going lower. When your business is also having a bad month, because these things correlate. You will not be making a good decision in that moment. So you make the decision now, tonight, in this room, while nothing is wrong.</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RESERVE DOCTRINE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For every peso you deploy, hold a peso back</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Not in the position</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Obvious, but people drift. Reserve deployed is reserve that does not exist.</a:t>
            </a:r>
            <a:endParaRPr lang="en-US" sz="1350" dirty="0"/>
          </a:p>
        </p:txBody>
      </p:sp>
      <p:sp>
        <p:nvSpPr>
          <p:cNvPr id="8" name="Shape 6"/>
          <p:cNvSpPr/>
          <p:nvPr/>
        </p:nvSpPr>
        <p:spPr>
          <a:xfrm>
            <a:off x="685800" y="3038094"/>
            <a:ext cx="420624" cy="420624"/>
          </a:xfrm>
          <a:prstGeom prst="ellipse">
            <a:avLst/>
          </a:prstGeom>
          <a:solidFill>
            <a:srgbClr val="B4720F"/>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Not in the same asset</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Bitcoin held as reserve against a Bitcoin position is not reserve — when you need it, it has fallen by the same percentage that created the emergency.</a:t>
            </a:r>
            <a:endParaRPr lang="en-US" sz="1350" dirty="0"/>
          </a:p>
        </p:txBody>
      </p:sp>
      <p:sp>
        <p:nvSpPr>
          <p:cNvPr id="12" name="Shape 10"/>
          <p:cNvSpPr/>
          <p:nvPr/>
        </p:nvSpPr>
        <p:spPr>
          <a:xfrm>
            <a:off x="685800" y="4146804"/>
            <a:ext cx="420624" cy="420624"/>
          </a:xfrm>
          <a:prstGeom prst="ellipse">
            <a:avLst/>
          </a:prstGeom>
          <a:solidFill>
            <a:srgbClr val="B4720F"/>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Reachable in under an hour</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Reserve in a time-locked earn product with a seven-day unbonding is not reserve. Check the lock terms tonight.</a:t>
            </a:r>
            <a:endParaRPr lang="en-US" sz="1350" dirty="0"/>
          </a:p>
        </p:txBody>
      </p:sp>
      <p:sp>
        <p:nvSpPr>
          <p:cNvPr id="16" name="Shape 14"/>
          <p:cNvSpPr/>
          <p:nvPr/>
        </p:nvSpPr>
        <p:spPr>
          <a:xfrm>
            <a:off x="685800" y="5255514"/>
            <a:ext cx="420624" cy="420624"/>
          </a:xfrm>
          <a:prstGeom prst="ellipse">
            <a:avLst/>
          </a:prstGeom>
          <a:solidFill>
            <a:srgbClr val="25774F"/>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Used it? Rebuild it.</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Before a new position. Before adding. Before anything.</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TWO NUMBERS, AND YOU NEED BOTH</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Position LTV and programme LTV</a:t>
            </a:r>
            <a:endParaRPr lang="en-US" sz="3400" dirty="0"/>
          </a:p>
        </p:txBody>
      </p:sp>
      <p:sp>
        <p:nvSpPr>
          <p:cNvPr id="4" name="Shape 2"/>
          <p:cNvSpPr/>
          <p:nvPr/>
        </p:nvSpPr>
        <p:spPr>
          <a:xfrm>
            <a:off x="685800" y="1965960"/>
            <a:ext cx="521208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4846320" cy="1051560"/>
          </a:xfrm>
          <a:prstGeom prst="rect">
            <a:avLst/>
          </a:prstGeom>
          <a:noFill/>
          <a:ln/>
        </p:spPr>
        <p:txBody>
          <a:bodyPr wrap="square" lIns="0" tIns="0" rIns="0" bIns="0" rtlCol="0" anchor="ctr"/>
          <a:lstStyle/>
          <a:p>
            <a:pPr algn="ctr" indent="0" marL="0">
              <a:buNone/>
            </a:pPr>
            <a:r>
              <a:rPr lang="en-US" sz="4600" b="1" dirty="0">
                <a:solidFill>
                  <a:srgbClr val="25774F"/>
                </a:solidFill>
                <a:latin typeface="Cambria" pitchFamily="34" charset="0"/>
                <a:ea typeface="Cambria" pitchFamily="34" charset="-122"/>
                <a:cs typeface="Cambria" pitchFamily="34" charset="-120"/>
              </a:rPr>
              <a:t>30%</a:t>
            </a:r>
            <a:endParaRPr lang="en-US" sz="4600" dirty="0"/>
          </a:p>
        </p:txBody>
      </p:sp>
      <p:sp>
        <p:nvSpPr>
          <p:cNvPr id="6" name="Text 4"/>
          <p:cNvSpPr txBox="1"/>
          <p:nvPr/>
        </p:nvSpPr>
        <p:spPr>
          <a:xfrm>
            <a:off x="868680" y="3364992"/>
            <a:ext cx="484632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position LTV — loan ÷ collateral. What Binance shows.</a:t>
            </a:r>
            <a:endParaRPr lang="en-US" sz="1300" dirty="0"/>
          </a:p>
        </p:txBody>
      </p:sp>
      <p:sp>
        <p:nvSpPr>
          <p:cNvPr id="7" name="Shape 5"/>
          <p:cNvSpPr/>
          <p:nvPr/>
        </p:nvSpPr>
        <p:spPr>
          <a:xfrm>
            <a:off x="6263640" y="1965960"/>
            <a:ext cx="521208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6446520" y="2267712"/>
            <a:ext cx="4846320" cy="1051560"/>
          </a:xfrm>
          <a:prstGeom prst="rect">
            <a:avLst/>
          </a:prstGeom>
          <a:noFill/>
          <a:ln/>
        </p:spPr>
        <p:txBody>
          <a:bodyPr wrap="square" lIns="0" tIns="0" rIns="0" bIns="0" rtlCol="0" anchor="ctr"/>
          <a:lstStyle/>
          <a:p>
            <a:pPr algn="ctr" indent="0" marL="0">
              <a:buNone/>
            </a:pPr>
            <a:r>
              <a:rPr lang="en-US" sz="4600" b="1" dirty="0">
                <a:solidFill>
                  <a:srgbClr val="25774F"/>
                </a:solidFill>
                <a:latin typeface="Cambria" pitchFamily="34" charset="0"/>
                <a:ea typeface="Cambria" pitchFamily="34" charset="-122"/>
                <a:cs typeface="Cambria" pitchFamily="34" charset="-120"/>
              </a:rPr>
              <a:t>15%</a:t>
            </a:r>
            <a:endParaRPr lang="en-US" sz="4600" dirty="0"/>
          </a:p>
        </p:txBody>
      </p:sp>
      <p:sp>
        <p:nvSpPr>
          <p:cNvPr id="9" name="Text 7"/>
          <p:cNvSpPr txBox="1"/>
          <p:nvPr/>
        </p:nvSpPr>
        <p:spPr>
          <a:xfrm>
            <a:off x="6446520" y="3364992"/>
            <a:ext cx="484632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programme LTV — loan ÷ (deployed + reserve). What you actually carry.</a:t>
            </a:r>
            <a:endParaRPr lang="en-US" sz="1300" dirty="0"/>
          </a:p>
        </p:txBody>
      </p:sp>
      <p:sp>
        <p:nvSpPr>
          <p:cNvPr id="10" name="Text 8"/>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$100 deployed, $30 borrowed, $100 reserve. Compute both. Write both on the Risk Card.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ALARM ARCHITECTURE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Four alarms — everyone sets all four tonight</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LTV 40% — awareness</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You do nothing. You just know.</a:t>
            </a:r>
            <a:endParaRPr lang="en-US" sz="1350" dirty="0"/>
          </a:p>
        </p:txBody>
      </p:sp>
      <p:sp>
        <p:nvSpPr>
          <p:cNvPr id="8" name="Shape 6"/>
          <p:cNvSpPr/>
          <p:nvPr/>
        </p:nvSpPr>
        <p:spPr>
          <a:xfrm>
            <a:off x="685800" y="3038094"/>
            <a:ext cx="420624" cy="420624"/>
          </a:xfrm>
          <a:prstGeom prst="ellipse">
            <a:avLst/>
          </a:prstGeom>
          <a:solidFill>
            <a:srgbClr val="B4720F"/>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LTV 50% — prepare</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Reserve confirmed reachable, top-up calculated. Not executed — calculated.</a:t>
            </a:r>
            <a:endParaRPr lang="en-US" sz="1350" dirty="0"/>
          </a:p>
        </p:txBody>
      </p:sp>
      <p:sp>
        <p:nvSpPr>
          <p:cNvPr id="12" name="Shape 10"/>
          <p:cNvSpPr/>
          <p:nvPr/>
        </p:nvSpPr>
        <p:spPr>
          <a:xfrm>
            <a:off x="685800" y="4146804"/>
            <a:ext cx="420624" cy="420624"/>
          </a:xfrm>
          <a:prstGeom prst="ellipse">
            <a:avLst/>
          </a:prstGeom>
          <a:solidFill>
            <a:srgbClr val="B4720F"/>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LTV 60% — ACT</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Top up from reserve to bring LTV back to 30%. Message your coach the same day.</a:t>
            </a:r>
            <a:endParaRPr lang="en-US" sz="1350" dirty="0"/>
          </a:p>
        </p:txBody>
      </p:sp>
      <p:sp>
        <p:nvSpPr>
          <p:cNvPr id="16" name="Shape 14"/>
          <p:cNvSpPr/>
          <p:nvPr/>
        </p:nvSpPr>
        <p:spPr>
          <a:xfrm>
            <a:off x="685800" y="5255514"/>
            <a:ext cx="420624" cy="420624"/>
          </a:xfrm>
          <a:prstGeom prst="ellipse">
            <a:avLst/>
          </a:prstGeom>
          <a:solidFill>
            <a:srgbClr val="A82F26"/>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Liquidation price × 1.3</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“this is serious” line.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ALARMS ARE PRICE, NOT LTV</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price at target LTV = entry × (entry LTV ÷ target LTV)</a:t>
            </a:r>
            <a:endParaRPr lang="en-US" sz="2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011680"/>
                <a:gridCol w="3291840"/>
                <a:gridCol w="2377440"/>
                <a:gridCol w="310896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Target LTV</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Working</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Alarm price</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100,000 × (0.30 ÷ 0.40)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$75,000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Log it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100,000 × (0.30 ÷ 0.50)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$60,000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Calculate, do not execute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100,000 × (0.30 ÷ 0.60)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$50,000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ACT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liq × 1.3</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32,967 × 1.3</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$42,857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This is serious</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Everyone compute your four prices now and write them on the card.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DECISION TREE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When an alarm fires you do not think. You read.</a:t>
            </a:r>
            <a:endParaRPr lang="en-US" sz="27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LTV 40%</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Nothing. Log the date.</a:t>
            </a:r>
            <a:endParaRPr lang="en-US" sz="1350" dirty="0"/>
          </a:p>
        </p:txBody>
      </p:sp>
      <p:sp>
        <p:nvSpPr>
          <p:cNvPr id="8" name="Shape 6"/>
          <p:cNvSpPr/>
          <p:nvPr/>
        </p:nvSpPr>
        <p:spPr>
          <a:xfrm>
            <a:off x="685800" y="3038094"/>
            <a:ext cx="420624" cy="420624"/>
          </a:xfrm>
          <a:prstGeom prst="ellipse">
            <a:avLst/>
          </a:prstGeom>
          <a:solidFill>
            <a:srgbClr val="B4720F"/>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LTV 50%</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Confirm reserve is reachable. Calculate the top-up. Do not execute.</a:t>
            </a:r>
            <a:endParaRPr lang="en-US" sz="1350" dirty="0"/>
          </a:p>
        </p:txBody>
      </p:sp>
      <p:sp>
        <p:nvSpPr>
          <p:cNvPr id="12" name="Shape 10"/>
          <p:cNvSpPr/>
          <p:nvPr/>
        </p:nvSpPr>
        <p:spPr>
          <a:xfrm>
            <a:off x="685800" y="4146804"/>
            <a:ext cx="420624" cy="420624"/>
          </a:xfrm>
          <a:prstGeom prst="ellipse">
            <a:avLst/>
          </a:prstGeom>
          <a:solidFill>
            <a:srgbClr val="B4720F"/>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LTV 60%</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Execute the top-up from reserve. Return LTV to 30%. Message your coach the same day.</a:t>
            </a:r>
            <a:endParaRPr lang="en-US" sz="1350" dirty="0"/>
          </a:p>
        </p:txBody>
      </p:sp>
      <p:sp>
        <p:nvSpPr>
          <p:cNvPr id="16" name="Shape 14"/>
          <p:cNvSpPr/>
          <p:nvPr/>
        </p:nvSpPr>
        <p:spPr>
          <a:xfrm>
            <a:off x="685800" y="5255514"/>
            <a:ext cx="420624" cy="420624"/>
          </a:xfrm>
          <a:prstGeom prst="ellipse">
            <a:avLst/>
          </a:prstGeom>
          <a:solidFill>
            <a:srgbClr val="A82F26"/>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Reserve exhausted and LTV still climbing</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Repay the loan from reserve, close the borrow, KEEP THE BITCOIN. Losing the loan is not losing. Losing the Bitcoin is losing.</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5</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FIVE · 45 MIN · BOTH MODES</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Scenario Planning</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The margin-call drill. Run it like a fire drill — and it is a gate.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DRILL ONE · WORKED TOGETHER</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Entry $100,000 · $100 deployed · 30% LTV · $100 reserve</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103120"/>
                <a:gridCol w="1645920"/>
                <a:gridCol w="1645920"/>
                <a:gridCol w="1828800"/>
                <a:gridCol w="356616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Bitcoin falls to</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The drop</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New LTV</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Which alarm</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What you do</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$55,000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54.5%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Alarm 2</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Confirm reserve. Calculate $45. Do NOT execute.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Collateral needed to return to 30% = 30 ÷ 0.30 = $100. You have $55. So $45 from reserve — calculated, not spent. Alarm 2 is prepare, not act.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DRILL TWO · IN PODS, 3 MIN</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Same position. Bitcoin falls to $45,000.</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1828800"/>
                <a:gridCol w="1828800"/>
                <a:gridCol w="1645920"/>
                <a:gridCol w="3474720"/>
                <a:gridCol w="201168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The drop</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New LTV</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Alarm</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Reserve left</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66.7%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Alarm 3</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Top up $55 from reserve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B4720F"/>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Collateral needed $100, you have $45, so top up $55. Rebuilding the reserve is now the next priority.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DRILL THREE · THE TEACHING ROUND</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You topped up. 0.002222 BTC, loan $30, reserve $45. Bitcoin falls to $28,000.</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743200"/>
                <a:gridCol w="2377440"/>
                <a:gridCol w="3108960"/>
                <a:gridCol w="256032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Option</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Cost</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What you are left holding</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Top up again to 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$37.78 of a $45 reserve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A leveraged position with $7.22 of defence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Technically available. Strategically finished.</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Repay the $30 loan outright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$30 of a $45 reserve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All 0.002222 BTC, unencumbered, $15 left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Liquidation risk goes to zero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LTV = 30 ÷ 62.22 = 48.2%. You started with 0.001 BTC. You end this drawdown with 0.002222 — more than double — no loan, money left over, and Bitcoin down 72%.</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ROUND FOUR · THE GATE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Individually. No notes. Scored.</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Your coach gives you a scenario. You state: new LTV, which alarm, the action, the amount, and your remaining reserve. A participant who cannot do this unaided does not proceed to Module 6 — they repeat with the next cohort, at no charge, with their position open and a coach watching.</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6</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SIX · 150 MIN · BOTH MODES</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The Accumulation System</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The first module where the failure mode is greed rather than ignorance.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NAMING THE CONFLICT</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One peso, two jobs — you have been carrying this since Level 1</a:t>
            </a:r>
            <a:endParaRPr lang="en-US" sz="27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C08829"/>
                </a:solidFill>
                <a:latin typeface="Cambria" pitchFamily="34" charset="0"/>
                <a:ea typeface="Cambria" pitchFamily="34" charset="-122"/>
                <a:cs typeface="Cambria" pitchFamily="34" charset="-120"/>
              </a:rPr>
              <a:t>Carry capital</a:t>
            </a:r>
            <a:endParaRPr lang="en-US" sz="2100" dirty="0"/>
          </a:p>
        </p:txBody>
      </p:sp>
      <p:sp>
        <p:nvSpPr>
          <p:cNvPr id="6" name="Text 4"/>
          <p:cNvSpPr txBox="1"/>
          <p:nvPr/>
        </p:nvSpPr>
        <p:spPr>
          <a:xfrm>
            <a:off x="1069848"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Sits in Earn</a:t>
            </a:r>
            <a:endParaRPr lang="en-US" sz="1200" dirty="0"/>
          </a:p>
        </p:txBody>
      </p:sp>
      <p:sp>
        <p:nvSpPr>
          <p:cNvPr id="7" name="Text 5"/>
          <p:cNvSpPr txBox="1"/>
          <p:nvPr/>
        </p:nvSpPr>
        <p:spPr>
          <a:xfrm>
            <a:off x="1069848"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Works every day</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Certain, small, continuous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NOT there when the dip comes</a:t>
            </a:r>
            <a:endParaRPr lang="en-US" sz="1400" dirty="0"/>
          </a:p>
        </p:txBody>
      </p:sp>
      <p:sp>
        <p:nvSpPr>
          <p:cNvPr id="8" name="Shape 6"/>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9" name="Text 7"/>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B4720F"/>
                </a:solidFill>
                <a:latin typeface="Cambria" pitchFamily="34" charset="0"/>
                <a:ea typeface="Cambria" pitchFamily="34" charset="-122"/>
                <a:cs typeface="Cambria" pitchFamily="34" charset="-120"/>
              </a:rPr>
              <a:t>Dry powder</a:t>
            </a:r>
            <a:endParaRPr lang="en-US" sz="2100" dirty="0"/>
          </a:p>
        </p:txBody>
      </p:sp>
      <p:sp>
        <p:nvSpPr>
          <p:cNvPr id="10" name="Text 8"/>
          <p:cNvSpPr txBox="1"/>
          <p:nvPr/>
        </p:nvSpPr>
        <p:spPr>
          <a:xfrm>
            <a:off x="6720840"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Sits in stablecoin</a:t>
            </a:r>
            <a:endParaRPr lang="en-US" sz="1200" dirty="0"/>
          </a:p>
        </p:txBody>
      </p:sp>
      <p:sp>
        <p:nvSpPr>
          <p:cNvPr id="11" name="Text 9"/>
          <p:cNvSpPr txBox="1"/>
          <p:nvPr/>
        </p:nvSpPr>
        <p:spPr>
          <a:xfrm>
            <a:off x="6720840"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Earns nothing</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Uncertain, lumpy, occasional</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IS there the day price hits your level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ALLOCATION RULE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Three buckets. Say them.</a:t>
            </a:r>
            <a:endParaRPr lang="en-US" sz="3400" dirty="0"/>
          </a:p>
        </p:txBody>
      </p:sp>
      <p:sp>
        <p:nvSpPr>
          <p:cNvPr id="4" name="Shape 2"/>
          <p:cNvSpPr/>
          <p:nvPr/>
        </p:nvSpPr>
        <p:spPr>
          <a:xfrm>
            <a:off x="685800" y="1965960"/>
            <a:ext cx="335280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987040" cy="1051560"/>
          </a:xfrm>
          <a:prstGeom prst="rect">
            <a:avLst/>
          </a:prstGeom>
          <a:noFill/>
          <a:ln/>
        </p:spPr>
        <p:txBody>
          <a:bodyPr wrap="square" lIns="0" tIns="0" rIns="0" bIns="0" rtlCol="0" anchor="ctr"/>
          <a:lstStyle/>
          <a:p>
            <a:pPr algn="ctr" indent="0" marL="0">
              <a:buNone/>
            </a:pPr>
            <a:r>
              <a:rPr lang="en-US" sz="4600" b="1" dirty="0">
                <a:solidFill>
                  <a:srgbClr val="25774F"/>
                </a:solidFill>
                <a:latin typeface="Cambria" pitchFamily="34" charset="0"/>
                <a:ea typeface="Cambria" pitchFamily="34" charset="-122"/>
                <a:cs typeface="Cambria" pitchFamily="34" charset="-120"/>
              </a:rPr>
              <a:t>RESERVE</a:t>
            </a:r>
            <a:endParaRPr lang="en-US" sz="4600" dirty="0"/>
          </a:p>
        </p:txBody>
      </p:sp>
      <p:sp>
        <p:nvSpPr>
          <p:cNvPr id="6" name="Text 4"/>
          <p:cNvSpPr txBox="1"/>
          <p:nvPr/>
        </p:nvSpPr>
        <p:spPr>
          <a:xfrm>
            <a:off x="86868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defends the position you have — never spent on a dip</a:t>
            </a:r>
            <a:endParaRPr lang="en-US" sz="1300" dirty="0"/>
          </a:p>
        </p:txBody>
      </p:sp>
      <p:sp>
        <p:nvSpPr>
          <p:cNvPr id="7" name="Shape 5"/>
          <p:cNvSpPr/>
          <p:nvPr/>
        </p:nvSpPr>
        <p:spPr>
          <a:xfrm>
            <a:off x="4404360" y="1965960"/>
            <a:ext cx="335280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4587240" y="2267712"/>
            <a:ext cx="2987040" cy="1051560"/>
          </a:xfrm>
          <a:prstGeom prst="rect">
            <a:avLst/>
          </a:prstGeom>
          <a:noFill/>
          <a:ln/>
        </p:spPr>
        <p:txBody>
          <a:bodyPr wrap="square" lIns="0" tIns="0" rIns="0" bIns="0" rtlCol="0" anchor="ctr"/>
          <a:lstStyle/>
          <a:p>
            <a:pPr algn="ctr" indent="0" marL="0">
              <a:buNone/>
            </a:pPr>
            <a:r>
              <a:rPr lang="en-US" sz="3400" b="1" dirty="0">
                <a:solidFill>
                  <a:srgbClr val="B4720F"/>
                </a:solidFill>
                <a:latin typeface="Cambria" pitchFamily="34" charset="0"/>
                <a:ea typeface="Cambria" pitchFamily="34" charset="-122"/>
                <a:cs typeface="Cambria" pitchFamily="34" charset="-120"/>
              </a:rPr>
              <a:t>DRY POWDER</a:t>
            </a:r>
            <a:endParaRPr lang="en-US" sz="3400" dirty="0"/>
          </a:p>
        </p:txBody>
      </p:sp>
      <p:sp>
        <p:nvSpPr>
          <p:cNvPr id="9" name="Text 7"/>
          <p:cNvSpPr txBox="1"/>
          <p:nvPr/>
        </p:nvSpPr>
        <p:spPr>
          <a:xfrm>
            <a:off x="458724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buys a position you do not have yet — 40%</a:t>
            </a:r>
            <a:endParaRPr lang="en-US" sz="1300" dirty="0"/>
          </a:p>
        </p:txBody>
      </p:sp>
      <p:sp>
        <p:nvSpPr>
          <p:cNvPr id="10" name="Shape 8"/>
          <p:cNvSpPr/>
          <p:nvPr/>
        </p:nvSpPr>
        <p:spPr>
          <a:xfrm>
            <a:off x="8122920" y="1965960"/>
            <a:ext cx="335280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8305800" y="2267712"/>
            <a:ext cx="2987040" cy="1051560"/>
          </a:xfrm>
          <a:prstGeom prst="rect">
            <a:avLst/>
          </a:prstGeom>
          <a:noFill/>
          <a:ln/>
        </p:spPr>
        <p:txBody>
          <a:bodyPr wrap="square" lIns="0" tIns="0" rIns="0" bIns="0" rtlCol="0" anchor="ctr"/>
          <a:lstStyle/>
          <a:p>
            <a:pPr algn="ctr" indent="0" marL="0">
              <a:buNone/>
            </a:pPr>
            <a:r>
              <a:rPr lang="en-US" sz="4600" b="1" dirty="0">
                <a:solidFill>
                  <a:srgbClr val="25774F"/>
                </a:solidFill>
                <a:latin typeface="Cambria" pitchFamily="34" charset="0"/>
                <a:ea typeface="Cambria" pitchFamily="34" charset="-122"/>
                <a:cs typeface="Cambria" pitchFamily="34" charset="-120"/>
              </a:rPr>
              <a:t>CARRY</a:t>
            </a:r>
            <a:endParaRPr lang="en-US" sz="4600" dirty="0"/>
          </a:p>
        </p:txBody>
      </p:sp>
      <p:sp>
        <p:nvSpPr>
          <p:cNvPr id="12" name="Text 10"/>
          <p:cNvSpPr txBox="1"/>
          <p:nvPr/>
        </p:nvSpPr>
        <p:spPr>
          <a:xfrm>
            <a:off x="830580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earns the spread — 60%</a:t>
            </a:r>
            <a:endParaRPr lang="en-US" sz="1300" dirty="0"/>
          </a:p>
        </p:txBody>
      </p:sp>
      <p:sp>
        <p:nvSpPr>
          <p:cNvPr id="13" name="Text 11"/>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Dry powder is topped up before carry. And reserve is NOT dry powder — spending reserve on a dip is the single most common way a disciplined person blows up. They buy the 40% drawdown with their defence money, and the 60% drawdown liquidates them.</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LADDER</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Do not spend dry powder at one level</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1645920"/>
                <a:gridCol w="2377440"/>
                <a:gridCol w="1645920"/>
                <a:gridCol w="512064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Level</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Price (worked)</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Deploy</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0.618</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$104,720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Shallowest, most likely reached, smallest commitment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The midpoint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0.382</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$95,280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Deepest, least likely, biggest reward for reaching it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$40 dry powder, Fib high $120,000, low $80,000 → $12 · $12 · $16. Weighted to the deeper levels on purpose: reach only 0.618 and you have kept 70% for better.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25774F"/>
                </a:solidFill>
                <a:latin typeface="Calibri" pitchFamily="34" charset="0"/>
                <a:ea typeface="Calibri" pitchFamily="34" charset="-122"/>
                <a:cs typeface="Calibri" pitchFamily="34" charset="-120"/>
              </a:rPr>
              <a:t>ONE OPERATIONAL RULE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5000"/>
              </a:lnSpc>
              <a:buNone/>
            </a:pPr>
            <a:r>
              <a:rPr lang="en-US" sz="4000" b="1" dirty="0">
                <a:solidFill>
                  <a:srgbClr val="1A2340"/>
                </a:solidFill>
                <a:latin typeface="Cambria" pitchFamily="34" charset="0"/>
                <a:ea typeface="Cambria" pitchFamily="34" charset="-122"/>
                <a:cs typeface="Cambria" pitchFamily="34" charset="-120"/>
              </a:rPr>
              <a:t>Bitcoin you buy with dry powder is held in Spot. It does not go into collateral.</a:t>
            </a:r>
            <a:endParaRPr lang="en-US" sz="4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5B6480"/>
                </a:solidFill>
                <a:latin typeface="Calibri" pitchFamily="34" charset="0"/>
                <a:ea typeface="Calibri" pitchFamily="34" charset="-122"/>
                <a:cs typeface="Calibri" pitchFamily="34" charset="-120"/>
              </a:rPr>
              <a:t>Keep adding accumulated Bitcoin to collateral and your liquidation price moves every time you buy, your alarms go stale, and the plan you wrote stops describing the position you have. Leave it in Spot: your loan stays $30, your liquidation price stays where you wrote it, your alarms stay true. Re-base deliberately once a year, with your coach.</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BELOW THE LADDER</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if price goes below 0.382?</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It happens, in the years that matter most</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2018 and 2022 both went far below any reasonable ladder.</a:t>
            </a:r>
            <a:endParaRPr lang="en-US" sz="1350" dirty="0"/>
          </a:p>
        </p:txBody>
      </p:sp>
      <p:sp>
        <p:nvSpPr>
          <p:cNvPr id="8" name="Shape 6"/>
          <p:cNvSpPr/>
          <p:nvPr/>
        </p:nvSpPr>
        <p:spPr>
          <a:xfrm>
            <a:off x="685800" y="3038094"/>
            <a:ext cx="420624" cy="420624"/>
          </a:xfrm>
          <a:prstGeom prst="ellipse">
            <a:avLst/>
          </a:prstGeom>
          <a:solidFill>
            <a:srgbClr val="C08829"/>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Dry powder — spent. That is by design.</a:t>
            </a:r>
            <a:endParaRPr lang="en-US" sz="1700" dirty="0"/>
          </a:p>
        </p:txBody>
      </p:sp>
      <p:sp>
        <p:nvSpPr>
          <p:cNvPr id="11" name="Shape 9"/>
          <p:cNvSpPr/>
          <p:nvPr/>
        </p:nvSpPr>
        <p:spPr>
          <a:xfrm>
            <a:off x="685800" y="4146804"/>
            <a:ext cx="420624" cy="420624"/>
          </a:xfrm>
          <a:prstGeom prst="ellipse">
            <a:avLst/>
          </a:prstGeom>
          <a:solidFill>
            <a:srgbClr val="A82F26"/>
          </a:solidFill>
          <a:ln/>
        </p:spPr>
      </p:sp>
      <p:sp>
        <p:nvSpPr>
          <p:cNvPr id="12" name="Text 10"/>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Reserve — not for this. Ever.</a:t>
            </a:r>
            <a:endParaRPr lang="en-US" sz="1700" dirty="0"/>
          </a:p>
        </p:txBody>
      </p:sp>
      <p:sp>
        <p:nvSpPr>
          <p:cNvPr id="14" name="Text 12"/>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Check your LTV, follow the decision tree, and if the alarms fire, defend.</a:t>
            </a:r>
            <a:endParaRPr lang="en-US" sz="1350" dirty="0"/>
          </a:p>
        </p:txBody>
      </p:sp>
      <p:sp>
        <p:nvSpPr>
          <p:cNvPr id="15" name="Shape 13"/>
          <p:cNvSpPr/>
          <p:nvPr/>
        </p:nvSpPr>
        <p:spPr>
          <a:xfrm>
            <a:off x="685800" y="5255514"/>
            <a:ext cx="420624" cy="420624"/>
          </a:xfrm>
          <a:prstGeom prst="ellipse">
            <a:avLst/>
          </a:prstGeom>
          <a:solidFill>
            <a:srgbClr val="25774F"/>
          </a:solidFill>
          <a:ln/>
        </p:spPr>
      </p:sp>
      <p:sp>
        <p:nvSpPr>
          <p:cNvPr id="16" name="Text 14"/>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New capital from income can buy down there</a:t>
            </a:r>
            <a:endParaRPr lang="en-US" sz="1700" dirty="0"/>
          </a:p>
        </p:txBody>
      </p:sp>
      <p:sp>
        <p:nvSpPr>
          <p:cNvPr id="18" name="Text 16"/>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Borrowed capital and reserve cannot.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BORROW UP, BUY DOWN</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Rising price lowers your LTV by itself — that fall IS your borrowing capacity</a:t>
            </a:r>
            <a:endParaRPr lang="en-US" sz="2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011680"/>
                <a:gridCol w="2011680"/>
                <a:gridCol w="1828800"/>
                <a:gridCol w="1645920"/>
                <a:gridCol w="329184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Price</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Collateral</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LTV</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What you may borrow</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Open</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Price rises</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$130,000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25774F"/>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$9 more, to return to 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$9. That is what a 30% rally gave you — split 60/40 into $5.40 carry and $3.60 dry powder. Anyone telling you leverage compounds fast on the way up is describing a much higher LTV than you run, and a much shorter holding period than you have.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NEVER</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Three things that never happen, whatever the chart is doing</a:t>
            </a:r>
            <a:endParaRPr lang="en-US" sz="2700" dirty="0"/>
          </a:p>
        </p:txBody>
      </p:sp>
      <p:sp>
        <p:nvSpPr>
          <p:cNvPr id="4" name="Shape 2"/>
          <p:cNvSpPr/>
          <p:nvPr/>
        </p:nvSpPr>
        <p:spPr>
          <a:xfrm>
            <a:off x="685800" y="1929384"/>
            <a:ext cx="420624" cy="420624"/>
          </a:xfrm>
          <a:prstGeom prst="ellipse">
            <a:avLst/>
          </a:prstGeom>
          <a:solidFill>
            <a:srgbClr val="A82F26"/>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LTV above 30% to buy a dip</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dip is why you have dry powder. If dry powder is gone, the dip is not yours.</a:t>
            </a:r>
            <a:endParaRPr lang="en-US" sz="1350" dirty="0"/>
          </a:p>
        </p:txBody>
      </p:sp>
      <p:sp>
        <p:nvSpPr>
          <p:cNvPr id="8" name="Shape 6"/>
          <p:cNvSpPr/>
          <p:nvPr/>
        </p:nvSpPr>
        <p:spPr>
          <a:xfrm>
            <a:off x="685800" y="3407664"/>
            <a:ext cx="420624" cy="420624"/>
          </a:xfrm>
          <a:prstGeom prst="ellipse">
            <a:avLst/>
          </a:prstGeom>
          <a:solidFill>
            <a:srgbClr val="A82F26"/>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Reserve deployed into a dip</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Ever.</a:t>
            </a:r>
            <a:endParaRPr lang="en-US" sz="1350" dirty="0"/>
          </a:p>
        </p:txBody>
      </p:sp>
      <p:sp>
        <p:nvSpPr>
          <p:cNvPr id="12" name="Shape 10"/>
          <p:cNvSpPr/>
          <p:nvPr/>
        </p:nvSpPr>
        <p:spPr>
          <a:xfrm>
            <a:off x="685800" y="4885944"/>
            <a:ext cx="420624" cy="420624"/>
          </a:xfrm>
          <a:prstGeom prst="ellipse">
            <a:avLst/>
          </a:prstGeom>
          <a:solidFill>
            <a:srgbClr val="A82F26"/>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Buying collateral with borrowed money during a margin call</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It raises the loan and the collateral together. It rescues nothing and makes the eventual liquidation bigger.</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PASS GATE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Your 90-Day Accumulation Plan</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three buckets</a:t>
            </a:r>
            <a:endParaRPr lang="en-US" sz="1700" dirty="0"/>
          </a:p>
        </p:txBody>
      </p:sp>
      <p:sp>
        <p:nvSpPr>
          <p:cNvPr id="7" name="Text 5"/>
          <p:cNvSpPr txBox="1"/>
          <p:nvPr/>
        </p:nvSpPr>
        <p:spPr>
          <a:xfrm>
            <a:off x="1399032" y="2240280"/>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Reserve, dry powder, carry — amounts, and where each physically sits.</a:t>
            </a:r>
            <a:endParaRPr lang="en-US" sz="1350" dirty="0"/>
          </a:p>
        </p:txBody>
      </p:sp>
      <p:sp>
        <p:nvSpPr>
          <p:cNvPr id="8" name="Shape 6"/>
          <p:cNvSpPr/>
          <p:nvPr/>
        </p:nvSpPr>
        <p:spPr>
          <a:xfrm>
            <a:off x="685800" y="2816352"/>
            <a:ext cx="420624" cy="420624"/>
          </a:xfrm>
          <a:prstGeom prst="ellipse">
            <a:avLst/>
          </a:prstGeom>
          <a:solidFill>
            <a:srgbClr val="C08829"/>
          </a:solidFill>
          <a:ln/>
        </p:spPr>
      </p:sp>
      <p:sp>
        <p:nvSpPr>
          <p:cNvPr id="9" name="Text 7"/>
          <p:cNvSpPr txBox="1"/>
          <p:nvPr/>
        </p:nvSpPr>
        <p:spPr>
          <a:xfrm>
            <a:off x="685800" y="28163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761488"/>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ladder</a:t>
            </a:r>
            <a:endParaRPr lang="en-US" sz="1700" dirty="0"/>
          </a:p>
        </p:txBody>
      </p:sp>
      <p:sp>
        <p:nvSpPr>
          <p:cNvPr id="11" name="Text 9"/>
          <p:cNvSpPr txBox="1"/>
          <p:nvPr/>
        </p:nvSpPr>
        <p:spPr>
          <a:xfrm>
            <a:off x="1399032" y="3127248"/>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Three price levels, three deploy amounts, computed tonight.</a:t>
            </a:r>
            <a:endParaRPr lang="en-US" sz="1350" dirty="0"/>
          </a:p>
        </p:txBody>
      </p:sp>
      <p:sp>
        <p:nvSpPr>
          <p:cNvPr id="12" name="Shape 10"/>
          <p:cNvSpPr/>
          <p:nvPr/>
        </p:nvSpPr>
        <p:spPr>
          <a:xfrm>
            <a:off x="685800" y="3703320"/>
            <a:ext cx="420624" cy="420624"/>
          </a:xfrm>
          <a:prstGeom prst="ellipse">
            <a:avLst/>
          </a:prstGeom>
          <a:solidFill>
            <a:srgbClr val="C08829"/>
          </a:solidFill>
          <a:ln/>
        </p:spPr>
      </p:sp>
      <p:sp>
        <p:nvSpPr>
          <p:cNvPr id="13" name="Text 11"/>
          <p:cNvSpPr txBox="1"/>
          <p:nvPr/>
        </p:nvSpPr>
        <p:spPr>
          <a:xfrm>
            <a:off x="685800" y="37033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3648456"/>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borrow-up rule</a:t>
            </a:r>
            <a:endParaRPr lang="en-US" sz="1700" dirty="0"/>
          </a:p>
        </p:txBody>
      </p:sp>
      <p:sp>
        <p:nvSpPr>
          <p:cNvPr id="15" name="Text 13"/>
          <p:cNvSpPr txBox="1"/>
          <p:nvPr/>
        </p:nvSpPr>
        <p:spPr>
          <a:xfrm>
            <a:off x="1399032" y="4014216"/>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LTV that permits a borrow, and the 60/40 split.</a:t>
            </a:r>
            <a:endParaRPr lang="en-US" sz="1350" dirty="0"/>
          </a:p>
        </p:txBody>
      </p:sp>
      <p:sp>
        <p:nvSpPr>
          <p:cNvPr id="16" name="Shape 14"/>
          <p:cNvSpPr/>
          <p:nvPr/>
        </p:nvSpPr>
        <p:spPr>
          <a:xfrm>
            <a:off x="685800" y="4590288"/>
            <a:ext cx="420624" cy="420624"/>
          </a:xfrm>
          <a:prstGeom prst="ellipse">
            <a:avLst/>
          </a:prstGeom>
          <a:solidFill>
            <a:srgbClr val="C08829"/>
          </a:solidFill>
          <a:ln/>
        </p:spPr>
      </p:sp>
      <p:sp>
        <p:nvSpPr>
          <p:cNvPr id="17" name="Text 15"/>
          <p:cNvSpPr txBox="1"/>
          <p:nvPr/>
        </p:nvSpPr>
        <p:spPr>
          <a:xfrm>
            <a:off x="685800" y="45902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4535424"/>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never-list</a:t>
            </a:r>
            <a:endParaRPr lang="en-US" sz="1700" dirty="0"/>
          </a:p>
        </p:txBody>
      </p:sp>
      <p:sp>
        <p:nvSpPr>
          <p:cNvPr id="19" name="Text 17"/>
          <p:cNvSpPr txBox="1"/>
          <p:nvPr/>
        </p:nvSpPr>
        <p:spPr>
          <a:xfrm>
            <a:off x="1399032" y="4901184"/>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three things above, in your own handwriting.</a:t>
            </a:r>
            <a:endParaRPr lang="en-US" sz="1350" dirty="0"/>
          </a:p>
        </p:txBody>
      </p:sp>
      <p:sp>
        <p:nvSpPr>
          <p:cNvPr id="20" name="Shape 18"/>
          <p:cNvSpPr/>
          <p:nvPr/>
        </p:nvSpPr>
        <p:spPr>
          <a:xfrm>
            <a:off x="685800" y="5477256"/>
            <a:ext cx="420624" cy="420624"/>
          </a:xfrm>
          <a:prstGeom prst="ellipse">
            <a:avLst/>
          </a:prstGeom>
          <a:solidFill>
            <a:srgbClr val="25774F"/>
          </a:solidFill>
          <a:ln/>
        </p:spPr>
      </p:sp>
      <p:sp>
        <p:nvSpPr>
          <p:cNvPr id="21" name="Text 19"/>
          <p:cNvSpPr txBox="1"/>
          <p:nvPr/>
        </p:nvSpPr>
        <p:spPr>
          <a:xfrm>
            <a:off x="685800" y="54772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399032" y="5422392"/>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review date</a:t>
            </a:r>
            <a:endParaRPr lang="en-US" sz="1700" dirty="0"/>
          </a:p>
        </p:txBody>
      </p:sp>
      <p:sp>
        <p:nvSpPr>
          <p:cNvPr id="23" name="Text 21"/>
          <p:cNvSpPr txBox="1"/>
          <p:nvPr/>
        </p:nvSpPr>
        <p:spPr>
          <a:xfrm>
            <a:off x="1399032" y="5788152"/>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90 days out, entered in a calendar in this room — not promised.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Buy Borrow Thrive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BBT Level 2/3 — Modules 4–6</dc:title>
  <dc:subject>LTV Discipline, Scenario Planning, Accumulation</dc:subject>
  <dc:creator>Thrive Blueprint Education Corp.</dc:creator>
  <cp:lastModifiedBy>Thrive Blueprint Education Corp.</cp:lastModifiedBy>
  <cp:revision>1</cp:revision>
  <dcterms:created xsi:type="dcterms:W3CDTF">2026-09-03T07:50:15Z</dcterms:created>
  <dcterms:modified xsi:type="dcterms:W3CDTF">2026-09-03T07:50:15Z</dcterms:modified>
</cp:coreProperties>
</file>